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0dc0aa787a84100" /><Relationship Type="http://schemas.openxmlformats.org/officeDocument/2006/relationships/extended-properties" Target="/docProps/app.xml" Id="R90ba578b4c354225" /><Relationship Type="http://schemas.openxmlformats.org/officeDocument/2006/relationships/officeDocument" Target="/ppt/presentation.xml" Id="R210ecfe154e44b93" /></Relationships>
</file>

<file path=ppt/presentation.xml><?xml version="1.0" encoding="utf-8"?>
<p:presentation xmlns:p="http://schemas.openxmlformats.org/presentationml/2006/main">
  <p:sldMasterIdLst>
    <p:sldMasterId xmlns:r="http://schemas.openxmlformats.org/officeDocument/2006/relationships" id="2147483648" r:id="R1cbec950bbb64b34"/>
  </p:sldMasterIdLst>
  <p:notesMasterIdLst>
    <p:notesMasterId xmlns:r="http://schemas.openxmlformats.org/officeDocument/2006/relationships" r:id="R81fa132806b44ce0"/>
  </p:notesMasterIdLst>
  <p:sldIdLst>
    <p:sldId xmlns:r="http://schemas.openxmlformats.org/officeDocument/2006/relationships" id="256" r:id="R7eee7cbc15354cab"/>
    <p:sldId xmlns:r="http://schemas.openxmlformats.org/officeDocument/2006/relationships" id="257" r:id="R5dbead02a6b94ae3"/>
    <p:sldId xmlns:r="http://schemas.openxmlformats.org/officeDocument/2006/relationships" id="258" r:id="Rb2d5635c027b4f3c"/>
    <p:sldId xmlns:r="http://schemas.openxmlformats.org/officeDocument/2006/relationships" id="259" r:id="R5b5e87f5f4fc4a6c"/>
    <p:sldId xmlns:r="http://schemas.openxmlformats.org/officeDocument/2006/relationships" id="260" r:id="Rd521127404e246a7"/>
    <p:sldId xmlns:r="http://schemas.openxmlformats.org/officeDocument/2006/relationships" id="261" r:id="R69930f8cc4c247d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7d1c2af3e94656" /><Relationship Type="http://schemas.openxmlformats.org/officeDocument/2006/relationships/slideMaster" Target="/ppt/slideMasters/slideMaster1.xml" Id="R1cbec950bbb64b34" /><Relationship Type="http://schemas.openxmlformats.org/officeDocument/2006/relationships/notesMaster" Target="/ppt/notesMasters/notesMaster1.xml" Id="R81fa132806b44ce0" /><Relationship Type="http://schemas.openxmlformats.org/officeDocument/2006/relationships/presProps" Target="/ppt/presProps.xml" Id="R316cc124d2034e7e" /><Relationship Type="http://schemas.openxmlformats.org/officeDocument/2006/relationships/tableStyles" Target="/ppt/tableStyles.xml" Id="R89e5514b35804e70" /><Relationship Type="http://schemas.openxmlformats.org/officeDocument/2006/relationships/slide" Target="/ppt/slides/slide1.xml" Id="R7eee7cbc15354cab" /><Relationship Type="http://schemas.openxmlformats.org/officeDocument/2006/relationships/slide" Target="/ppt/slides/slide2.xml" Id="R5dbead02a6b94ae3" /><Relationship Type="http://schemas.openxmlformats.org/officeDocument/2006/relationships/slide" Target="/ppt/slides/slide3.xml" Id="Rb2d5635c027b4f3c" /><Relationship Type="http://schemas.openxmlformats.org/officeDocument/2006/relationships/slide" Target="/ppt/slides/slide4.xml" Id="R5b5e87f5f4fc4a6c" /><Relationship Type="http://schemas.openxmlformats.org/officeDocument/2006/relationships/slide" Target="/ppt/slides/slide5.xml" Id="Rd521127404e246a7" /><Relationship Type="http://schemas.openxmlformats.org/officeDocument/2006/relationships/slide" Target="/ppt/slides/slide6.xml" Id="R69930f8cc4c247d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b76536fe1648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4f5091bb7c947f7" /><Relationship Type="http://schemas.openxmlformats.org/officeDocument/2006/relationships/notesMaster" Target="/ppt/notesMasters/notesMaster1.xml" Id="R04fba96f3b8a4e9d" /></Relationships>
</file>

<file path=ppt/notesSlides/_rels/notesSlide2.xml.rels>&#65279;<?xml version="1.0" encoding="utf-8"?><Relationships xmlns="http://schemas.openxmlformats.org/package/2006/relationships"><Relationship Type="http://schemas.openxmlformats.org/officeDocument/2006/relationships/slide" Target="/ppt/slides/slide2.xml" Id="R1ae6f6f267ad48b3" /><Relationship Type="http://schemas.openxmlformats.org/officeDocument/2006/relationships/notesMaster" Target="/ppt/notesMasters/notesMaster1.xml" Id="Ra17a718ffd174d69" /></Relationships>
</file>

<file path=ppt/notesSlides/_rels/notesSlide3.xml.rels>&#65279;<?xml version="1.0" encoding="utf-8"?><Relationships xmlns="http://schemas.openxmlformats.org/package/2006/relationships"><Relationship Type="http://schemas.openxmlformats.org/officeDocument/2006/relationships/slide" Target="/ppt/slides/slide3.xml" Id="R6a37e26744114d43" /><Relationship Type="http://schemas.openxmlformats.org/officeDocument/2006/relationships/notesMaster" Target="/ppt/notesMasters/notesMaster1.xml" Id="R37b18cd83f154ae1" /></Relationships>
</file>

<file path=ppt/notesSlides/_rels/notesSlide4.xml.rels>&#65279;<?xml version="1.0" encoding="utf-8"?><Relationships xmlns="http://schemas.openxmlformats.org/package/2006/relationships"><Relationship Type="http://schemas.openxmlformats.org/officeDocument/2006/relationships/slide" Target="/ppt/slides/slide4.xml" Id="R03f3acfc9df44ce0" /><Relationship Type="http://schemas.openxmlformats.org/officeDocument/2006/relationships/notesMaster" Target="/ppt/notesMasters/notesMaster1.xml" Id="Ra224d7f0f95b4381"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0825ad2d9a43db" /><Relationship Type="http://schemas.openxmlformats.org/officeDocument/2006/relationships/notesMaster" Target="/ppt/notesMasters/notesMaster1.xml" Id="R7bcda67c57454932" /></Relationships>
</file>

<file path=ppt/notesSlides/_rels/notesSlide6.xml.rels>&#65279;<?xml version="1.0" encoding="utf-8"?><Relationships xmlns="http://schemas.openxmlformats.org/package/2006/relationships"><Relationship Type="http://schemas.openxmlformats.org/officeDocument/2006/relationships/slide" Target="/ppt/slides/slide6.xml" Id="R119c4b4836a0472b" /><Relationship Type="http://schemas.openxmlformats.org/officeDocument/2006/relationships/notesMaster" Target="/ppt/notesMasters/notesMaster1.xml" Id="Rc1ecbca185af42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30 seconds. Source: docs/a2/dossier.md section 1; docs/a2/evidence/forecast.json. Synthetic labels and fictional permits. Public ingestion is a parser smoke test. The current collateral stress field is an on-site consumption proxy. Assigned day is pending.</a:t>
            </a:r>
          </a:p>
          <a:p xmlns:a="http://schemas.openxmlformats.org/drawingml/2006/main">
            <a:r>
              <a:t>
Plain-English talk:
ECOllateral estimates how much water a proposed data center would use for cooling.
A researcher or planner enters facility size, cooling type, watershed, and month.
The system returns water use, calculated physical limits, a prediction range, warnings,
and permit quotations for the location. Water is measured in million gallons per day.
The local prototype works, but our water-use targets are made-up test data. We have
not shown accuracy at real facilities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30 seconds. Sources: src/models/regression.py, src/rules/thermodynamic.py, src/grounding/store.py, src/grounding/generator.py; docs/a2/evidence E3/E4 JSON. Rules also use capacity and ambient features. Fault injection -1/1e6 MGD clips to 0/0.446484 MGD for 40 MW, 30 C dry, 20 C wet. Four fictional retrieval cases pass. No LLM arithmetic or legal compliance decision.</a:t>
            </a:r>
          </a:p>
          <a:p xmlns:a="http://schemas.openxmlformats.org/drawingml/2006/main">
            <a:r>
              <a:t>
Plain-English talk:
The top path handles numbers. Weather, river flow, drought, season, and facility size
become six inputs. A tree-based AI model predicts water use. Separate engineering
rules check the number and warn if it needs adjusting. The bottom path handles permit
text. We search words, check the location, and return original quotations. Tests showed
the physical limits and four location cases work. No language model calculates the
water estimate or decides legal compliance.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Shaun, 45 seconds. Source: docs/a2/evidence/regression-comparison.csv and benchmark.json. 1,600 synthetic rows per type, six years, seed 42. Selected tower R2 .99808, direct .99728. No field generalization claim. Model selection and interval sizing reuse calibration partition.</a:t>
            </a:r>
          </a:p>
          <a:p xmlns:a="http://schemas.openxmlformats.org/drawingml/2006/main">
            <a:r>
              <a:t>
Plain-English talk:
We compared RandomForest and XGBoost using the same made-up inputs and water-use targets.
We split dates in time order: 60 percent to train, 20 percent to choose the model and
set its range, and 20 percent to test. XGBoost lowered average error for towers from
about 0.00489 to 0.00367 million gallons per day. For direct evaporation, it improved
from 0.00384 to 0.00319. Each test group has 333 rows. We kept XGBoost and retained
RandomForest for comparison. Dry air cooling has zero on-site water use in our scope.
These scores show we learned the generated pattern; real water-use measurements are
still the main gap.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Troy, 40 seconds. Main data source: missingness-summary.csv. Bar values are exact variance multiplied by 1e8. Random gaps, fixed trained model, seed 42. Biased diagnostic: +100 MGD donors, 40% gaps, 20 repeats, predictor=.01*flow, spatial coverage .603305785, linear .985950413. Not a fitted-model failure rate. Interpolation is retrospective; sensitivity bands are not forecast intervals.</a:t>
            </a:r>
          </a:p>
          <a:p xmlns:a="http://schemas.openxmlformats.org/drawingml/2006/main">
            <a:r>
              <a:t>
Plain-English talk:
We removed 10, 25, and 40 percent of drought readings and repeated each test 50 times.
Filling gaps from a nearby station or a straight line through time kept forecasts within
0.05 million gallons per day of the complete-data result. But our made-up stations
behave similarly. In a separate test, we raised neighboring flow by 100 million gallons
per day. Nearby-station filling then passed only 60.3 percent of the tolerance checks.
That test uses a simple formula, not the fitted AI model. We need tests with biased
neighbors, long gaps, and several stations losing data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Troy, 35 seconds. Sources: interval-coverage.csv; src/models/regression.py. Tower 294/333, direct 293/333, nominal .9. Selection and radius share calibration set. Chronological dependence complicates exchangeability. These finite samples do not establish statistical significance. R2 is not confidence; air zero target excluded.</a:t>
            </a:r>
          </a:p>
          <a:p xmlns:a="http://schemas.openxmlformats.org/drawingml/2006/main">
            <a:r>
              <a:t>
Plain-English talk:
The models fit the made-up data well, but their prediction ranges missed our goal.
Ranges intended to include 90 percent of test values included 88.3 percent for towers
and 88.0 percent for direct evaporation. These are finite test samples, not proof of
a statistically significant failure. We also used the same data to choose the model
and set its range. We will separate those jobs and test by facility, time, and drought.
R-squared measures fit; it is not the chance a prediction is right.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Scott, 60 seconds. Source: docs/a2/dossier.md sections 7-8, evidence-summary.csv, team-contributions.md. No neural/LLM comparison run. Shaun majority coding is confirmed; Troy/Scott supporting responsibilities are assigned, not certified completed. Next measured-label study needs facility holdouts, verified station maps, real permit relevance, MAE/RMSE/R2/coverage/width. Course date, deadline, office hours and instructor access remain pending.</a:t>
            </a:r>
          </a:p>
          <a:p xmlns:a="http://schemas.openxmlformats.org/drawingml/2006/main">
            <a:r>
              <a:t>
Plain-English talk:
We will keep the tree models, physical limits, and permit location checks. We will
improve the missing-data tests and how prediction ranges are set. We reject using
R-squared as confidence, and we will wait on neural or generative language models
because we have not compared them and they do not solve the missing-label problem.
Our next question is whether the system works at a real facility it has never seen
during drought, with enough values inside its prediction range. Shaun leads code
and separate calibration. Troy checks environmental locations and drought tests.
Scott checks real permits and prepares the evidence. These supporting roles are
assigned; we still need to confirm actual completed contributions. The dossier keeps
the full methods, results, limits, and remaining course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7689ec292734d1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5d1533833504056" /><Relationship Type="http://schemas.openxmlformats.org/officeDocument/2006/relationships/slideLayout" Target="/ppt/slideLayouts/slideLayout1.xml" Id="Rcc124fd1a9444b5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c124fd1a9444b5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c710c4fd40849b3" /><Relationship Type="http://schemas.openxmlformats.org/officeDocument/2006/relationships/notesSlide" Target="/ppt/notesSlides/notesSlide1.xml" Id="R0efa2726c22846c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7ef006c9b784a63" /><Relationship Type="http://schemas.openxmlformats.org/officeDocument/2006/relationships/notesSlide" Target="/ppt/notesSlides/notesSlide2.xml" Id="Re3eaadd1f025489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493dbfd9700468b" /><Relationship Type="http://schemas.openxmlformats.org/officeDocument/2006/relationships/chart" Target="/ppt/slides/charts/chart1.xml" Id="Rf6d4ac31fd7d4f43" /><Relationship Type="http://schemas.openxmlformats.org/officeDocument/2006/relationships/notesSlide" Target="/ppt/notesSlides/notesSlide3.xml" Id="Raf9948f4a1f34bc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e4d2fcf85af4b2f" /><Relationship Type="http://schemas.openxmlformats.org/officeDocument/2006/relationships/chart" Target="/ppt/slides/charts/chart2.xml" Id="Rfd01fd8c0fa94b9b" /><Relationship Type="http://schemas.openxmlformats.org/officeDocument/2006/relationships/notesSlide" Target="/ppt/notesSlides/notesSlide4.xml" Id="R123881a55f5940e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e749fd430d4f24" /><Relationship Type="http://schemas.openxmlformats.org/officeDocument/2006/relationships/chart" Target="/ppt/slides/charts/chart3.xml" Id="R3f873a36d6da4540" /><Relationship Type="http://schemas.openxmlformats.org/officeDocument/2006/relationships/notesSlide" Target="/ppt/notesSlides/notesSlide5.xml" Id="R144c6b677515436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c410bc09da74ef8" /><Relationship Type="http://schemas.openxmlformats.org/officeDocument/2006/relationships/notesSlide" Target="/ppt/notesSlides/notesSlide6.xml" Id="R10af406153d5461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RandomForest</c:v>
          </c:tx>
          <c:spPr>
            <a:solidFill xmlns:a="http://schemas.openxmlformats.org/drawingml/2006/main">
              <a:srgbClr val="9BAEB9"/>
            </a:solidFill>
          </c:spPr>
          <c:cat>
            <c:strRef>
              <c:f>'Chart Data'!$A$2:$A$3</c:f>
              <c:strCache>
                <c:ptCount val="2"/>
                <c:pt idx="0">
                  <c:v>Cooling tower</c:v>
                </c:pt>
                <c:pt idx="1">
                  <c:v>Direct evaporative</c:v>
                </c:pt>
              </c:strCache>
            </c:strRef>
          </c:cat>
          <c:val>
            <c:numRef>
              <c:f>'Chart Data'!$B$2:$B$3</c:f>
              <c:numCache>
                <c:formatCode>0.000</c:formatCode>
                <c:ptCount val="2"/>
                <c:pt idx="0">
                  <c:v>0.00488969303</c:v>
                </c:pt>
                <c:pt idx="1">
                  <c:v>0.00384193269</c:v>
                </c:pt>
              </c:numCache>
            </c:numRef>
          </c:val>
        </c:ser>
        <c:ser>
          <c:idx val="1"/>
          <c:order val="1"/>
          <c:tx>
            <c:v>XGBoost</c:v>
          </c:tx>
          <c:spPr>
            <a:solidFill xmlns:a="http://schemas.openxmlformats.org/drawingml/2006/main">
              <a:srgbClr val="167D8D"/>
            </a:solidFill>
          </c:spPr>
          <c:cat>
            <c:strRef>
              <c:f>'Chart Data'!$C$2:$C$3</c:f>
              <c:strCache>
                <c:ptCount val="2"/>
                <c:pt idx="0">
                  <c:v>Cooling tower</c:v>
                </c:pt>
                <c:pt idx="1">
                  <c:v>Direct evaporative</c:v>
                </c:pt>
              </c:strCache>
            </c:strRef>
          </c:cat>
          <c:val>
            <c:numRef>
              <c:f>'Chart Data'!$D$2:$D$3</c:f>
              <c:numCache>
                <c:formatCode>0.000</c:formatCode>
                <c:ptCount val="2"/>
                <c:pt idx="0">
                  <c:v>0.003668214892</c:v>
                </c:pt>
                <c:pt idx="1">
                  <c:v>0.003191320083</c:v>
                </c:pt>
              </c:numCache>
            </c:numRef>
          </c:val>
        </c:ser>
        <c:dLbls>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142D42"/>
                </a:solidFill>
                <a:latin typeface="Arial"/>
                <a:ea typeface="Arial"/>
                <a:cs typeface="Arial"/>
              </a:defRPr>
            </a:pPr>
          </a:p>
        </c:txPr>
        <c:crossAx val="48672768"/>
      </c:catAx>
      <c:valAx>
        <c:axId val="48672768"/>
        <c:scaling>
          <c:orientation val="minMax"/>
          <c:max val="0.006"/>
          <c:min val="0"/>
        </c:scaling>
        <c:delete val="0"/>
        <c:axPos val="l"/>
        <c:majorGridlines>
          <c:spPr>
            <a:ln xmlns:a="http://schemas.openxmlformats.org/drawingml/2006/main" w="9525">
              <a:solidFill>
                <a:srgbClr val="DEE7EB"/>
              </a:solidFill>
            </a:ln>
          </c:spPr>
        </c:majorGridlines>
        <c:title>
          <c:tx>
            <c:rich>
              <a:bodyPr xmlns:a="http://schemas.openxmlformats.org/drawingml/2006/main"/>
              <a:lstStyle xmlns:a="http://schemas.openxmlformats.org/drawingml/2006/main"/>
              <a:p xmlns:a="http://schemas.openxmlformats.org/drawingml/2006/main">
                <a:r>
                  <a:rPr sz="1575">
                    <a:solidFill>
                      <a:srgbClr val="142D42"/>
                    </a:solidFill>
                    <a:latin typeface="Arial"/>
                    <a:ea typeface="Arial"/>
                    <a:cs typeface="Arial"/>
                  </a:rPr>
                  <a:t>Average error (MAE, MGD)</a:t>
                </a:r>
              </a:p>
            </c:rich>
          </c:tx>
          <c:overlay val="0"/>
          <c:txPr>
            <a:bodyPr xmlns:a="http://schemas.openxmlformats.org/drawingml/2006/main" anchorCtr="1"/>
            <a:lstStyle xmlns:a="http://schemas.openxmlformats.org/drawingml/2006/main"/>
            <a:p xmlns:a="http://schemas.openxmlformats.org/drawingml/2006/main">
              <a:pPr>
                <a:defRPr sz="1575">
                  <a:solidFill>
                    <a:srgbClr val="142D42"/>
                  </a:solidFill>
                  <a:latin typeface="Arial"/>
                  <a:ea typeface="Arial"/>
                  <a:cs typeface="Arial"/>
                </a:defRPr>
              </a:pPr>
            </a:p>
          </c:txPr>
        </c:title>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777"/>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725">
              <a:solidFill>
                <a:srgbClr val="142D42"/>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Nearby station</c:v>
          </c:tx>
          <c:spPr>
            <a:solidFill xmlns:a="http://schemas.openxmlformats.org/drawingml/2006/main">
              <a:srgbClr val="167D8D"/>
            </a:solidFill>
          </c:spPr>
          <c:cat>
            <c:strRef>
              <c:f>'Chart Data'!$A$2:$A$4</c:f>
              <c:strCache>
                <c:ptCount val="3"/>
                <c:pt idx="0">
                  <c:v>10% gaps</c:v>
                </c:pt>
                <c:pt idx="1">
                  <c:v>25% gaps</c:v>
                </c:pt>
                <c:pt idx="2">
                  <c:v>40% gaps</c:v>
                </c:pt>
              </c:strCache>
            </c:strRef>
          </c:cat>
          <c:val>
            <c:numRef>
              <c:f>'Chart Data'!$B$2:$B$4</c:f>
              <c:numCache>
                <c:formatCode>0.0</c:formatCode>
                <c:ptCount val="3"/>
                <c:pt idx="0">
                  <c:v>0.3294740911</c:v>
                </c:pt>
                <c:pt idx="1">
                  <c:v>0.6313760632</c:v>
                </c:pt>
                <c:pt idx="2">
                  <c:v>0.9053629338</c:v>
                </c:pt>
              </c:numCache>
            </c:numRef>
          </c:val>
        </c:ser>
        <c:ser>
          <c:idx val="1"/>
          <c:order val="1"/>
          <c:tx>
            <c:v>Straight line</c:v>
          </c:tx>
          <c:spPr>
            <a:solidFill xmlns:a="http://schemas.openxmlformats.org/drawingml/2006/main">
              <a:srgbClr val="9BAEB9"/>
            </a:solidFill>
          </c:spPr>
          <c:cat>
            <c:strRef>
              <c:f>'Chart Data'!$C$2:$C$4</c:f>
              <c:strCache>
                <c:ptCount val="3"/>
                <c:pt idx="0">
                  <c:v>10% gaps</c:v>
                </c:pt>
                <c:pt idx="1">
                  <c:v>25% gaps</c:v>
                </c:pt>
                <c:pt idx="2">
                  <c:v>40% gaps</c:v>
                </c:pt>
              </c:strCache>
            </c:strRef>
          </c:cat>
          <c:val>
            <c:numRef>
              <c:f>'Chart Data'!$D$2:$D$4</c:f>
              <c:numCache>
                <c:formatCode>0.0</c:formatCode>
                <c:ptCount val="3"/>
                <c:pt idx="0">
                  <c:v>0.600125973</c:v>
                </c:pt>
                <c:pt idx="1">
                  <c:v>2.212085729</c:v>
                </c:pt>
                <c:pt idx="2">
                  <c:v>4.092290509</c:v>
                </c:pt>
              </c:numCache>
            </c:numRef>
          </c:val>
        </c:ser>
        <c:dLbls>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142D42"/>
                </a:solidFill>
                <a:latin typeface="Arial"/>
                <a:ea typeface="Arial"/>
                <a:cs typeface="Arial"/>
              </a:defRPr>
            </a:pPr>
          </a:p>
        </c:txPr>
        <c:crossAx val="48672768"/>
      </c:catAx>
      <c:valAx>
        <c:axId val="48672768"/>
        <c:scaling>
          <c:orientation val="minMax"/>
          <c:max val="5"/>
          <c:min val="0"/>
        </c:scaling>
        <c:delete val="0"/>
        <c:axPos val="l"/>
        <c:majorGridlines>
          <c:spPr>
            <a:ln xmlns:a="http://schemas.openxmlformats.org/drawingml/2006/main" w="9525">
              <a:solidFill>
                <a:srgbClr val="DEE7EB"/>
              </a:solidFill>
            </a:ln>
          </c:spPr>
        </c:majorGridlines>
        <c:title>
          <c:tx>
            <c:rich>
              <a:bodyPr xmlns:a="http://schemas.openxmlformats.org/drawingml/2006/main"/>
              <a:lstStyle xmlns:a="http://schemas.openxmlformats.org/drawingml/2006/main"/>
              <a:p xmlns:a="http://schemas.openxmlformats.org/drawingml/2006/main">
                <a:r>
                  <a:rPr sz="1575">
                    <a:solidFill>
                      <a:srgbClr val="142D42"/>
                    </a:solidFill>
                    <a:latin typeface="Arial"/>
                    <a:ea typeface="Arial"/>
                    <a:cs typeface="Arial"/>
                  </a:rPr>
                  <a:t>Prediction spread (10^-8 MGD2)</a:t>
                </a:r>
              </a:p>
            </c:rich>
          </c:tx>
          <c:overlay val="0"/>
          <c:txPr>
            <a:bodyPr xmlns:a="http://schemas.openxmlformats.org/drawingml/2006/main" anchorCtr="1"/>
            <a:lstStyle xmlns:a="http://schemas.openxmlformats.org/drawingml/2006/main"/>
            <a:p xmlns:a="http://schemas.openxmlformats.org/drawingml/2006/main">
              <a:pPr>
                <a:defRPr sz="1575">
                  <a:solidFill>
                    <a:srgbClr val="142D42"/>
                  </a:solidFill>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777"/>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725">
              <a:solidFill>
                <a:srgbClr val="142D42"/>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Coverage</c:v>
          </c:tx>
          <c:spPr>
            <a:solidFill xmlns:a="http://schemas.openxmlformats.org/drawingml/2006/main">
              <a:srgbClr val="167D8D"/>
            </a:solidFill>
          </c:spPr>
          <c:dPt>
            <c:idx val="2"/>
            <c:invertIfNegative val="0"/>
            <c:spPr>
              <a:solidFill xmlns:a="http://schemas.openxmlformats.org/drawingml/2006/main">
                <a:srgbClr val="9BAEB9"/>
              </a:solidFill>
            </c:spPr>
          </c:dPt>
          <c:cat>
            <c:strRef>
              <c:f>'Chart Data'!$A$2:$A$4</c:f>
              <c:strCache>
                <c:ptCount val="3"/>
                <c:pt idx="0">
                  <c:v>Tower XGB</c:v>
                </c:pt>
                <c:pt idx="1">
                  <c:v>Direct XGB</c:v>
                </c:pt>
                <c:pt idx="2">
                  <c:v>Goal</c:v>
                </c:pt>
              </c:strCache>
            </c:strRef>
          </c:cat>
          <c:val>
            <c:numRef>
              <c:f>'Chart Data'!$B$2:$B$4</c:f>
              <c:numCache>
                <c:formatCode>0%</c:formatCode>
                <c:ptCount val="3"/>
                <c:pt idx="0">
                  <c:v>0.8828828829</c:v>
                </c:pt>
                <c:pt idx="1">
                  <c:v>0.8798798799</c:v>
                </c:pt>
                <c:pt idx="2">
                  <c:v>0.9</c:v>
                </c:pt>
              </c:numCache>
            </c:numRef>
          </c:val>
        </c:ser>
        <c:dLbls>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142D42"/>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DEE7EB"/>
              </a:solidFill>
            </a:ln>
          </c:spPr>
        </c:majorGridlines>
        <c:title>
          <c:tx>
            <c:rich>
              <a:bodyPr xmlns:a="http://schemas.openxmlformats.org/drawingml/2006/main"/>
              <a:lstStyle xmlns:a="http://schemas.openxmlformats.org/drawingml/2006/main"/>
              <a:p xmlns:a="http://schemas.openxmlformats.org/drawingml/2006/main">
                <a:r>
                  <a:rPr sz="1575">
                    <a:solidFill>
                      <a:srgbClr val="142D42"/>
                    </a:solidFill>
                    <a:latin typeface="Arial"/>
                    <a:ea typeface="Arial"/>
                    <a:cs typeface="Arial"/>
                  </a:rPr>
                  <a:t>Test values inside range</a:t>
                </a:r>
              </a:p>
            </c:rich>
          </c:tx>
          <c:overlay val="0"/>
          <c:txPr>
            <a:bodyPr xmlns:a="http://schemas.openxmlformats.org/drawingml/2006/main" anchorCtr="1"/>
            <a:lstStyle xmlns:a="http://schemas.openxmlformats.org/drawingml/2006/main"/>
            <a:p xmlns:a="http://schemas.openxmlformats.org/drawingml/2006/main">
              <a:pPr>
                <a:defRPr sz="1575">
                  <a:solidFill>
                    <a:srgbClr val="142D42"/>
                  </a:solidFill>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777"/>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0D2397-D5DD-4B06-985F-5A2474E2D3E8}"/>
              </a:ext>
            </a:extLst>
          </p:cNvPr>
          <p:cNvSpPr>
            <a:spLocks xmlns:a="http://schemas.openxmlformats.org/drawingml/2006/main" noGrp="1"/>
          </p:cNvSpPr>
          <p:nvPr/>
        </p:nvSpPr>
        <p:spPr>
          <a:xfrm xmlns:a="http://schemas.openxmlformats.org/drawingml/2006/main">
            <a:off x="571500" y="238125"/>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167D8D"/>
                </a:solidFill>
                <a:latin typeface="Arial"/>
                <a:ea typeface="Arial"/>
                <a:cs typeface="Arial"/>
              </a:defRPr>
            </a:pPr>
            <a:r>
              <a:rPr sz="1425" b="1">
                <a:solidFill>
                  <a:srgbClr val="167D8D"/>
                </a:solidFill>
                <a:latin typeface="Arial"/>
                <a:ea typeface="Arial"/>
                <a:cs typeface="Arial"/>
              </a:rPr>
              <a:t>ECOllateral / CSCI 4150 A2</a:t>
            </a:r>
          </a:p>
        </p:txBody>
      </p:sp>
      <p:sp>
        <p:nvSpPr>
          <p:cNvPr id="2" name="">
            <a:extLst xmlns:a="http://schemas.openxmlformats.org/drawingml/2006/main">
              <a:ext uri="{FF2B5EF4-FFF2-40B4-BE49-F238E27FC236}">
                <a16:creationId xmlns:a16="http://schemas.microsoft.com/office/drawing/2014/main" id="{4A72FBBB-9DF2-4C9E-9AB5-65E75084CC3E}"/>
              </a:ext>
            </a:extLst>
          </p:cNvPr>
          <p:cNvSpPr>
            <a:spLocks xmlns:a="http://schemas.openxmlformats.org/drawingml/2006/main" noGrp="1"/>
          </p:cNvSpPr>
          <p:nvPr/>
        </p:nvSpPr>
        <p:spPr>
          <a:xfrm xmlns:a="http://schemas.openxmlformats.org/drawingml/2006/main">
            <a:off x="571500" y="6953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D42"/>
                </a:solidFill>
                <a:latin typeface="Arial"/>
                <a:ea typeface="Arial"/>
                <a:cs typeface="Arial"/>
              </a:defRPr>
            </a:pPr>
            <a:r>
              <a:rPr sz="3225" b="1">
                <a:solidFill>
                  <a:srgbClr val="142D42"/>
                </a:solidFill>
                <a:latin typeface="Arial"/>
                <a:ea typeface="Arial"/>
                <a:cs typeface="Arial"/>
              </a:rPr>
              <a:t>Estimate the water a data center uses for cooling</a:t>
            </a:r>
          </a:p>
        </p:txBody>
      </p:sp>
      <p:sp>
        <p:nvSpPr>
          <p:cNvPr id="3" name="">
            <a:extLst xmlns:a="http://schemas.openxmlformats.org/drawingml/2006/main">
              <a:ext uri="{FF2B5EF4-FFF2-40B4-BE49-F238E27FC236}">
                <a16:creationId xmlns:a16="http://schemas.microsoft.com/office/drawing/2014/main" id="{58254A26-DABA-4A1B-AF73-423604261F36}"/>
              </a:ext>
            </a:extLst>
          </p:cNvPr>
          <p:cNvSpPr>
            <a:spLocks xmlns:a="http://schemas.openxmlformats.org/drawingml/2006/main" noGrp="1"/>
          </p:cNvSpPr>
          <p:nvPr/>
        </p:nvSpPr>
        <p:spPr>
          <a:xfrm xmlns:a="http://schemas.openxmlformats.org/drawingml/2006/main">
            <a:off x="571500" y="624840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777"/>
                </a:solidFill>
                <a:latin typeface="Arial"/>
                <a:ea typeface="Arial"/>
                <a:cs typeface="Arial"/>
              </a:defRPr>
            </a:pPr>
            <a:r>
              <a:rPr sz="1200" b="0">
                <a:solidFill>
                  <a:srgbClr val="536777"/>
                </a:solidFill>
                <a:latin typeface="Arial"/>
                <a:ea typeface="Arial"/>
                <a:cs typeface="Arial"/>
              </a:rPr>
              <a:t>October 7, 2026 snapshot | Made-up test data; real-facility accuracy still unverified</a:t>
            </a:r>
          </a:p>
        </p:txBody>
      </p:sp>
      <p:sp>
        <p:nvSpPr>
          <p:cNvPr id="4" name="">
            <a:extLst xmlns:a="http://schemas.openxmlformats.org/drawingml/2006/main">
              <a:ext uri="{FF2B5EF4-FFF2-40B4-BE49-F238E27FC236}">
                <a16:creationId xmlns:a16="http://schemas.microsoft.com/office/drawing/2014/main" id="{B606856B-5B09-47CE-9103-B12E8C77AB58}"/>
              </a:ext>
            </a:extLst>
          </p:cNvPr>
          <p:cNvSpPr>
            <a:spLocks xmlns:a="http://schemas.openxmlformats.org/drawingml/2006/main" noGrp="1"/>
          </p:cNvSpPr>
          <p:nvPr/>
        </p:nvSpPr>
        <p:spPr>
          <a:xfrm xmlns:a="http://schemas.openxmlformats.org/drawingml/2006/main">
            <a:off x="11334750" y="631507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3D37B68B-9CA7-48B4-9F34-110847AC9C3D}"/>
              </a:ext>
            </a:extLst>
          </p:cNvPr>
          <p:cNvSpPr>
            <a:spLocks xmlns:a="http://schemas.openxmlformats.org/drawingml/2006/main" noGrp="1"/>
          </p:cNvSpPr>
          <p:nvPr/>
        </p:nvSpPr>
        <p:spPr>
          <a:xfrm xmlns:a="http://schemas.openxmlformats.org/drawingml/2006/main">
            <a:off x="609600" y="18478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D42"/>
                </a:solidFill>
                <a:latin typeface="Arial"/>
                <a:ea typeface="Arial"/>
                <a:cs typeface="Arial"/>
              </a:defRPr>
            </a:pPr>
            <a:r>
              <a:rPr sz="2250" b="0">
                <a:solidFill>
                  <a:srgbClr val="142D42"/>
                </a:solidFill>
                <a:latin typeface="Arial"/>
                <a:ea typeface="Arial"/>
                <a:cs typeface="Arial"/>
              </a:rPr>
              <a:t>For researchers and planners comparing proposed data centers</a:t>
            </a:r>
          </a:p>
        </p:txBody>
      </p:sp>
      <p:sp>
        <p:nvSpPr>
          <p:cNvPr id="6" name="">
            <a:extLst xmlns:a="http://schemas.openxmlformats.org/drawingml/2006/main">
              <a:ext uri="{FF2B5EF4-FFF2-40B4-BE49-F238E27FC236}">
                <a16:creationId xmlns:a16="http://schemas.microsoft.com/office/drawing/2014/main" id="{FF398380-C7CF-4AAE-A691-25E2CB7CC9FD}"/>
              </a:ext>
            </a:extLst>
          </p:cNvPr>
          <p:cNvSpPr>
            <a:spLocks xmlns:a="http://schemas.openxmlformats.org/drawingml/2006/main" noGrp="1"/>
          </p:cNvSpPr>
          <p:nvPr/>
        </p:nvSpPr>
        <p:spPr>
          <a:xfrm xmlns:a="http://schemas.openxmlformats.org/drawingml/2006/main">
            <a:off x="619125" y="2743200"/>
            <a:ext cx="3905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67D8D"/>
                </a:solidFill>
                <a:latin typeface="Arial"/>
                <a:ea typeface="Arial"/>
                <a:cs typeface="Arial"/>
              </a:defRPr>
            </a:pPr>
            <a:r>
              <a:rPr sz="1725" b="1">
                <a:solidFill>
                  <a:srgbClr val="167D8D"/>
                </a:solidFill>
                <a:latin typeface="Arial"/>
                <a:ea typeface="Arial"/>
                <a:cs typeface="Arial"/>
              </a:rPr>
              <a:t>INPUT</a:t>
            </a:r>
          </a:p>
        </p:txBody>
      </p:sp>
      <p:sp>
        <p:nvSpPr>
          <p:cNvPr id="7" name="">
            <a:extLst xmlns:a="http://schemas.openxmlformats.org/drawingml/2006/main">
              <a:ext uri="{FF2B5EF4-FFF2-40B4-BE49-F238E27FC236}">
                <a16:creationId xmlns:a16="http://schemas.microsoft.com/office/drawing/2014/main" id="{06C10FFD-CE01-409D-8853-D5628C2D82DB}"/>
              </a:ext>
            </a:extLst>
          </p:cNvPr>
          <p:cNvSpPr>
            <a:spLocks xmlns:a="http://schemas.openxmlformats.org/drawingml/2006/main" noGrp="1"/>
          </p:cNvSpPr>
          <p:nvPr/>
        </p:nvSpPr>
        <p:spPr>
          <a:xfrm xmlns:a="http://schemas.openxmlformats.org/drawingml/2006/main">
            <a:off x="619125" y="3181350"/>
            <a:ext cx="4095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42D42"/>
                </a:solidFill>
                <a:latin typeface="Arial"/>
                <a:ea typeface="Arial"/>
                <a:cs typeface="Arial"/>
              </a:defRPr>
            </a:pPr>
            <a:r>
              <a:rPr sz="2550" b="0">
                <a:solidFill>
                  <a:srgbClr val="142D42"/>
                </a:solidFill>
                <a:latin typeface="Arial"/>
                <a:ea typeface="Arial"/>
                <a:cs typeface="Arial"/>
              </a:rPr>
              <a:t>IT size (megawatts)</a:t>
            </a:r>
          </a:p>
          <a:p xmlns:a="http://schemas.openxmlformats.org/drawingml/2006/main">
            <a:pPr>
              <a:defRPr sz="2550" b="0">
                <a:solidFill>
                  <a:srgbClr val="142D42"/>
                </a:solidFill>
                <a:latin typeface="Arial"/>
                <a:ea typeface="Arial"/>
                <a:cs typeface="Arial"/>
              </a:defRPr>
            </a:pPr>
            <a:r>
              <a:rPr sz="2550" b="0">
                <a:solidFill>
                  <a:srgbClr val="142D42"/>
                </a:solidFill>
                <a:latin typeface="Arial"/>
                <a:ea typeface="Arial"/>
                <a:cs typeface="Arial"/>
              </a:rPr>
              <a:t>Cooling type</a:t>
            </a:r>
          </a:p>
          <a:p xmlns:a="http://schemas.openxmlformats.org/drawingml/2006/main">
            <a:pPr>
              <a:defRPr sz="2550" b="0">
                <a:solidFill>
                  <a:srgbClr val="142D42"/>
                </a:solidFill>
                <a:latin typeface="Arial"/>
                <a:ea typeface="Arial"/>
                <a:cs typeface="Arial"/>
              </a:defRPr>
            </a:pPr>
            <a:r>
              <a:rPr sz="2550" b="0">
                <a:solidFill>
                  <a:srgbClr val="142D42"/>
                </a:solidFill>
                <a:latin typeface="Arial"/>
                <a:ea typeface="Arial"/>
                <a:cs typeface="Arial"/>
              </a:rPr>
              <a:t>Watershed + month</a:t>
            </a:r>
          </a:p>
        </p:txBody>
      </p:sp>
      <p:sp>
        <p:nvSpPr>
          <p:cNvPr id="8" name="">
            <a:extLst xmlns:a="http://schemas.openxmlformats.org/drawingml/2006/main">
              <a:ext uri="{FF2B5EF4-FFF2-40B4-BE49-F238E27FC236}">
                <a16:creationId xmlns:a16="http://schemas.microsoft.com/office/drawing/2014/main" id="{8707A8B7-3240-43DF-B8EA-6EFEB9C7ABB1}"/>
              </a:ext>
            </a:extLst>
          </p:cNvPr>
          <p:cNvSpPr>
            <a:spLocks xmlns:a="http://schemas.openxmlformats.org/drawingml/2006/main" noGrp="1"/>
          </p:cNvSpPr>
          <p:nvPr/>
        </p:nvSpPr>
        <p:spPr>
          <a:xfrm xmlns:a="http://schemas.openxmlformats.org/drawingml/2006/main">
            <a:off x="6334125" y="2743200"/>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67D8D"/>
                </a:solidFill>
                <a:latin typeface="Arial"/>
                <a:ea typeface="Arial"/>
                <a:cs typeface="Arial"/>
              </a:defRPr>
            </a:pPr>
            <a:r>
              <a:rPr sz="1725" b="1">
                <a:solidFill>
                  <a:srgbClr val="167D8D"/>
                </a:solidFill>
                <a:latin typeface="Arial"/>
                <a:ea typeface="Arial"/>
                <a:cs typeface="Arial"/>
              </a:rPr>
              <a:t>OUTPUT</a:t>
            </a:r>
          </a:p>
        </p:txBody>
      </p:sp>
      <p:sp>
        <p:nvSpPr>
          <p:cNvPr id="9" name="">
            <a:extLst xmlns:a="http://schemas.openxmlformats.org/drawingml/2006/main">
              <a:ext uri="{FF2B5EF4-FFF2-40B4-BE49-F238E27FC236}">
                <a16:creationId xmlns:a16="http://schemas.microsoft.com/office/drawing/2014/main" id="{BDC51567-F7DC-43B4-9619-BF3F469E6EED}"/>
              </a:ext>
            </a:extLst>
          </p:cNvPr>
          <p:cNvSpPr>
            <a:spLocks xmlns:a="http://schemas.openxmlformats.org/drawingml/2006/main" noGrp="1"/>
          </p:cNvSpPr>
          <p:nvPr/>
        </p:nvSpPr>
        <p:spPr>
          <a:xfrm xmlns:a="http://schemas.openxmlformats.org/drawingml/2006/main">
            <a:off x="6334125" y="3181350"/>
            <a:ext cx="5143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42D42"/>
                </a:solidFill>
                <a:latin typeface="Arial"/>
                <a:ea typeface="Arial"/>
                <a:cs typeface="Arial"/>
              </a:defRPr>
            </a:pPr>
            <a:r>
              <a:rPr sz="2400" b="0">
                <a:solidFill>
                  <a:srgbClr val="142D42"/>
                </a:solidFill>
                <a:latin typeface="Arial"/>
                <a:ea typeface="Arial"/>
                <a:cs typeface="Arial"/>
              </a:rPr>
              <a:t>Water use + physical limits</a:t>
            </a:r>
          </a:p>
          <a:p xmlns:a="http://schemas.openxmlformats.org/drawingml/2006/main">
            <a:pPr>
              <a:defRPr sz="2400" b="0">
                <a:solidFill>
                  <a:srgbClr val="142D42"/>
                </a:solidFill>
                <a:latin typeface="Arial"/>
                <a:ea typeface="Arial"/>
                <a:cs typeface="Arial"/>
              </a:defRPr>
            </a:pPr>
            <a:r>
              <a:rPr sz="2400" b="0">
                <a:solidFill>
                  <a:srgbClr val="142D42"/>
                </a:solidFill>
                <a:latin typeface="Arial"/>
                <a:ea typeface="Arial"/>
                <a:cs typeface="Arial"/>
              </a:rPr>
              <a:t>Prediction range + warnings</a:t>
            </a:r>
          </a:p>
          <a:p xmlns:a="http://schemas.openxmlformats.org/drawingml/2006/main">
            <a:pPr>
              <a:defRPr sz="2400" b="0">
                <a:solidFill>
                  <a:srgbClr val="142D42"/>
                </a:solidFill>
                <a:latin typeface="Arial"/>
                <a:ea typeface="Arial"/>
                <a:cs typeface="Arial"/>
              </a:defRPr>
            </a:pPr>
            <a:r>
              <a:rPr sz="2400" b="0">
                <a:solidFill>
                  <a:srgbClr val="142D42"/>
                </a:solidFill>
                <a:latin typeface="Arial"/>
                <a:ea typeface="Arial"/>
                <a:cs typeface="Arial"/>
              </a:rPr>
              <a:t>Permit quotes for the location</a:t>
            </a:r>
          </a:p>
        </p:txBody>
      </p:sp>
      <p:sp>
        <p:nvSpPr>
          <p:cNvPr id="10" name="">
            <a:extLst xmlns:a="http://schemas.openxmlformats.org/drawingml/2006/main">
              <a:ext uri="{FF2B5EF4-FFF2-40B4-BE49-F238E27FC236}">
                <a16:creationId xmlns:a16="http://schemas.microsoft.com/office/drawing/2014/main" id="{77D6933F-9A43-4AF8-A8E5-3E2BBC6E508B}"/>
              </a:ext>
            </a:extLst>
          </p:cNvPr>
          <p:cNvSpPr>
            <a:spLocks xmlns:a="http://schemas.openxmlformats.org/drawingml/2006/main" noGrp="1"/>
          </p:cNvSpPr>
          <p:nvPr/>
        </p:nvSpPr>
        <p:spPr>
          <a:xfrm xmlns:a="http://schemas.openxmlformats.org/drawingml/2006/main">
            <a:off x="619125" y="539115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2D42"/>
                </a:solidFill>
                <a:latin typeface="Arial"/>
                <a:ea typeface="Arial"/>
                <a:cs typeface="Arial"/>
              </a:defRPr>
            </a:pPr>
            <a:r>
              <a:rPr sz="2100" b="1">
                <a:solidFill>
                  <a:srgbClr val="142D42"/>
                </a:solidFill>
                <a:latin typeface="Arial"/>
                <a:ea typeface="Arial"/>
                <a:cs typeface="Arial"/>
              </a:rPr>
              <a:t>Working local prototype | Shaun, Troy, Scott</a:t>
            </a:r>
          </a:p>
        </p:txBody>
      </p:sp>
    </p:spTree>
    <p:extLst>
      <p:ext uri="{BB962C8B-B14F-4D97-AF65-F5344CB8AC3E}">
        <p14:creationId xmlns:p14="http://schemas.microsoft.com/office/powerpoint/2010/main" val="111218505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2C19866A-13E0-45F9-B43A-10561CFD556C}"/>
              </a:ext>
            </a:extLst>
          </p:cNvPr>
          <p:cNvSpPr>
            <a:spLocks xmlns:a="http://schemas.openxmlformats.org/drawingml/2006/main" noGrp="1"/>
          </p:cNvSpPr>
          <p:nvPr/>
        </p:nvSpPr>
        <p:spPr>
          <a:xfrm xmlns:a="http://schemas.openxmlformats.org/drawingml/2006/main">
            <a:off x="571500" y="238125"/>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167D8D"/>
                </a:solidFill>
                <a:latin typeface="Arial"/>
                <a:ea typeface="Arial"/>
                <a:cs typeface="Arial"/>
              </a:defRPr>
            </a:pPr>
            <a:r>
              <a:rPr sz="1425" b="1">
                <a:solidFill>
                  <a:srgbClr val="167D8D"/>
                </a:solidFill>
                <a:latin typeface="Arial"/>
                <a:ea typeface="Arial"/>
                <a:cs typeface="Arial"/>
              </a:rPr>
              <a:t>ECOllateral / CSCI 4150 A2</a:t>
            </a:r>
          </a:p>
        </p:txBody>
      </p:sp>
      <p:sp>
        <p:nvSpPr>
          <p:cNvPr id="2" name="">
            <a:extLst xmlns:a="http://schemas.openxmlformats.org/drawingml/2006/main">
              <a:ext uri="{FF2B5EF4-FFF2-40B4-BE49-F238E27FC236}">
                <a16:creationId xmlns:a16="http://schemas.microsoft.com/office/drawing/2014/main" id="{76C29430-CE6D-4066-9CBA-76E1E74176BA}"/>
              </a:ext>
            </a:extLst>
          </p:cNvPr>
          <p:cNvSpPr>
            <a:spLocks xmlns:a="http://schemas.openxmlformats.org/drawingml/2006/main" noGrp="1"/>
          </p:cNvSpPr>
          <p:nvPr/>
        </p:nvSpPr>
        <p:spPr>
          <a:xfrm xmlns:a="http://schemas.openxmlformats.org/drawingml/2006/main">
            <a:off x="571500" y="6953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D42"/>
                </a:solidFill>
                <a:latin typeface="Arial"/>
                <a:ea typeface="Arial"/>
                <a:cs typeface="Arial"/>
              </a:defRPr>
            </a:pPr>
            <a:r>
              <a:rPr sz="3225" b="1">
                <a:solidFill>
                  <a:srgbClr val="142D42"/>
                </a:solidFill>
                <a:latin typeface="Arial"/>
                <a:ea typeface="Arial"/>
                <a:cs typeface="Arial"/>
              </a:rPr>
              <a:t>Two paths: predict water use and find permit quotes</a:t>
            </a:r>
          </a:p>
        </p:txBody>
      </p:sp>
      <p:sp>
        <p:nvSpPr>
          <p:cNvPr id="3" name="">
            <a:extLst xmlns:a="http://schemas.openxmlformats.org/drawingml/2006/main">
              <a:ext uri="{FF2B5EF4-FFF2-40B4-BE49-F238E27FC236}">
                <a16:creationId xmlns:a16="http://schemas.microsoft.com/office/drawing/2014/main" id="{7B2BAEA1-3591-4F7D-8874-7D40DB2A4B5B}"/>
              </a:ext>
            </a:extLst>
          </p:cNvPr>
          <p:cNvSpPr>
            <a:spLocks xmlns:a="http://schemas.openxmlformats.org/drawingml/2006/main" noGrp="1"/>
          </p:cNvSpPr>
          <p:nvPr/>
        </p:nvSpPr>
        <p:spPr>
          <a:xfrm xmlns:a="http://schemas.openxmlformats.org/drawingml/2006/main">
            <a:off x="571500" y="624840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777"/>
                </a:solidFill>
                <a:latin typeface="Arial"/>
                <a:ea typeface="Arial"/>
                <a:cs typeface="Arial"/>
              </a:defRPr>
            </a:pPr>
            <a:r>
              <a:rPr sz="1200" b="0">
                <a:solidFill>
                  <a:srgbClr val="536777"/>
                </a:solidFill>
                <a:latin typeface="Arial"/>
                <a:ea typeface="Arial"/>
                <a:cs typeface="Arial"/>
              </a:rPr>
              <a:t>E3/E4: constraint-failure-cases.json; retrieval-cases.json | Diagram shows current prototype</a:t>
            </a:r>
          </a:p>
        </p:txBody>
      </p:sp>
      <p:sp>
        <p:nvSpPr>
          <p:cNvPr id="4" name="">
            <a:extLst xmlns:a="http://schemas.openxmlformats.org/drawingml/2006/main">
              <a:ext uri="{FF2B5EF4-FFF2-40B4-BE49-F238E27FC236}">
                <a16:creationId xmlns:a16="http://schemas.microsoft.com/office/drawing/2014/main" id="{3955E0CF-1F19-45C4-BECE-71335E0FFDAC}"/>
              </a:ext>
            </a:extLst>
          </p:cNvPr>
          <p:cNvSpPr>
            <a:spLocks xmlns:a="http://schemas.openxmlformats.org/drawingml/2006/main" noGrp="1"/>
          </p:cNvSpPr>
          <p:nvPr/>
        </p:nvSpPr>
        <p:spPr>
          <a:xfrm xmlns:a="http://schemas.openxmlformats.org/drawingml/2006/main">
            <a:off x="11334750" y="631507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398D1565-57F5-4BB0-A847-DF4CB2A01DFA}"/>
              </a:ext>
            </a:extLst>
          </p:cNvPr>
          <p:cNvSpPr>
            <a:spLocks xmlns:a="http://schemas.openxmlformats.org/drawingml/2006/main" noGrp="1"/>
          </p:cNvSpPr>
          <p:nvPr/>
        </p:nvSpPr>
        <p:spPr>
          <a:xfrm xmlns:a="http://schemas.openxmlformats.org/drawingml/2006/main">
            <a:off x="609600" y="164782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D42"/>
                </a:solidFill>
                <a:latin typeface="Arial"/>
                <a:ea typeface="Arial"/>
                <a:cs typeface="Arial"/>
              </a:defRPr>
            </a:pPr>
            <a:r>
              <a:rPr sz="1800" b="0">
                <a:solidFill>
                  <a:srgbClr val="142D42"/>
                </a:solidFill>
                <a:latin typeface="Arial"/>
                <a:ea typeface="Arial"/>
                <a:cs typeface="Arial"/>
              </a:rPr>
              <a:t>Enter IT size, cooling type, watershed code (HUC8), and month; coordinates optional</a:t>
            </a:r>
          </a:p>
        </p:txBody>
      </p:sp>
      <p:sp>
        <p:nvSpPr>
          <p:cNvPr id="6" name="">
            <a:extLst xmlns:a="http://schemas.openxmlformats.org/drawingml/2006/main">
              <a:ext uri="{FF2B5EF4-FFF2-40B4-BE49-F238E27FC236}">
                <a16:creationId xmlns:a16="http://schemas.microsoft.com/office/drawing/2014/main" id="{422CEC0B-D200-4640-B2EA-65BF543B7092}"/>
              </a:ext>
            </a:extLst>
          </p:cNvPr>
          <p:cNvSpPr>
            <a:spLocks xmlns:a="http://schemas.openxmlformats.org/drawingml/2006/main" noGrp="1"/>
          </p:cNvSpPr>
          <p:nvPr/>
        </p:nvSpPr>
        <p:spPr>
          <a:xfrm xmlns:a="http://schemas.openxmlformats.org/drawingml/2006/main">
            <a:off x="619125" y="2257425"/>
            <a:ext cx="1857375" cy="1238250"/>
          </a:xfrm>
          <a:prstGeom xmlns:a="http://schemas.openxmlformats.org/drawingml/2006/main" prst="rect">
            <a:avLst/>
          </a:prstGeom>
          <a:solidFill xmlns:a="http://schemas.openxmlformats.org/drawingml/2006/main">
            <a:srgbClr val="EFF5F7"/>
          </a:solidFill>
          <a:ln xmlns:a="http://schemas.openxmlformats.org/drawingml/2006/main" w="14288">
            <a:solidFill>
              <a:srgbClr val="167D8D"/>
            </a:solidFill>
          </a:ln>
        </p:spPr>
      </p:sp>
      <p:sp>
        <p:nvSpPr>
          <p:cNvPr id="7" name="">
            <a:extLst xmlns:a="http://schemas.openxmlformats.org/drawingml/2006/main">
              <a:ext uri="{FF2B5EF4-FFF2-40B4-BE49-F238E27FC236}">
                <a16:creationId xmlns:a16="http://schemas.microsoft.com/office/drawing/2014/main" id="{FFC209C0-F7A0-49C1-9B78-D1668E3D65F6}"/>
              </a:ext>
            </a:extLst>
          </p:cNvPr>
          <p:cNvSpPr>
            <a:spLocks xmlns:a="http://schemas.openxmlformats.org/drawingml/2006/main" noGrp="1"/>
          </p:cNvSpPr>
          <p:nvPr/>
        </p:nvSpPr>
        <p:spPr>
          <a:xfrm xmlns:a="http://schemas.openxmlformats.org/drawingml/2006/main">
            <a:off x="714375" y="2381250"/>
            <a:ext cx="16859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D42"/>
                </a:solidFill>
                <a:latin typeface="Arial"/>
                <a:ea typeface="Arial"/>
                <a:cs typeface="Arial"/>
              </a:defRPr>
            </a:pPr>
            <a:r>
              <a:rPr sz="1800" b="1">
                <a:solidFill>
                  <a:srgbClr val="142D42"/>
                </a:solidFill>
                <a:latin typeface="Arial"/>
                <a:ea typeface="Arial"/>
                <a:cs typeface="Arial"/>
              </a:rPr>
              <a:t>Public data</a:t>
            </a:r>
          </a:p>
        </p:txBody>
      </p:sp>
      <p:sp>
        <p:nvSpPr>
          <p:cNvPr id="8" name="">
            <a:extLst xmlns:a="http://schemas.openxmlformats.org/drawingml/2006/main">
              <a:ext uri="{FF2B5EF4-FFF2-40B4-BE49-F238E27FC236}">
                <a16:creationId xmlns:a16="http://schemas.microsoft.com/office/drawing/2014/main" id="{02407753-8477-42C9-930C-751E79F0407C}"/>
              </a:ext>
            </a:extLst>
          </p:cNvPr>
          <p:cNvSpPr>
            <a:spLocks xmlns:a="http://schemas.openxmlformats.org/drawingml/2006/main" noGrp="1"/>
          </p:cNvSpPr>
          <p:nvPr/>
        </p:nvSpPr>
        <p:spPr>
          <a:xfrm xmlns:a="http://schemas.openxmlformats.org/drawingml/2006/main">
            <a:off x="714375" y="2686050"/>
            <a:ext cx="16859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USGS / NOAA</a:t>
            </a:r>
          </a:p>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units + dates</a:t>
            </a:r>
          </a:p>
        </p:txBody>
      </p:sp>
      <p:sp>
        <p:nvSpPr>
          <p:cNvPr id="9" name="">
            <a:extLst xmlns:a="http://schemas.openxmlformats.org/drawingml/2006/main">
              <a:ext uri="{FF2B5EF4-FFF2-40B4-BE49-F238E27FC236}">
                <a16:creationId xmlns:a16="http://schemas.microsoft.com/office/drawing/2014/main" id="{61934EB5-6EE3-436C-A40C-409BF3A0B28F}"/>
              </a:ext>
            </a:extLst>
          </p:cNvPr>
          <p:cNvSpPr>
            <a:spLocks xmlns:a="http://schemas.openxmlformats.org/drawingml/2006/main" noGrp="1"/>
          </p:cNvSpPr>
          <p:nvPr/>
        </p:nvSpPr>
        <p:spPr>
          <a:xfrm xmlns:a="http://schemas.openxmlformats.org/drawingml/2006/main">
            <a:off x="2857500" y="2257425"/>
            <a:ext cx="1857375" cy="1238250"/>
          </a:xfrm>
          <a:prstGeom xmlns:a="http://schemas.openxmlformats.org/drawingml/2006/main" prst="rect">
            <a:avLst/>
          </a:prstGeom>
          <a:solidFill xmlns:a="http://schemas.openxmlformats.org/drawingml/2006/main">
            <a:srgbClr val="EFF5F7"/>
          </a:solidFill>
          <a:ln xmlns:a="http://schemas.openxmlformats.org/drawingml/2006/main" w="14288">
            <a:solidFill>
              <a:srgbClr val="167D8D"/>
            </a:solidFill>
          </a:ln>
        </p:spPr>
      </p:sp>
      <p:sp>
        <p:nvSpPr>
          <p:cNvPr id="10" name="">
            <a:extLst xmlns:a="http://schemas.openxmlformats.org/drawingml/2006/main">
              <a:ext uri="{FF2B5EF4-FFF2-40B4-BE49-F238E27FC236}">
                <a16:creationId xmlns:a16="http://schemas.microsoft.com/office/drawing/2014/main" id="{9B4A0D04-D1E0-414D-AE04-17A0CFF469CC}"/>
              </a:ext>
            </a:extLst>
          </p:cNvPr>
          <p:cNvSpPr>
            <a:spLocks xmlns:a="http://schemas.openxmlformats.org/drawingml/2006/main" noGrp="1"/>
          </p:cNvSpPr>
          <p:nvPr/>
        </p:nvSpPr>
        <p:spPr>
          <a:xfrm xmlns:a="http://schemas.openxmlformats.org/drawingml/2006/main">
            <a:off x="2952750" y="2381250"/>
            <a:ext cx="16859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D42"/>
                </a:solidFill>
                <a:latin typeface="Arial"/>
                <a:ea typeface="Arial"/>
                <a:cs typeface="Arial"/>
              </a:defRPr>
            </a:pPr>
            <a:r>
              <a:rPr sz="1800" b="1">
                <a:solidFill>
                  <a:srgbClr val="142D42"/>
                </a:solidFill>
                <a:latin typeface="Arial"/>
                <a:ea typeface="Arial"/>
                <a:cs typeface="Arial"/>
              </a:rPr>
              <a:t>6 inputs</a:t>
            </a:r>
          </a:p>
        </p:txBody>
      </p:sp>
      <p:sp>
        <p:nvSpPr>
          <p:cNvPr id="11" name="">
            <a:extLst xmlns:a="http://schemas.openxmlformats.org/drawingml/2006/main">
              <a:ext uri="{FF2B5EF4-FFF2-40B4-BE49-F238E27FC236}">
                <a16:creationId xmlns:a16="http://schemas.microsoft.com/office/drawing/2014/main" id="{65C7430E-22C4-4A59-ADB7-EF5E95C08EF5}"/>
              </a:ext>
            </a:extLst>
          </p:cNvPr>
          <p:cNvSpPr>
            <a:spLocks xmlns:a="http://schemas.openxmlformats.org/drawingml/2006/main" noGrp="1"/>
          </p:cNvSpPr>
          <p:nvPr/>
        </p:nvSpPr>
        <p:spPr>
          <a:xfrm xmlns:a="http://schemas.openxmlformats.org/drawingml/2006/main">
            <a:off x="2952750" y="2686050"/>
            <a:ext cx="16859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size, dry/wet C</a:t>
            </a:r>
          </a:p>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flow, PDSI, season</a:t>
            </a:r>
          </a:p>
        </p:txBody>
      </p:sp>
      <p:sp>
        <p:nvSpPr>
          <p:cNvPr id="12" name="">
            <a:extLst xmlns:a="http://schemas.openxmlformats.org/drawingml/2006/main">
              <a:ext uri="{FF2B5EF4-FFF2-40B4-BE49-F238E27FC236}">
                <a16:creationId xmlns:a16="http://schemas.microsoft.com/office/drawing/2014/main" id="{1304B4EE-FCC1-4EF3-AA8D-257C5CEC8556}"/>
              </a:ext>
            </a:extLst>
          </p:cNvPr>
          <p:cNvSpPr>
            <a:spLocks xmlns:a="http://schemas.openxmlformats.org/drawingml/2006/main" noGrp="1"/>
          </p:cNvSpPr>
          <p:nvPr/>
        </p:nvSpPr>
        <p:spPr>
          <a:xfrm xmlns:a="http://schemas.openxmlformats.org/drawingml/2006/main">
            <a:off x="5095875" y="2257425"/>
            <a:ext cx="1857375" cy="1238250"/>
          </a:xfrm>
          <a:prstGeom xmlns:a="http://schemas.openxmlformats.org/drawingml/2006/main" prst="rect">
            <a:avLst/>
          </a:prstGeom>
          <a:solidFill xmlns:a="http://schemas.openxmlformats.org/drawingml/2006/main">
            <a:srgbClr val="EFF5F7"/>
          </a:solidFill>
          <a:ln xmlns:a="http://schemas.openxmlformats.org/drawingml/2006/main" w="14288">
            <a:solidFill>
              <a:srgbClr val="167D8D"/>
            </a:solidFill>
          </a:ln>
        </p:spPr>
      </p:sp>
      <p:sp>
        <p:nvSpPr>
          <p:cNvPr id="13" name="">
            <a:extLst xmlns:a="http://schemas.openxmlformats.org/drawingml/2006/main">
              <a:ext uri="{FF2B5EF4-FFF2-40B4-BE49-F238E27FC236}">
                <a16:creationId xmlns:a16="http://schemas.microsoft.com/office/drawing/2014/main" id="{0F367BF2-1319-4768-AFC1-B4C62EE9BABE}"/>
              </a:ext>
            </a:extLst>
          </p:cNvPr>
          <p:cNvSpPr>
            <a:spLocks xmlns:a="http://schemas.openxmlformats.org/drawingml/2006/main" noGrp="1"/>
          </p:cNvSpPr>
          <p:nvPr/>
        </p:nvSpPr>
        <p:spPr>
          <a:xfrm xmlns:a="http://schemas.openxmlformats.org/drawingml/2006/main">
            <a:off x="5191125" y="2381250"/>
            <a:ext cx="16859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D42"/>
                </a:solidFill>
                <a:latin typeface="Arial"/>
                <a:ea typeface="Arial"/>
                <a:cs typeface="Arial"/>
              </a:defRPr>
            </a:pPr>
            <a:r>
              <a:rPr sz="1800" b="1">
                <a:solidFill>
                  <a:srgbClr val="142D42"/>
                </a:solidFill>
                <a:latin typeface="Arial"/>
                <a:ea typeface="Arial"/>
                <a:cs typeface="Arial"/>
              </a:rPr>
              <a:t>AI model</a:t>
            </a:r>
          </a:p>
        </p:txBody>
      </p:sp>
      <p:sp>
        <p:nvSpPr>
          <p:cNvPr id="14" name="">
            <a:extLst xmlns:a="http://schemas.openxmlformats.org/drawingml/2006/main">
              <a:ext uri="{FF2B5EF4-FFF2-40B4-BE49-F238E27FC236}">
                <a16:creationId xmlns:a16="http://schemas.microsoft.com/office/drawing/2014/main" id="{0BDFB15F-4436-4E01-B75C-0F6164FB18E6}"/>
              </a:ext>
            </a:extLst>
          </p:cNvPr>
          <p:cNvSpPr>
            <a:spLocks xmlns:a="http://schemas.openxmlformats.org/drawingml/2006/main" noGrp="1"/>
          </p:cNvSpPr>
          <p:nvPr/>
        </p:nvSpPr>
        <p:spPr>
          <a:xfrm xmlns:a="http://schemas.openxmlformats.org/drawingml/2006/main">
            <a:off x="5191125" y="2686050"/>
            <a:ext cx="16859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RF / XGBoost</a:t>
            </a:r>
          </a:p>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predict a number</a:t>
            </a:r>
          </a:p>
        </p:txBody>
      </p:sp>
      <p:sp>
        <p:nvSpPr>
          <p:cNvPr id="15" name="">
            <a:extLst xmlns:a="http://schemas.openxmlformats.org/drawingml/2006/main">
              <a:ext uri="{FF2B5EF4-FFF2-40B4-BE49-F238E27FC236}">
                <a16:creationId xmlns:a16="http://schemas.microsoft.com/office/drawing/2014/main" id="{6A6BBC0E-258A-49C6-A0EE-8A24EA1EC93D}"/>
              </a:ext>
            </a:extLst>
          </p:cNvPr>
          <p:cNvSpPr>
            <a:spLocks xmlns:a="http://schemas.openxmlformats.org/drawingml/2006/main" noGrp="1"/>
          </p:cNvSpPr>
          <p:nvPr/>
        </p:nvSpPr>
        <p:spPr>
          <a:xfrm xmlns:a="http://schemas.openxmlformats.org/drawingml/2006/main">
            <a:off x="7334250" y="2257425"/>
            <a:ext cx="1857375" cy="1238250"/>
          </a:xfrm>
          <a:prstGeom xmlns:a="http://schemas.openxmlformats.org/drawingml/2006/main" prst="rect">
            <a:avLst/>
          </a:prstGeom>
          <a:solidFill xmlns:a="http://schemas.openxmlformats.org/drawingml/2006/main">
            <a:srgbClr val="EFF5F7"/>
          </a:solidFill>
          <a:ln xmlns:a="http://schemas.openxmlformats.org/drawingml/2006/main" w="14288">
            <a:solidFill>
              <a:srgbClr val="167D8D"/>
            </a:solidFill>
          </a:ln>
        </p:spPr>
      </p:sp>
      <p:sp>
        <p:nvSpPr>
          <p:cNvPr id="16" name="">
            <a:extLst xmlns:a="http://schemas.openxmlformats.org/drawingml/2006/main">
              <a:ext uri="{FF2B5EF4-FFF2-40B4-BE49-F238E27FC236}">
                <a16:creationId xmlns:a16="http://schemas.microsoft.com/office/drawing/2014/main" id="{434226B6-4245-41A9-84EB-7B04DF74A497}"/>
              </a:ext>
            </a:extLst>
          </p:cNvPr>
          <p:cNvSpPr>
            <a:spLocks xmlns:a="http://schemas.openxmlformats.org/drawingml/2006/main" noGrp="1"/>
          </p:cNvSpPr>
          <p:nvPr/>
        </p:nvSpPr>
        <p:spPr>
          <a:xfrm xmlns:a="http://schemas.openxmlformats.org/drawingml/2006/main">
            <a:off x="7429500" y="2381250"/>
            <a:ext cx="16859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D42"/>
                </a:solidFill>
                <a:latin typeface="Arial"/>
                <a:ea typeface="Arial"/>
                <a:cs typeface="Arial"/>
              </a:defRPr>
            </a:pPr>
            <a:r>
              <a:rPr sz="1800" b="1">
                <a:solidFill>
                  <a:srgbClr val="142D42"/>
                </a:solidFill>
                <a:latin typeface="Arial"/>
                <a:ea typeface="Arial"/>
                <a:cs typeface="Arial"/>
              </a:rPr>
              <a:t>Heat rules</a:t>
            </a:r>
          </a:p>
        </p:txBody>
      </p:sp>
      <p:sp>
        <p:nvSpPr>
          <p:cNvPr id="17" name="">
            <a:extLst xmlns:a="http://schemas.openxmlformats.org/drawingml/2006/main">
              <a:ext uri="{FF2B5EF4-FFF2-40B4-BE49-F238E27FC236}">
                <a16:creationId xmlns:a16="http://schemas.microsoft.com/office/drawing/2014/main" id="{EECD323E-B175-4B5B-9D37-5FB7C8A4B8D4}"/>
              </a:ext>
            </a:extLst>
          </p:cNvPr>
          <p:cNvSpPr>
            <a:spLocks xmlns:a="http://schemas.openxmlformats.org/drawingml/2006/main" noGrp="1"/>
          </p:cNvSpPr>
          <p:nvPr/>
        </p:nvSpPr>
        <p:spPr>
          <a:xfrm xmlns:a="http://schemas.openxmlformats.org/drawingml/2006/main">
            <a:off x="7429500" y="2686050"/>
            <a:ext cx="16859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size + weather</a:t>
            </a:r>
          </a:p>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limits + warnings</a:t>
            </a:r>
          </a:p>
        </p:txBody>
      </p:sp>
      <p:sp>
        <p:nvSpPr>
          <p:cNvPr id="18" name="">
            <a:extLst xmlns:a="http://schemas.openxmlformats.org/drawingml/2006/main">
              <a:ext uri="{FF2B5EF4-FFF2-40B4-BE49-F238E27FC236}">
                <a16:creationId xmlns:a16="http://schemas.microsoft.com/office/drawing/2014/main" id="{F1CA427A-0973-47C8-8391-11F37FEACCEC}"/>
              </a:ext>
            </a:extLst>
          </p:cNvPr>
          <p:cNvSpPr>
            <a:spLocks xmlns:a="http://schemas.openxmlformats.org/drawingml/2006/main" noGrp="1"/>
          </p:cNvSpPr>
          <p:nvPr/>
        </p:nvSpPr>
        <p:spPr>
          <a:xfrm xmlns:a="http://schemas.openxmlformats.org/drawingml/2006/main">
            <a:off x="9572625" y="2257425"/>
            <a:ext cx="1857375" cy="1238250"/>
          </a:xfrm>
          <a:prstGeom xmlns:a="http://schemas.openxmlformats.org/drawingml/2006/main" prst="rect">
            <a:avLst/>
          </a:prstGeom>
          <a:solidFill xmlns:a="http://schemas.openxmlformats.org/drawingml/2006/main">
            <a:srgbClr val="EFF5F7"/>
          </a:solidFill>
          <a:ln xmlns:a="http://schemas.openxmlformats.org/drawingml/2006/main" w="14288">
            <a:solidFill>
              <a:srgbClr val="167D8D"/>
            </a:solidFill>
          </a:ln>
        </p:spPr>
      </p:sp>
      <p:sp>
        <p:nvSpPr>
          <p:cNvPr id="19" name="">
            <a:extLst xmlns:a="http://schemas.openxmlformats.org/drawingml/2006/main">
              <a:ext uri="{FF2B5EF4-FFF2-40B4-BE49-F238E27FC236}">
                <a16:creationId xmlns:a16="http://schemas.microsoft.com/office/drawing/2014/main" id="{01407CFB-26E9-4506-B4BA-9B35E6E4A380}"/>
              </a:ext>
            </a:extLst>
          </p:cNvPr>
          <p:cNvSpPr>
            <a:spLocks xmlns:a="http://schemas.openxmlformats.org/drawingml/2006/main" noGrp="1"/>
          </p:cNvSpPr>
          <p:nvPr/>
        </p:nvSpPr>
        <p:spPr>
          <a:xfrm xmlns:a="http://schemas.openxmlformats.org/drawingml/2006/main">
            <a:off x="9667875" y="2381250"/>
            <a:ext cx="16859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D42"/>
                </a:solidFill>
                <a:latin typeface="Arial"/>
                <a:ea typeface="Arial"/>
                <a:cs typeface="Arial"/>
              </a:defRPr>
            </a:pPr>
            <a:r>
              <a:rPr sz="1800" b="1">
                <a:solidFill>
                  <a:srgbClr val="142D42"/>
                </a:solidFill>
                <a:latin typeface="Arial"/>
                <a:ea typeface="Arial"/>
                <a:cs typeface="Arial"/>
              </a:rPr>
              <a:t>Response</a:t>
            </a:r>
          </a:p>
        </p:txBody>
      </p:sp>
      <p:sp>
        <p:nvSpPr>
          <p:cNvPr id="20" name="">
            <a:extLst xmlns:a="http://schemas.openxmlformats.org/drawingml/2006/main">
              <a:ext uri="{FF2B5EF4-FFF2-40B4-BE49-F238E27FC236}">
                <a16:creationId xmlns:a16="http://schemas.microsoft.com/office/drawing/2014/main" id="{F61A1735-1A39-4F5F-9574-30561501F70B}"/>
              </a:ext>
            </a:extLst>
          </p:cNvPr>
          <p:cNvSpPr>
            <a:spLocks xmlns:a="http://schemas.openxmlformats.org/drawingml/2006/main" noGrp="1"/>
          </p:cNvSpPr>
          <p:nvPr/>
        </p:nvSpPr>
        <p:spPr>
          <a:xfrm xmlns:a="http://schemas.openxmlformats.org/drawingml/2006/main">
            <a:off x="9667875" y="2686050"/>
            <a:ext cx="16859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MGD + range</a:t>
            </a:r>
          </a:p>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limits + warnings</a:t>
            </a:r>
          </a:p>
        </p:txBody>
      </p:sp>
      <p:sp>
        <p:nvSpPr>
          <p:cNvPr id="21" name="">
            <a:extLst xmlns:a="http://schemas.openxmlformats.org/drawingml/2006/main">
              <a:ext uri="{FF2B5EF4-FFF2-40B4-BE49-F238E27FC236}">
                <a16:creationId xmlns:a16="http://schemas.microsoft.com/office/drawing/2014/main" id="{805C3F17-C517-47A4-8216-6DD8DDEF914C}"/>
              </a:ext>
            </a:extLst>
          </p:cNvPr>
          <p:cNvSpPr>
            <a:spLocks xmlns:a="http://schemas.openxmlformats.org/drawingml/2006/main" noGrp="1"/>
          </p:cNvSpPr>
          <p:nvPr/>
        </p:nvSpPr>
        <p:spPr>
          <a:xfrm xmlns:a="http://schemas.openxmlformats.org/drawingml/2006/main">
            <a:off x="619125" y="3838575"/>
            <a:ext cx="1857375" cy="1238250"/>
          </a:xfrm>
          <a:prstGeom xmlns:a="http://schemas.openxmlformats.org/drawingml/2006/main" prst="rect">
            <a:avLst/>
          </a:prstGeom>
          <a:solidFill xmlns:a="http://schemas.openxmlformats.org/drawingml/2006/main">
            <a:srgbClr val="EFF5F7"/>
          </a:solidFill>
          <a:ln xmlns:a="http://schemas.openxmlformats.org/drawingml/2006/main" w="14288">
            <a:solidFill>
              <a:srgbClr val="167D8D"/>
            </a:solidFill>
          </a:ln>
        </p:spPr>
      </p:sp>
      <p:sp>
        <p:nvSpPr>
          <p:cNvPr id="22" name="">
            <a:extLst xmlns:a="http://schemas.openxmlformats.org/drawingml/2006/main">
              <a:ext uri="{FF2B5EF4-FFF2-40B4-BE49-F238E27FC236}">
                <a16:creationId xmlns:a16="http://schemas.microsoft.com/office/drawing/2014/main" id="{37E78055-85DA-4922-9000-109915969775}"/>
              </a:ext>
            </a:extLst>
          </p:cNvPr>
          <p:cNvSpPr>
            <a:spLocks xmlns:a="http://schemas.openxmlformats.org/drawingml/2006/main" noGrp="1"/>
          </p:cNvSpPr>
          <p:nvPr/>
        </p:nvSpPr>
        <p:spPr>
          <a:xfrm xmlns:a="http://schemas.openxmlformats.org/drawingml/2006/main">
            <a:off x="714375" y="3962400"/>
            <a:ext cx="16859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D42"/>
                </a:solidFill>
                <a:latin typeface="Arial"/>
                <a:ea typeface="Arial"/>
                <a:cs typeface="Arial"/>
              </a:defRPr>
            </a:pPr>
            <a:r>
              <a:rPr sz="1800" b="1">
                <a:solidFill>
                  <a:srgbClr val="142D42"/>
                </a:solidFill>
                <a:latin typeface="Arial"/>
                <a:ea typeface="Arial"/>
                <a:cs typeface="Arial"/>
              </a:rPr>
              <a:t>Permit text</a:t>
            </a:r>
          </a:p>
        </p:txBody>
      </p:sp>
      <p:sp>
        <p:nvSpPr>
          <p:cNvPr id="23" name="">
            <a:extLst xmlns:a="http://schemas.openxmlformats.org/drawingml/2006/main">
              <a:ext uri="{FF2B5EF4-FFF2-40B4-BE49-F238E27FC236}">
                <a16:creationId xmlns:a16="http://schemas.microsoft.com/office/drawing/2014/main" id="{63D47467-401F-483E-B967-40DD38739819}"/>
              </a:ext>
            </a:extLst>
          </p:cNvPr>
          <p:cNvSpPr>
            <a:spLocks xmlns:a="http://schemas.openxmlformats.org/drawingml/2006/main" noGrp="1"/>
          </p:cNvSpPr>
          <p:nvPr/>
        </p:nvSpPr>
        <p:spPr>
          <a:xfrm xmlns:a="http://schemas.openxmlformats.org/drawingml/2006/main">
            <a:off x="714375" y="4267200"/>
            <a:ext cx="16859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source + section</a:t>
            </a:r>
          </a:p>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original words</a:t>
            </a:r>
          </a:p>
        </p:txBody>
      </p:sp>
      <p:sp>
        <p:nvSpPr>
          <p:cNvPr id="24" name="">
            <a:extLst xmlns:a="http://schemas.openxmlformats.org/drawingml/2006/main">
              <a:ext uri="{FF2B5EF4-FFF2-40B4-BE49-F238E27FC236}">
                <a16:creationId xmlns:a16="http://schemas.microsoft.com/office/drawing/2014/main" id="{1B47EC90-F76D-4301-8B34-6389BAB297EC}"/>
              </a:ext>
            </a:extLst>
          </p:cNvPr>
          <p:cNvSpPr>
            <a:spLocks xmlns:a="http://schemas.openxmlformats.org/drawingml/2006/main" noGrp="1"/>
          </p:cNvSpPr>
          <p:nvPr/>
        </p:nvSpPr>
        <p:spPr>
          <a:xfrm xmlns:a="http://schemas.openxmlformats.org/drawingml/2006/main">
            <a:off x="2857500" y="3838575"/>
            <a:ext cx="1857375" cy="1238250"/>
          </a:xfrm>
          <a:prstGeom xmlns:a="http://schemas.openxmlformats.org/drawingml/2006/main" prst="rect">
            <a:avLst/>
          </a:prstGeom>
          <a:solidFill xmlns:a="http://schemas.openxmlformats.org/drawingml/2006/main">
            <a:srgbClr val="EFF5F7"/>
          </a:solidFill>
          <a:ln xmlns:a="http://schemas.openxmlformats.org/drawingml/2006/main" w="14288">
            <a:solidFill>
              <a:srgbClr val="167D8D"/>
            </a:solidFill>
          </a:ln>
        </p:spPr>
      </p:sp>
      <p:sp>
        <p:nvSpPr>
          <p:cNvPr id="25" name="">
            <a:extLst xmlns:a="http://schemas.openxmlformats.org/drawingml/2006/main">
              <a:ext uri="{FF2B5EF4-FFF2-40B4-BE49-F238E27FC236}">
                <a16:creationId xmlns:a16="http://schemas.microsoft.com/office/drawing/2014/main" id="{E575477E-3F18-43BB-85DC-45AD3420B715}"/>
              </a:ext>
            </a:extLst>
          </p:cNvPr>
          <p:cNvSpPr>
            <a:spLocks xmlns:a="http://schemas.openxmlformats.org/drawingml/2006/main" noGrp="1"/>
          </p:cNvSpPr>
          <p:nvPr/>
        </p:nvSpPr>
        <p:spPr>
          <a:xfrm xmlns:a="http://schemas.openxmlformats.org/drawingml/2006/main">
            <a:off x="2952750" y="3962400"/>
            <a:ext cx="16859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D42"/>
                </a:solidFill>
                <a:latin typeface="Arial"/>
                <a:ea typeface="Arial"/>
                <a:cs typeface="Arial"/>
              </a:defRPr>
            </a:pPr>
            <a:r>
              <a:rPr sz="1800" b="1">
                <a:solidFill>
                  <a:srgbClr val="142D42"/>
                </a:solidFill>
                <a:latin typeface="Arial"/>
                <a:ea typeface="Arial"/>
                <a:cs typeface="Arial"/>
              </a:rPr>
              <a:t>Doc info</a:t>
            </a:r>
          </a:p>
        </p:txBody>
      </p:sp>
      <p:sp>
        <p:nvSpPr>
          <p:cNvPr id="26" name="">
            <a:extLst xmlns:a="http://schemas.openxmlformats.org/drawingml/2006/main">
              <a:ext uri="{FF2B5EF4-FFF2-40B4-BE49-F238E27FC236}">
                <a16:creationId xmlns:a16="http://schemas.microsoft.com/office/drawing/2014/main" id="{8D6630D9-3B3F-4FBF-898F-8B458579FF30}"/>
              </a:ext>
            </a:extLst>
          </p:cNvPr>
          <p:cNvSpPr>
            <a:spLocks xmlns:a="http://schemas.openxmlformats.org/drawingml/2006/main" noGrp="1"/>
          </p:cNvSpPr>
          <p:nvPr/>
        </p:nvSpPr>
        <p:spPr>
          <a:xfrm xmlns:a="http://schemas.openxmlformats.org/drawingml/2006/main">
            <a:off x="2952750" y="4267200"/>
            <a:ext cx="16859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HUC or radius</a:t>
            </a:r>
          </a:p>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section IDs</a:t>
            </a:r>
          </a:p>
        </p:txBody>
      </p:sp>
      <p:sp>
        <p:nvSpPr>
          <p:cNvPr id="27" name="">
            <a:extLst xmlns:a="http://schemas.openxmlformats.org/drawingml/2006/main">
              <a:ext uri="{FF2B5EF4-FFF2-40B4-BE49-F238E27FC236}">
                <a16:creationId xmlns:a16="http://schemas.microsoft.com/office/drawing/2014/main" id="{B87CA46E-D03F-466C-8E29-9E1702C934A3}"/>
              </a:ext>
            </a:extLst>
          </p:cNvPr>
          <p:cNvSpPr>
            <a:spLocks xmlns:a="http://schemas.openxmlformats.org/drawingml/2006/main" noGrp="1"/>
          </p:cNvSpPr>
          <p:nvPr/>
        </p:nvSpPr>
        <p:spPr>
          <a:xfrm xmlns:a="http://schemas.openxmlformats.org/drawingml/2006/main">
            <a:off x="5095875" y="3838575"/>
            <a:ext cx="1857375" cy="1238250"/>
          </a:xfrm>
          <a:prstGeom xmlns:a="http://schemas.openxmlformats.org/drawingml/2006/main" prst="rect">
            <a:avLst/>
          </a:prstGeom>
          <a:solidFill xmlns:a="http://schemas.openxmlformats.org/drawingml/2006/main">
            <a:srgbClr val="EFF5F7"/>
          </a:solidFill>
          <a:ln xmlns:a="http://schemas.openxmlformats.org/drawingml/2006/main" w="14288">
            <a:solidFill>
              <a:srgbClr val="167D8D"/>
            </a:solidFill>
          </a:ln>
        </p:spPr>
      </p:sp>
      <p:sp>
        <p:nvSpPr>
          <p:cNvPr id="28" name="">
            <a:extLst xmlns:a="http://schemas.openxmlformats.org/drawingml/2006/main">
              <a:ext uri="{FF2B5EF4-FFF2-40B4-BE49-F238E27FC236}">
                <a16:creationId xmlns:a16="http://schemas.microsoft.com/office/drawing/2014/main" id="{06BED786-B67C-48A1-BFE9-3D999587A274}"/>
              </a:ext>
            </a:extLst>
          </p:cNvPr>
          <p:cNvSpPr>
            <a:spLocks xmlns:a="http://schemas.openxmlformats.org/drawingml/2006/main" noGrp="1"/>
          </p:cNvSpPr>
          <p:nvPr/>
        </p:nvSpPr>
        <p:spPr>
          <a:xfrm xmlns:a="http://schemas.openxmlformats.org/drawingml/2006/main">
            <a:off x="5191125" y="3962400"/>
            <a:ext cx="16859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D42"/>
                </a:solidFill>
                <a:latin typeface="Arial"/>
                <a:ea typeface="Arial"/>
                <a:cs typeface="Arial"/>
              </a:defRPr>
            </a:pPr>
            <a:r>
              <a:rPr sz="1800" b="1">
                <a:solidFill>
                  <a:srgbClr val="142D42"/>
                </a:solidFill>
                <a:latin typeface="Arial"/>
                <a:ea typeface="Arial"/>
                <a:cs typeface="Arial"/>
              </a:rPr>
              <a:t>Word search</a:t>
            </a:r>
          </a:p>
        </p:txBody>
      </p:sp>
      <p:sp>
        <p:nvSpPr>
          <p:cNvPr id="29" name="">
            <a:extLst xmlns:a="http://schemas.openxmlformats.org/drawingml/2006/main">
              <a:ext uri="{FF2B5EF4-FFF2-40B4-BE49-F238E27FC236}">
                <a16:creationId xmlns:a16="http://schemas.microsoft.com/office/drawing/2014/main" id="{5F70B296-8726-479B-8567-6B51A2B108D4}"/>
              </a:ext>
            </a:extLst>
          </p:cNvPr>
          <p:cNvSpPr>
            <a:spLocks xmlns:a="http://schemas.openxmlformats.org/drawingml/2006/main" noGrp="1"/>
          </p:cNvSpPr>
          <p:nvPr/>
        </p:nvSpPr>
        <p:spPr>
          <a:xfrm xmlns:a="http://schemas.openxmlformats.org/drawingml/2006/main">
            <a:off x="5191125" y="4267200"/>
            <a:ext cx="16859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TF-IDF / FAISS</a:t>
            </a:r>
          </a:p>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rank word matches</a:t>
            </a:r>
          </a:p>
        </p:txBody>
      </p:sp>
      <p:sp>
        <p:nvSpPr>
          <p:cNvPr id="30" name="">
            <a:extLst xmlns:a="http://schemas.openxmlformats.org/drawingml/2006/main">
              <a:ext uri="{FF2B5EF4-FFF2-40B4-BE49-F238E27FC236}">
                <a16:creationId xmlns:a16="http://schemas.microsoft.com/office/drawing/2014/main" id="{A15C3691-3B17-4CE8-B095-FB9318B5ADAD}"/>
              </a:ext>
            </a:extLst>
          </p:cNvPr>
          <p:cNvSpPr>
            <a:spLocks xmlns:a="http://schemas.openxmlformats.org/drawingml/2006/main" noGrp="1"/>
          </p:cNvSpPr>
          <p:nvPr/>
        </p:nvSpPr>
        <p:spPr>
          <a:xfrm xmlns:a="http://schemas.openxmlformats.org/drawingml/2006/main">
            <a:off x="7334250" y="3838575"/>
            <a:ext cx="1857375" cy="1238250"/>
          </a:xfrm>
          <a:prstGeom xmlns:a="http://schemas.openxmlformats.org/drawingml/2006/main" prst="rect">
            <a:avLst/>
          </a:prstGeom>
          <a:solidFill xmlns:a="http://schemas.openxmlformats.org/drawingml/2006/main">
            <a:srgbClr val="EFF5F7"/>
          </a:solidFill>
          <a:ln xmlns:a="http://schemas.openxmlformats.org/drawingml/2006/main" w="14288">
            <a:solidFill>
              <a:srgbClr val="167D8D"/>
            </a:solidFill>
          </a:ln>
        </p:spPr>
      </p:sp>
      <p:sp>
        <p:nvSpPr>
          <p:cNvPr id="31" name="">
            <a:extLst xmlns:a="http://schemas.openxmlformats.org/drawingml/2006/main">
              <a:ext uri="{FF2B5EF4-FFF2-40B4-BE49-F238E27FC236}">
                <a16:creationId xmlns:a16="http://schemas.microsoft.com/office/drawing/2014/main" id="{2A514A05-5FAA-4F83-BF6C-3F8867382442}"/>
              </a:ext>
            </a:extLst>
          </p:cNvPr>
          <p:cNvSpPr>
            <a:spLocks xmlns:a="http://schemas.openxmlformats.org/drawingml/2006/main" noGrp="1"/>
          </p:cNvSpPr>
          <p:nvPr/>
        </p:nvSpPr>
        <p:spPr>
          <a:xfrm xmlns:a="http://schemas.openxmlformats.org/drawingml/2006/main">
            <a:off x="7429500" y="3962400"/>
            <a:ext cx="16859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D42"/>
                </a:solidFill>
                <a:latin typeface="Arial"/>
                <a:ea typeface="Arial"/>
                <a:cs typeface="Arial"/>
              </a:defRPr>
            </a:pPr>
            <a:r>
              <a:rPr sz="1800" b="1">
                <a:solidFill>
                  <a:srgbClr val="142D42"/>
                </a:solidFill>
                <a:latin typeface="Arial"/>
                <a:ea typeface="Arial"/>
                <a:cs typeface="Arial"/>
              </a:rPr>
              <a:t>Location</a:t>
            </a:r>
          </a:p>
        </p:txBody>
      </p:sp>
      <p:sp>
        <p:nvSpPr>
          <p:cNvPr id="32" name="">
            <a:extLst xmlns:a="http://schemas.openxmlformats.org/drawingml/2006/main">
              <a:ext uri="{FF2B5EF4-FFF2-40B4-BE49-F238E27FC236}">
                <a16:creationId xmlns:a16="http://schemas.microsoft.com/office/drawing/2014/main" id="{C422CE82-3223-4C7C-ABF8-937179ECEB1D}"/>
              </a:ext>
            </a:extLst>
          </p:cNvPr>
          <p:cNvSpPr>
            <a:spLocks xmlns:a="http://schemas.openxmlformats.org/drawingml/2006/main" noGrp="1"/>
          </p:cNvSpPr>
          <p:nvPr/>
        </p:nvSpPr>
        <p:spPr>
          <a:xfrm xmlns:a="http://schemas.openxmlformats.org/drawingml/2006/main">
            <a:off x="7429500" y="4267200"/>
            <a:ext cx="16859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HUC or radius</a:t>
            </a:r>
          </a:p>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keep eligible k</a:t>
            </a:r>
          </a:p>
        </p:txBody>
      </p:sp>
      <p:sp>
        <p:nvSpPr>
          <p:cNvPr id="33" name="">
            <a:extLst xmlns:a="http://schemas.openxmlformats.org/drawingml/2006/main">
              <a:ext uri="{FF2B5EF4-FFF2-40B4-BE49-F238E27FC236}">
                <a16:creationId xmlns:a16="http://schemas.microsoft.com/office/drawing/2014/main" id="{AAD48E17-9517-41D8-A50E-D80974CC5FE3}"/>
              </a:ext>
            </a:extLst>
          </p:cNvPr>
          <p:cNvSpPr>
            <a:spLocks xmlns:a="http://schemas.openxmlformats.org/drawingml/2006/main" noGrp="1"/>
          </p:cNvSpPr>
          <p:nvPr/>
        </p:nvSpPr>
        <p:spPr>
          <a:xfrm xmlns:a="http://schemas.openxmlformats.org/drawingml/2006/main">
            <a:off x="9572625" y="3838575"/>
            <a:ext cx="1857375" cy="1238250"/>
          </a:xfrm>
          <a:prstGeom xmlns:a="http://schemas.openxmlformats.org/drawingml/2006/main" prst="rect">
            <a:avLst/>
          </a:prstGeom>
          <a:solidFill xmlns:a="http://schemas.openxmlformats.org/drawingml/2006/main">
            <a:srgbClr val="EFF5F7"/>
          </a:solidFill>
          <a:ln xmlns:a="http://schemas.openxmlformats.org/drawingml/2006/main" w="14288">
            <a:solidFill>
              <a:srgbClr val="167D8D"/>
            </a:solidFill>
          </a:ln>
        </p:spPr>
      </p:sp>
      <p:sp>
        <p:nvSpPr>
          <p:cNvPr id="34" name="">
            <a:extLst xmlns:a="http://schemas.openxmlformats.org/drawingml/2006/main">
              <a:ext uri="{FF2B5EF4-FFF2-40B4-BE49-F238E27FC236}">
                <a16:creationId xmlns:a16="http://schemas.microsoft.com/office/drawing/2014/main" id="{B92CBC4E-C6B7-44CB-868F-2C47A2D0BA26}"/>
              </a:ext>
            </a:extLst>
          </p:cNvPr>
          <p:cNvSpPr>
            <a:spLocks xmlns:a="http://schemas.openxmlformats.org/drawingml/2006/main" noGrp="1"/>
          </p:cNvSpPr>
          <p:nvPr/>
        </p:nvSpPr>
        <p:spPr>
          <a:xfrm xmlns:a="http://schemas.openxmlformats.org/drawingml/2006/main">
            <a:off x="9667875" y="3962400"/>
            <a:ext cx="16859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42D42"/>
                </a:solidFill>
                <a:latin typeface="Arial"/>
                <a:ea typeface="Arial"/>
                <a:cs typeface="Arial"/>
              </a:defRPr>
            </a:pPr>
            <a:r>
              <a:rPr sz="1800" b="1">
                <a:solidFill>
                  <a:srgbClr val="142D42"/>
                </a:solidFill>
                <a:latin typeface="Arial"/>
                <a:ea typeface="Arial"/>
                <a:cs typeface="Arial"/>
              </a:rPr>
              <a:t>Quotes</a:t>
            </a:r>
          </a:p>
        </p:txBody>
      </p:sp>
      <p:sp>
        <p:nvSpPr>
          <p:cNvPr id="35" name="">
            <a:extLst xmlns:a="http://schemas.openxmlformats.org/drawingml/2006/main">
              <a:ext uri="{FF2B5EF4-FFF2-40B4-BE49-F238E27FC236}">
                <a16:creationId xmlns:a16="http://schemas.microsoft.com/office/drawing/2014/main" id="{226414DA-C797-448F-9D02-A27FF6974D3C}"/>
              </a:ext>
            </a:extLst>
          </p:cNvPr>
          <p:cNvSpPr>
            <a:spLocks xmlns:a="http://schemas.openxmlformats.org/drawingml/2006/main" noGrp="1"/>
          </p:cNvSpPr>
          <p:nvPr/>
        </p:nvSpPr>
        <p:spPr>
          <a:xfrm xmlns:a="http://schemas.openxmlformats.org/drawingml/2006/main">
            <a:off x="9667875" y="4267200"/>
            <a:ext cx="16859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source + section</a:t>
            </a:r>
          </a:p>
          <a:p xmlns:a="http://schemas.openxmlformats.org/drawingml/2006/main">
            <a:pPr>
              <a:defRPr sz="1575" b="0">
                <a:solidFill>
                  <a:srgbClr val="142D42"/>
                </a:solidFill>
                <a:latin typeface="Arial"/>
                <a:ea typeface="Arial"/>
                <a:cs typeface="Arial"/>
              </a:defRPr>
            </a:pPr>
            <a:r>
              <a:rPr sz="1575" b="0">
                <a:solidFill>
                  <a:srgbClr val="142D42"/>
                </a:solidFill>
                <a:latin typeface="Arial"/>
                <a:ea typeface="Arial"/>
                <a:cs typeface="Arial"/>
              </a:rPr>
              <a:t>exact quotations</a:t>
            </a:r>
          </a:p>
        </p:txBody>
      </p:sp>
      <p:cxnSp>
        <p:nvCxnSpPr>
          <p:cNvPr id="82" name=""/>
          <p:cNvCxnSpPr>
            <a:stCxn xmlns:a="http://schemas.openxmlformats.org/drawingml/2006/main" id="6" idx="3"/>
            <a:endCxn xmlns:a="http://schemas.openxmlformats.org/drawingml/2006/main" id="9" idx="1"/>
          </p:cNvCxnSpPr>
          <p:nvPr/>
        </p:nvCxnSpPr>
        <p:spPr>
          <a:xfrm xmlns:a="http://schemas.openxmlformats.org/drawingml/2006/main">
            <a:off x="2476500" y="2876550"/>
            <a:ext cx="381000" cy="0"/>
          </a:xfrm>
          <a:prstGeom xmlns:a="http://schemas.openxmlformats.org/drawingml/2006/main" prst="straightConnector1">
            <a:avLst/>
          </a:prstGeom>
          <a:ln xmlns:a="http://schemas.openxmlformats.org/drawingml/2006/main" w="19050">
            <a:solidFill>
              <a:srgbClr val="167D8D"/>
            </a:solidFill>
            <a:tailEnd type="arrow" w="med" len="med"/>
          </a:ln>
        </p:spPr>
      </p:cxnSp>
      <p:cxnSp>
        <p:nvCxnSpPr>
          <p:cNvPr id="83" name=""/>
          <p:cNvCxnSpPr>
            <a:stCxn xmlns:a="http://schemas.openxmlformats.org/drawingml/2006/main" id="9" idx="3"/>
            <a:endCxn xmlns:a="http://schemas.openxmlformats.org/drawingml/2006/main" id="12" idx="1"/>
          </p:cNvCxnSpPr>
          <p:nvPr/>
        </p:nvCxnSpPr>
        <p:spPr>
          <a:xfrm xmlns:a="http://schemas.openxmlformats.org/drawingml/2006/main">
            <a:off x="4714875" y="2876550"/>
            <a:ext cx="381000" cy="0"/>
          </a:xfrm>
          <a:prstGeom xmlns:a="http://schemas.openxmlformats.org/drawingml/2006/main" prst="straightConnector1">
            <a:avLst/>
          </a:prstGeom>
          <a:ln xmlns:a="http://schemas.openxmlformats.org/drawingml/2006/main" w="19050">
            <a:solidFill>
              <a:srgbClr val="167D8D"/>
            </a:solidFill>
            <a:tailEnd type="arrow" w="med" len="med"/>
          </a:ln>
        </p:spPr>
      </p:cxnSp>
      <p:cxnSp>
        <p:nvCxnSpPr>
          <p:cNvPr id="84" name=""/>
          <p:cNvCxnSpPr>
            <a:stCxn xmlns:a="http://schemas.openxmlformats.org/drawingml/2006/main" id="12" idx="3"/>
            <a:endCxn xmlns:a="http://schemas.openxmlformats.org/drawingml/2006/main" id="15" idx="1"/>
          </p:cNvCxnSpPr>
          <p:nvPr/>
        </p:nvCxnSpPr>
        <p:spPr>
          <a:xfrm xmlns:a="http://schemas.openxmlformats.org/drawingml/2006/main">
            <a:off x="6953250" y="2876550"/>
            <a:ext cx="381000" cy="0"/>
          </a:xfrm>
          <a:prstGeom xmlns:a="http://schemas.openxmlformats.org/drawingml/2006/main" prst="straightConnector1">
            <a:avLst/>
          </a:prstGeom>
          <a:ln xmlns:a="http://schemas.openxmlformats.org/drawingml/2006/main" w="19050">
            <a:solidFill>
              <a:srgbClr val="167D8D"/>
            </a:solidFill>
            <a:tailEnd type="arrow" w="med" len="med"/>
          </a:ln>
        </p:spPr>
      </p:cxnSp>
      <p:cxnSp>
        <p:nvCxnSpPr>
          <p:cNvPr id="85" name=""/>
          <p:cNvCxnSpPr>
            <a:stCxn xmlns:a="http://schemas.openxmlformats.org/drawingml/2006/main" id="15" idx="3"/>
            <a:endCxn xmlns:a="http://schemas.openxmlformats.org/drawingml/2006/main" id="18" idx="1"/>
          </p:cNvCxnSpPr>
          <p:nvPr/>
        </p:nvCxnSpPr>
        <p:spPr>
          <a:xfrm xmlns:a="http://schemas.openxmlformats.org/drawingml/2006/main">
            <a:off x="9191625" y="2876550"/>
            <a:ext cx="381000" cy="0"/>
          </a:xfrm>
          <a:prstGeom xmlns:a="http://schemas.openxmlformats.org/drawingml/2006/main" prst="straightConnector1">
            <a:avLst/>
          </a:prstGeom>
          <a:ln xmlns:a="http://schemas.openxmlformats.org/drawingml/2006/main" w="19050">
            <a:solidFill>
              <a:srgbClr val="167D8D"/>
            </a:solidFill>
            <a:tailEnd type="arrow" w="med" len="med"/>
          </a:ln>
        </p:spPr>
      </p:cxnSp>
      <p:cxnSp>
        <p:nvCxnSpPr>
          <p:cNvPr id="86" name=""/>
          <p:cNvCxnSpPr>
            <a:stCxn xmlns:a="http://schemas.openxmlformats.org/drawingml/2006/main" id="21" idx="3"/>
            <a:endCxn xmlns:a="http://schemas.openxmlformats.org/drawingml/2006/main" id="24" idx="1"/>
          </p:cNvCxnSpPr>
          <p:nvPr/>
        </p:nvCxnSpPr>
        <p:spPr>
          <a:xfrm xmlns:a="http://schemas.openxmlformats.org/drawingml/2006/main">
            <a:off x="2476500" y="4457700"/>
            <a:ext cx="381000" cy="0"/>
          </a:xfrm>
          <a:prstGeom xmlns:a="http://schemas.openxmlformats.org/drawingml/2006/main" prst="straightConnector1">
            <a:avLst/>
          </a:prstGeom>
          <a:ln xmlns:a="http://schemas.openxmlformats.org/drawingml/2006/main" w="19050">
            <a:solidFill>
              <a:srgbClr val="167D8D"/>
            </a:solidFill>
            <a:tailEnd type="arrow" w="med" len="med"/>
          </a:ln>
        </p:spPr>
      </p:cxnSp>
      <p:cxnSp>
        <p:nvCxnSpPr>
          <p:cNvPr id="87" name=""/>
          <p:cNvCxnSpPr>
            <a:stCxn xmlns:a="http://schemas.openxmlformats.org/drawingml/2006/main" id="24" idx="3"/>
            <a:endCxn xmlns:a="http://schemas.openxmlformats.org/drawingml/2006/main" id="27" idx="1"/>
          </p:cNvCxnSpPr>
          <p:nvPr/>
        </p:nvCxnSpPr>
        <p:spPr>
          <a:xfrm xmlns:a="http://schemas.openxmlformats.org/drawingml/2006/main">
            <a:off x="4714875" y="4457700"/>
            <a:ext cx="381000" cy="0"/>
          </a:xfrm>
          <a:prstGeom xmlns:a="http://schemas.openxmlformats.org/drawingml/2006/main" prst="straightConnector1">
            <a:avLst/>
          </a:prstGeom>
          <a:ln xmlns:a="http://schemas.openxmlformats.org/drawingml/2006/main" w="19050">
            <a:solidFill>
              <a:srgbClr val="167D8D"/>
            </a:solidFill>
            <a:tailEnd type="arrow" w="med" len="med"/>
          </a:ln>
        </p:spPr>
      </p:cxnSp>
      <p:cxnSp>
        <p:nvCxnSpPr>
          <p:cNvPr id="88" name=""/>
          <p:cNvCxnSpPr>
            <a:stCxn xmlns:a="http://schemas.openxmlformats.org/drawingml/2006/main" id="27" idx="3"/>
            <a:endCxn xmlns:a="http://schemas.openxmlformats.org/drawingml/2006/main" id="30" idx="1"/>
          </p:cNvCxnSpPr>
          <p:nvPr/>
        </p:nvCxnSpPr>
        <p:spPr>
          <a:xfrm xmlns:a="http://schemas.openxmlformats.org/drawingml/2006/main">
            <a:off x="6953250" y="4457700"/>
            <a:ext cx="381000" cy="0"/>
          </a:xfrm>
          <a:prstGeom xmlns:a="http://schemas.openxmlformats.org/drawingml/2006/main" prst="straightConnector1">
            <a:avLst/>
          </a:prstGeom>
          <a:ln xmlns:a="http://schemas.openxmlformats.org/drawingml/2006/main" w="19050">
            <a:solidFill>
              <a:srgbClr val="167D8D"/>
            </a:solidFill>
            <a:tailEnd type="arrow" w="med" len="med"/>
          </a:ln>
        </p:spPr>
      </p:cxnSp>
      <p:cxnSp>
        <p:nvCxnSpPr>
          <p:cNvPr id="89" name=""/>
          <p:cNvCxnSpPr>
            <a:stCxn xmlns:a="http://schemas.openxmlformats.org/drawingml/2006/main" id="30" idx="3"/>
            <a:endCxn xmlns:a="http://schemas.openxmlformats.org/drawingml/2006/main" id="33" idx="1"/>
          </p:cNvCxnSpPr>
          <p:nvPr/>
        </p:nvCxnSpPr>
        <p:spPr>
          <a:xfrm xmlns:a="http://schemas.openxmlformats.org/drawingml/2006/main">
            <a:off x="9191625" y="4457700"/>
            <a:ext cx="381000" cy="0"/>
          </a:xfrm>
          <a:prstGeom xmlns:a="http://schemas.openxmlformats.org/drawingml/2006/main" prst="straightConnector1">
            <a:avLst/>
          </a:prstGeom>
          <a:ln xmlns:a="http://schemas.openxmlformats.org/drawingml/2006/main" w="19050">
            <a:solidFill>
              <a:srgbClr val="167D8D"/>
            </a:solidFill>
            <a:tailEnd type="arrow" w="med" len="med"/>
          </a:ln>
        </p:spPr>
      </p:cxnSp>
      <p:cxnSp>
        <p:nvCxnSpPr>
          <p:cNvPr id="90" name=""/>
          <p:cNvCxnSpPr>
            <a:stCxn xmlns:a="http://schemas.openxmlformats.org/drawingml/2006/main" id="33" idx="0"/>
            <a:endCxn xmlns:a="http://schemas.openxmlformats.org/drawingml/2006/main" id="18" idx="2"/>
          </p:cNvCxnSpPr>
          <p:nvPr/>
        </p:nvCxnSpPr>
        <p:spPr>
          <a:xfrm xmlns:a="http://schemas.openxmlformats.org/drawingml/2006/main" flipV="1">
            <a:off x="10501313" y="3495675"/>
            <a:ext cx="0" cy="342900"/>
          </a:xfrm>
          <a:prstGeom xmlns:a="http://schemas.openxmlformats.org/drawingml/2006/main" prst="straightConnector1">
            <a:avLst/>
          </a:prstGeom>
          <a:ln xmlns:a="http://schemas.openxmlformats.org/drawingml/2006/main" w="19050">
            <a:solidFill>
              <a:srgbClr val="167D8D"/>
            </a:solidFill>
            <a:tailEnd type="arrow" w="med" len="med"/>
          </a:ln>
        </p:spPr>
      </p:cxnSp>
      <p:sp>
        <p:nvSpPr>
          <p:cNvPr id="45" name="">
            <a:extLst xmlns:a="http://schemas.openxmlformats.org/drawingml/2006/main">
              <a:ext uri="{FF2B5EF4-FFF2-40B4-BE49-F238E27FC236}">
                <a16:creationId xmlns:a16="http://schemas.microsoft.com/office/drawing/2014/main" id="{D66FA5D0-D5D2-46AD-9A43-DA2E5F0F15E4}"/>
              </a:ext>
            </a:extLst>
          </p:cNvPr>
          <p:cNvSpPr>
            <a:spLocks xmlns:a="http://schemas.openxmlformats.org/drawingml/2006/main" noGrp="1"/>
          </p:cNvSpPr>
          <p:nvPr/>
        </p:nvSpPr>
        <p:spPr>
          <a:xfrm xmlns:a="http://schemas.openxmlformats.org/drawingml/2006/main">
            <a:off x="619125" y="5210175"/>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D42"/>
                </a:solidFill>
                <a:latin typeface="Arial"/>
                <a:ea typeface="Arial"/>
                <a:cs typeface="Arial"/>
              </a:defRPr>
            </a:pPr>
            <a:r>
              <a:rPr sz="1725" b="0">
                <a:solidFill>
                  <a:srgbClr val="142D42"/>
                </a:solidFill>
                <a:latin typeface="Arial"/>
                <a:ea typeface="Arial"/>
                <a:cs typeface="Arial"/>
              </a:rPr>
              <a:t>Before use: train on made-up water use; choose, set ranges, and test by date.</a:t>
            </a:r>
          </a:p>
        </p:txBody>
      </p:sp>
      <p:sp>
        <p:nvSpPr>
          <p:cNvPr id="46" name="">
            <a:extLst xmlns:a="http://schemas.openxmlformats.org/drawingml/2006/main">
              <a:ext uri="{FF2B5EF4-FFF2-40B4-BE49-F238E27FC236}">
                <a16:creationId xmlns:a16="http://schemas.microsoft.com/office/drawing/2014/main" id="{41B5F89D-E2B9-48F4-9768-903F488E09B5}"/>
              </a:ext>
            </a:extLst>
          </p:cNvPr>
          <p:cNvSpPr>
            <a:spLocks xmlns:a="http://schemas.openxmlformats.org/drawingml/2006/main" noGrp="1"/>
          </p:cNvSpPr>
          <p:nvPr/>
        </p:nvSpPr>
        <p:spPr>
          <a:xfrm xmlns:a="http://schemas.openxmlformats.org/drawingml/2006/main">
            <a:off x="619125" y="56864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67D8D"/>
                </a:solidFill>
                <a:latin typeface="Arial"/>
                <a:ea typeface="Arial"/>
                <a:cs typeface="Arial"/>
              </a:defRPr>
            </a:pPr>
            <a:r>
              <a:rPr sz="1800" b="1">
                <a:solidFill>
                  <a:srgbClr val="167D8D"/>
                </a:solidFill>
                <a:latin typeface="Arial"/>
                <a:ea typeface="Arial"/>
                <a:cs typeface="Arial"/>
              </a:rPr>
              <a:t>Forced wrong numbers trigger warnings. Four permit-location tests pass.</a:t>
            </a:r>
          </a:p>
        </p:txBody>
      </p:sp>
    </p:spTree>
    <p:extLst>
      <p:ext uri="{BB962C8B-B14F-4D97-AF65-F5344CB8AC3E}">
        <p14:creationId xmlns:p14="http://schemas.microsoft.com/office/powerpoint/2010/main" val="64160366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A1D7C3-91EC-4126-8F00-8E9503534921}"/>
              </a:ext>
            </a:extLst>
          </p:cNvPr>
          <p:cNvSpPr>
            <a:spLocks xmlns:a="http://schemas.openxmlformats.org/drawingml/2006/main" noGrp="1"/>
          </p:cNvSpPr>
          <p:nvPr/>
        </p:nvSpPr>
        <p:spPr>
          <a:xfrm xmlns:a="http://schemas.openxmlformats.org/drawingml/2006/main">
            <a:off x="571500" y="238125"/>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167D8D"/>
                </a:solidFill>
                <a:latin typeface="Arial"/>
                <a:ea typeface="Arial"/>
                <a:cs typeface="Arial"/>
              </a:defRPr>
            </a:pPr>
            <a:r>
              <a:rPr sz="1425" b="1">
                <a:solidFill>
                  <a:srgbClr val="167D8D"/>
                </a:solidFill>
                <a:latin typeface="Arial"/>
                <a:ea typeface="Arial"/>
                <a:cs typeface="Arial"/>
              </a:rPr>
              <a:t>ECOllateral / CSCI 4150 A2</a:t>
            </a:r>
          </a:p>
        </p:txBody>
      </p:sp>
      <p:sp>
        <p:nvSpPr>
          <p:cNvPr id="2" name="">
            <a:extLst xmlns:a="http://schemas.openxmlformats.org/drawingml/2006/main">
              <a:ext uri="{FF2B5EF4-FFF2-40B4-BE49-F238E27FC236}">
                <a16:creationId xmlns:a16="http://schemas.microsoft.com/office/drawing/2014/main" id="{AD7D2D55-8FF0-4200-BED2-61CC038A4DA3}"/>
              </a:ext>
            </a:extLst>
          </p:cNvPr>
          <p:cNvSpPr>
            <a:spLocks xmlns:a="http://schemas.openxmlformats.org/drawingml/2006/main" noGrp="1"/>
          </p:cNvSpPr>
          <p:nvPr/>
        </p:nvSpPr>
        <p:spPr>
          <a:xfrm xmlns:a="http://schemas.openxmlformats.org/drawingml/2006/main">
            <a:off x="571500" y="6953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D42"/>
                </a:solidFill>
                <a:latin typeface="Arial"/>
                <a:ea typeface="Arial"/>
                <a:cs typeface="Arial"/>
              </a:defRPr>
            </a:pPr>
            <a:r>
              <a:rPr sz="3225" b="1">
                <a:solidFill>
                  <a:srgbClr val="142D42"/>
                </a:solidFill>
                <a:latin typeface="Arial"/>
                <a:ea typeface="Arial"/>
                <a:cs typeface="Arial"/>
              </a:rPr>
              <a:t>XGBoost made smaller errors on our test data</a:t>
            </a:r>
          </a:p>
        </p:txBody>
      </p:sp>
      <p:sp>
        <p:nvSpPr>
          <p:cNvPr id="3" name="">
            <a:extLst xmlns:a="http://schemas.openxmlformats.org/drawingml/2006/main">
              <a:ext uri="{FF2B5EF4-FFF2-40B4-BE49-F238E27FC236}">
                <a16:creationId xmlns:a16="http://schemas.microsoft.com/office/drawing/2014/main" id="{6D9D8A38-572B-4C84-BA7D-884CAC35179F}"/>
              </a:ext>
            </a:extLst>
          </p:cNvPr>
          <p:cNvSpPr>
            <a:spLocks xmlns:a="http://schemas.openxmlformats.org/drawingml/2006/main" noGrp="1"/>
          </p:cNvSpPr>
          <p:nvPr/>
        </p:nvSpPr>
        <p:spPr>
          <a:xfrm xmlns:a="http://schemas.openxmlformats.org/drawingml/2006/main">
            <a:off x="571500" y="624840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777"/>
                </a:solidFill>
                <a:latin typeface="Arial"/>
                <a:ea typeface="Arial"/>
                <a:cs typeface="Arial"/>
              </a:defRPr>
            </a:pPr>
            <a:r>
              <a:rPr sz="1200" b="0">
                <a:solidFill>
                  <a:srgbClr val="536777"/>
                </a:solidFill>
                <a:latin typeface="Arial"/>
                <a:ea typeface="Arial"/>
                <a:cs typeface="Arial"/>
              </a:rPr>
              <a:t>E1: regression-comparison.csv | 333 test rows per evaporative type | MGD = million US gallons/day</a:t>
            </a:r>
          </a:p>
        </p:txBody>
      </p:sp>
      <p:sp>
        <p:nvSpPr>
          <p:cNvPr id="4" name="">
            <a:extLst xmlns:a="http://schemas.openxmlformats.org/drawingml/2006/main">
              <a:ext uri="{FF2B5EF4-FFF2-40B4-BE49-F238E27FC236}">
                <a16:creationId xmlns:a16="http://schemas.microsoft.com/office/drawing/2014/main" id="{38108FA1-E13F-4967-8E29-FE0D44743EBE}"/>
              </a:ext>
            </a:extLst>
          </p:cNvPr>
          <p:cNvSpPr>
            <a:spLocks xmlns:a="http://schemas.openxmlformats.org/drawingml/2006/main" noGrp="1"/>
          </p:cNvSpPr>
          <p:nvPr/>
        </p:nvSpPr>
        <p:spPr>
          <a:xfrm xmlns:a="http://schemas.openxmlformats.org/drawingml/2006/main">
            <a:off x="11334750" y="631507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3</a:t>
            </a:r>
          </a:p>
        </p:txBody>
      </p:sp>
      <p:graphicFrame>
        <p:nvGraphicFramePr>
          <p:cNvPr id="14" name="Chart"/>
          <p:cNvGraphicFramePr/>
          <p:nvPr/>
        </p:nvGraphicFramePr>
        <p:xfrm>
          <a:off xmlns:a="http://schemas.openxmlformats.org/drawingml/2006/main" x="590550" y="1952625"/>
          <a:ext xmlns:a="http://schemas.openxmlformats.org/drawingml/2006/main" cx="7239000" cy="3143250"/>
        </p:xfrm>
        <a:graphic xmlns:a="http://schemas.openxmlformats.org/drawingml/2006/main">
          <a:graphicData uri="http://schemas.openxmlformats.org/drawingml/2006/chart">
            <c:chart xmlns:r="http://schemas.openxmlformats.org/officeDocument/2006/relationships" xmlns:c="http://schemas.openxmlformats.org/drawingml/2006/chart" r:id="Rf6d4ac31fd7d4f43"/>
          </a:graphicData>
        </a:graphic>
      </p:graphicFrame>
      <p:sp>
        <p:nvSpPr>
          <p:cNvPr id="6" name="">
            <a:extLst xmlns:a="http://schemas.openxmlformats.org/drawingml/2006/main">
              <a:ext uri="{FF2B5EF4-FFF2-40B4-BE49-F238E27FC236}">
                <a16:creationId xmlns:a16="http://schemas.microsoft.com/office/drawing/2014/main" id="{33ED56CB-DD81-47A9-8836-A654E4F03D0A}"/>
              </a:ext>
            </a:extLst>
          </p:cNvPr>
          <p:cNvSpPr>
            <a:spLocks xmlns:a="http://schemas.openxmlformats.org/drawingml/2006/main" noGrp="1"/>
          </p:cNvSpPr>
          <p:nvPr/>
        </p:nvSpPr>
        <p:spPr>
          <a:xfrm xmlns:a="http://schemas.openxmlformats.org/drawingml/2006/main">
            <a:off x="8210550" y="2105025"/>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67D8D"/>
                </a:solidFill>
                <a:latin typeface="Arial"/>
                <a:ea typeface="Arial"/>
                <a:cs typeface="Arial"/>
              </a:defRPr>
            </a:pPr>
            <a:r>
              <a:rPr sz="2400" b="1">
                <a:solidFill>
                  <a:srgbClr val="167D8D"/>
                </a:solidFill>
                <a:latin typeface="Arial"/>
                <a:ea typeface="Arial"/>
                <a:cs typeface="Arial"/>
              </a:rPr>
              <a:t>Keep XGBoost</a:t>
            </a:r>
          </a:p>
        </p:txBody>
      </p:sp>
      <p:sp>
        <p:nvSpPr>
          <p:cNvPr id="7" name="">
            <a:extLst xmlns:a="http://schemas.openxmlformats.org/drawingml/2006/main">
              <a:ext uri="{FF2B5EF4-FFF2-40B4-BE49-F238E27FC236}">
                <a16:creationId xmlns:a16="http://schemas.microsoft.com/office/drawing/2014/main" id="{26D6E0D5-64BA-409A-AB4B-B2F79C902EC6}"/>
              </a:ext>
            </a:extLst>
          </p:cNvPr>
          <p:cNvSpPr>
            <a:spLocks xmlns:a="http://schemas.openxmlformats.org/drawingml/2006/main" noGrp="1"/>
          </p:cNvSpPr>
          <p:nvPr/>
        </p:nvSpPr>
        <p:spPr>
          <a:xfrm xmlns:a="http://schemas.openxmlformats.org/drawingml/2006/main">
            <a:off x="8210550" y="2705100"/>
            <a:ext cx="321945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D42"/>
                </a:solidFill>
                <a:latin typeface="Arial"/>
                <a:ea typeface="Arial"/>
                <a:cs typeface="Arial"/>
              </a:defRPr>
            </a:pPr>
            <a:r>
              <a:rPr sz="2175" b="0">
                <a:solidFill>
                  <a:srgbClr val="142D42"/>
                </a:solidFill>
                <a:latin typeface="Arial"/>
                <a:ea typeface="Arial"/>
                <a:cs typeface="Arial"/>
              </a:rPr>
              <a:t>Choose with RMSE on</a:t>
            </a:r>
          </a:p>
          <a:p xmlns:a="http://schemas.openxmlformats.org/drawingml/2006/main">
            <a:pPr>
              <a:defRPr sz="2175" b="0">
                <a:solidFill>
                  <a:srgbClr val="142D42"/>
                </a:solidFill>
                <a:latin typeface="Arial"/>
                <a:ea typeface="Arial"/>
                <a:cs typeface="Arial"/>
              </a:defRPr>
            </a:pPr>
            <a:r>
              <a:rPr sz="2175" b="0">
                <a:solidFill>
                  <a:srgbClr val="142D42"/>
                </a:solidFill>
                <a:latin typeface="Arial"/>
                <a:ea typeface="Arial"/>
                <a:cs typeface="Arial"/>
              </a:rPr>
              <a:t>the middle date group.</a:t>
            </a:r>
          </a:p>
          <a:p xmlns:a="http://schemas.openxmlformats.org/drawingml/2006/main">
            <a:pPr>
              <a:defRPr sz="2175" b="0">
                <a:solidFill>
                  <a:srgbClr val="142D42"/>
                </a:solidFill>
                <a:latin typeface="Arial"/>
                <a:ea typeface="Arial"/>
                <a:cs typeface="Arial"/>
              </a:defRPr>
            </a:pPr>
            <a:r>
              <a:rPr sz="2175" b="0">
                <a:solidFill>
                  <a:srgbClr val="142D42"/>
                </a:solidFill>
                <a:latin typeface="Arial"/>
                <a:ea typeface="Arial"/>
                <a:cs typeface="Arial"/>
              </a:rPr>
              <a:t>Keep RF for comparison.</a:t>
            </a:r>
          </a:p>
        </p:txBody>
      </p:sp>
      <p:sp>
        <p:nvSpPr>
          <p:cNvPr id="8" name="">
            <a:extLst xmlns:a="http://schemas.openxmlformats.org/drawingml/2006/main">
              <a:ext uri="{FF2B5EF4-FFF2-40B4-BE49-F238E27FC236}">
                <a16:creationId xmlns:a16="http://schemas.microsoft.com/office/drawing/2014/main" id="{2650F514-DBDA-403C-949F-E342893F145F}"/>
              </a:ext>
            </a:extLst>
          </p:cNvPr>
          <p:cNvSpPr>
            <a:spLocks xmlns:a="http://schemas.openxmlformats.org/drawingml/2006/main" noGrp="1"/>
          </p:cNvSpPr>
          <p:nvPr/>
        </p:nvSpPr>
        <p:spPr>
          <a:xfrm xmlns:a="http://schemas.openxmlformats.org/drawingml/2006/main">
            <a:off x="8210550" y="4467225"/>
            <a:ext cx="32194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2D42"/>
                </a:solidFill>
                <a:latin typeface="Arial"/>
                <a:ea typeface="Arial"/>
                <a:cs typeface="Arial"/>
              </a:defRPr>
            </a:pPr>
            <a:r>
              <a:rPr sz="2175" b="1">
                <a:solidFill>
                  <a:srgbClr val="142D42"/>
                </a:solidFill>
                <a:latin typeface="Arial"/>
                <a:ea typeface="Arial"/>
                <a:cs typeface="Arial"/>
              </a:rPr>
              <a:t>Next: measured water</a:t>
            </a:r>
          </a:p>
          <a:p xmlns:a="http://schemas.openxmlformats.org/drawingml/2006/main">
            <a:pPr>
              <a:defRPr sz="2175" b="1">
                <a:solidFill>
                  <a:srgbClr val="142D42"/>
                </a:solidFill>
                <a:latin typeface="Arial"/>
                <a:ea typeface="Arial"/>
                <a:cs typeface="Arial"/>
              </a:defRPr>
            </a:pPr>
            <a:r>
              <a:rPr sz="2175" b="1">
                <a:solidFill>
                  <a:srgbClr val="142D42"/>
                </a:solidFill>
                <a:latin typeface="Arial"/>
                <a:ea typeface="Arial"/>
                <a:cs typeface="Arial"/>
              </a:rPr>
              <a:t>use at real facilities.</a:t>
            </a:r>
          </a:p>
        </p:txBody>
      </p:sp>
      <p:sp>
        <p:nvSpPr>
          <p:cNvPr id="9" name="">
            <a:extLst xmlns:a="http://schemas.openxmlformats.org/drawingml/2006/main">
              <a:ext uri="{FF2B5EF4-FFF2-40B4-BE49-F238E27FC236}">
                <a16:creationId xmlns:a16="http://schemas.microsoft.com/office/drawing/2014/main" id="{8AE5931F-D6B1-4BC1-859C-55918F0D517C}"/>
              </a:ext>
            </a:extLst>
          </p:cNvPr>
          <p:cNvSpPr>
            <a:spLocks xmlns:a="http://schemas.openxmlformats.org/drawingml/2006/main" noGrp="1"/>
          </p:cNvSpPr>
          <p:nvPr/>
        </p:nvSpPr>
        <p:spPr>
          <a:xfrm xmlns:a="http://schemas.openxmlformats.org/drawingml/2006/main">
            <a:off x="619125" y="551497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D42"/>
                </a:solidFill>
                <a:latin typeface="Arial"/>
                <a:ea typeface="Arial"/>
                <a:cs typeface="Arial"/>
              </a:defRPr>
            </a:pPr>
            <a:r>
              <a:rPr sz="1725" b="0">
                <a:solidFill>
                  <a:srgbClr val="142D42"/>
                </a:solidFill>
                <a:latin typeface="Arial"/>
                <a:ea typeface="Arial"/>
                <a:cs typeface="Arial"/>
              </a:rPr>
              <a:t>Dates: train 60% / choose + set ranges 20% / test 20%</a:t>
            </a:r>
          </a:p>
          <a:p xmlns:a="http://schemas.openxmlformats.org/drawingml/2006/main">
            <a:pPr>
              <a:defRPr sz="1725" b="0">
                <a:solidFill>
                  <a:srgbClr val="142D42"/>
                </a:solidFill>
                <a:latin typeface="Arial"/>
                <a:ea typeface="Arial"/>
                <a:cs typeface="Arial"/>
              </a:defRPr>
            </a:pPr>
            <a:r>
              <a:rPr sz="1725" b="0">
                <a:solidFill>
                  <a:srgbClr val="142D42"/>
                </a:solidFill>
                <a:latin typeface="Arial"/>
                <a:ea typeface="Arial"/>
                <a:cs typeface="Arial"/>
              </a:rPr>
              <a:t>Dry air cooling: zero water target; R2 is undefined.</a:t>
            </a:r>
          </a:p>
        </p:txBody>
      </p:sp>
    </p:spTree>
    <p:extLst>
      <p:ext uri="{BB962C8B-B14F-4D97-AF65-F5344CB8AC3E}">
        <p14:creationId xmlns:p14="http://schemas.microsoft.com/office/powerpoint/2010/main" val="187463938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9AA476A-73E9-4A43-89CE-D4E4FC2C462F}"/>
              </a:ext>
            </a:extLst>
          </p:cNvPr>
          <p:cNvSpPr>
            <a:spLocks xmlns:a="http://schemas.openxmlformats.org/drawingml/2006/main" noGrp="1"/>
          </p:cNvSpPr>
          <p:nvPr/>
        </p:nvSpPr>
        <p:spPr>
          <a:xfrm xmlns:a="http://schemas.openxmlformats.org/drawingml/2006/main">
            <a:off x="571500" y="238125"/>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167D8D"/>
                </a:solidFill>
                <a:latin typeface="Arial"/>
                <a:ea typeface="Arial"/>
                <a:cs typeface="Arial"/>
              </a:defRPr>
            </a:pPr>
            <a:r>
              <a:rPr sz="1425" b="1">
                <a:solidFill>
                  <a:srgbClr val="167D8D"/>
                </a:solidFill>
                <a:latin typeface="Arial"/>
                <a:ea typeface="Arial"/>
                <a:cs typeface="Arial"/>
              </a:rPr>
              <a:t>ECOllateral / CSCI 4150 A2</a:t>
            </a:r>
          </a:p>
        </p:txBody>
      </p:sp>
      <p:sp>
        <p:nvSpPr>
          <p:cNvPr id="2" name="">
            <a:extLst xmlns:a="http://schemas.openxmlformats.org/drawingml/2006/main">
              <a:ext uri="{FF2B5EF4-FFF2-40B4-BE49-F238E27FC236}">
                <a16:creationId xmlns:a16="http://schemas.microsoft.com/office/drawing/2014/main" id="{3AF596BE-AB97-4AD7-BFE2-9C7348E8C84D}"/>
              </a:ext>
            </a:extLst>
          </p:cNvPr>
          <p:cNvSpPr>
            <a:spLocks xmlns:a="http://schemas.openxmlformats.org/drawingml/2006/main" noGrp="1"/>
          </p:cNvSpPr>
          <p:nvPr/>
        </p:nvSpPr>
        <p:spPr>
          <a:xfrm xmlns:a="http://schemas.openxmlformats.org/drawingml/2006/main">
            <a:off x="571500" y="6953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D42"/>
                </a:solidFill>
                <a:latin typeface="Arial"/>
                <a:ea typeface="Arial"/>
                <a:cs typeface="Arial"/>
              </a:defRPr>
            </a:pPr>
            <a:r>
              <a:rPr sz="3225" b="1">
                <a:solidFill>
                  <a:srgbClr val="142D42"/>
                </a:solidFill>
                <a:latin typeface="Arial"/>
                <a:ea typeface="Arial"/>
                <a:cs typeface="Arial"/>
              </a:rPr>
              <a:t>Similar nearby stations made gaps easier to fill</a:t>
            </a:r>
          </a:p>
        </p:txBody>
      </p:sp>
      <p:sp>
        <p:nvSpPr>
          <p:cNvPr id="3" name="">
            <a:extLst xmlns:a="http://schemas.openxmlformats.org/drawingml/2006/main">
              <a:ext uri="{FF2B5EF4-FFF2-40B4-BE49-F238E27FC236}">
                <a16:creationId xmlns:a16="http://schemas.microsoft.com/office/drawing/2014/main" id="{11A1E130-26C8-4EBF-A13F-817AD9A82BAD}"/>
              </a:ext>
            </a:extLst>
          </p:cNvPr>
          <p:cNvSpPr>
            <a:spLocks xmlns:a="http://schemas.openxmlformats.org/drawingml/2006/main" noGrp="1"/>
          </p:cNvSpPr>
          <p:nvPr/>
        </p:nvSpPr>
        <p:spPr>
          <a:xfrm xmlns:a="http://schemas.openxmlformats.org/drawingml/2006/main">
            <a:off x="571500" y="624840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777"/>
                </a:solidFill>
                <a:latin typeface="Arial"/>
                <a:ea typeface="Arial"/>
                <a:cs typeface="Arial"/>
              </a:defRPr>
            </a:pPr>
            <a:r>
              <a:rPr sz="1200" b="0">
                <a:solidFill>
                  <a:srgbClr val="536777"/>
                </a:solidFill>
                <a:latin typeface="Arial"/>
                <a:ea typeface="Arial"/>
                <a:cs typeface="Arial"/>
              </a:rPr>
              <a:t>E2: missingness-summary.csv; biased-donor-diagnostic.csv | Main test uses trained AI and made-up river data</a:t>
            </a:r>
          </a:p>
        </p:txBody>
      </p:sp>
      <p:sp>
        <p:nvSpPr>
          <p:cNvPr id="4" name="">
            <a:extLst xmlns:a="http://schemas.openxmlformats.org/drawingml/2006/main">
              <a:ext uri="{FF2B5EF4-FFF2-40B4-BE49-F238E27FC236}">
                <a16:creationId xmlns:a16="http://schemas.microsoft.com/office/drawing/2014/main" id="{B45DC02A-A5B4-4342-B51B-E9701F1026F0}"/>
              </a:ext>
            </a:extLst>
          </p:cNvPr>
          <p:cNvSpPr>
            <a:spLocks xmlns:a="http://schemas.openxmlformats.org/drawingml/2006/main" noGrp="1"/>
          </p:cNvSpPr>
          <p:nvPr/>
        </p:nvSpPr>
        <p:spPr>
          <a:xfrm xmlns:a="http://schemas.openxmlformats.org/drawingml/2006/main">
            <a:off x="11334750" y="631507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4</a:t>
            </a:r>
          </a:p>
        </p:txBody>
      </p:sp>
      <p:graphicFrame>
        <p:nvGraphicFramePr>
          <p:cNvPr id="14" name="Chart"/>
          <p:cNvGraphicFramePr/>
          <p:nvPr/>
        </p:nvGraphicFramePr>
        <p:xfrm>
          <a:off xmlns:a="http://schemas.openxmlformats.org/drawingml/2006/main" x="590550" y="1952625"/>
          <a:ext xmlns:a="http://schemas.openxmlformats.org/drawingml/2006/main" cx="7239000" cy="3143250"/>
        </p:xfrm>
        <a:graphic xmlns:a="http://schemas.openxmlformats.org/drawingml/2006/main">
          <a:graphicData uri="http://schemas.openxmlformats.org/drawingml/2006/chart">
            <c:chart xmlns:r="http://schemas.openxmlformats.org/officeDocument/2006/relationships" xmlns:c="http://schemas.openxmlformats.org/drawingml/2006/chart" r:id="Rfd01fd8c0fa94b9b"/>
          </a:graphicData>
        </a:graphic>
      </p:graphicFrame>
      <p:sp>
        <p:nvSpPr>
          <p:cNvPr id="6" name="">
            <a:extLst xmlns:a="http://schemas.openxmlformats.org/drawingml/2006/main">
              <a:ext uri="{FF2B5EF4-FFF2-40B4-BE49-F238E27FC236}">
                <a16:creationId xmlns:a16="http://schemas.microsoft.com/office/drawing/2014/main" id="{A43CA34C-5C87-4941-A6B8-E52920478BE8}"/>
              </a:ext>
            </a:extLst>
          </p:cNvPr>
          <p:cNvSpPr>
            <a:spLocks xmlns:a="http://schemas.openxmlformats.org/drawingml/2006/main" noGrp="1"/>
          </p:cNvSpPr>
          <p:nvPr/>
        </p:nvSpPr>
        <p:spPr>
          <a:xfrm xmlns:a="http://schemas.openxmlformats.org/drawingml/2006/main">
            <a:off x="8210550" y="2076450"/>
            <a:ext cx="32861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7D8D"/>
                </a:solidFill>
                <a:latin typeface="Arial"/>
                <a:ea typeface="Arial"/>
                <a:cs typeface="Arial"/>
              </a:defRPr>
            </a:pPr>
            <a:r>
              <a:rPr sz="2325" b="1">
                <a:solidFill>
                  <a:srgbClr val="167D8D"/>
                </a:solidFill>
                <a:latin typeface="Arial"/>
                <a:ea typeface="Arial"/>
                <a:cs typeface="Arial"/>
              </a:rPr>
              <a:t>All main cases passed</a:t>
            </a:r>
          </a:p>
        </p:txBody>
      </p:sp>
      <p:sp>
        <p:nvSpPr>
          <p:cNvPr id="7" name="">
            <a:extLst xmlns:a="http://schemas.openxmlformats.org/drawingml/2006/main">
              <a:ext uri="{FF2B5EF4-FFF2-40B4-BE49-F238E27FC236}">
                <a16:creationId xmlns:a16="http://schemas.microsoft.com/office/drawing/2014/main" id="{7EE19EB8-4864-4764-9DDC-BB758A842C0A}"/>
              </a:ext>
            </a:extLst>
          </p:cNvPr>
          <p:cNvSpPr>
            <a:spLocks xmlns:a="http://schemas.openxmlformats.org/drawingml/2006/main" noGrp="1"/>
          </p:cNvSpPr>
          <p:nvPr/>
        </p:nvSpPr>
        <p:spPr>
          <a:xfrm xmlns:a="http://schemas.openxmlformats.org/drawingml/2006/main">
            <a:off x="8210550" y="3000375"/>
            <a:ext cx="32861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D42"/>
                </a:solidFill>
                <a:latin typeface="Arial"/>
                <a:ea typeface="Arial"/>
                <a:cs typeface="Arial"/>
              </a:defRPr>
            </a:pPr>
            <a:r>
              <a:rPr sz="2025" b="0">
                <a:solidFill>
                  <a:srgbClr val="142D42"/>
                </a:solidFill>
                <a:latin typeface="Arial"/>
                <a:ea typeface="Arial"/>
                <a:cs typeface="Arial"/>
              </a:rPr>
              <a:t>Change within +/-0.05 MGD</a:t>
            </a:r>
          </a:p>
          <a:p xmlns:a="http://schemas.openxmlformats.org/drawingml/2006/main">
            <a:pPr>
              <a:defRPr sz="2025" b="0">
                <a:solidFill>
                  <a:srgbClr val="142D42"/>
                </a:solidFill>
                <a:latin typeface="Arial"/>
                <a:ea typeface="Arial"/>
                <a:cs typeface="Arial"/>
              </a:defRPr>
            </a:pPr>
            <a:r>
              <a:rPr sz="2025" b="0">
                <a:solidFill>
                  <a:srgbClr val="142D42"/>
                </a:solidFill>
                <a:latin typeface="Arial"/>
                <a:ea typeface="Arial"/>
                <a:cs typeface="Arial"/>
              </a:rPr>
              <a:t>50 repeats; 121 drought dates</a:t>
            </a:r>
          </a:p>
        </p:txBody>
      </p:sp>
      <p:sp>
        <p:nvSpPr>
          <p:cNvPr id="8" name="">
            <a:extLst xmlns:a="http://schemas.openxmlformats.org/drawingml/2006/main">
              <a:ext uri="{FF2B5EF4-FFF2-40B4-BE49-F238E27FC236}">
                <a16:creationId xmlns:a16="http://schemas.microsoft.com/office/drawing/2014/main" id="{5AE7652A-6BB3-4658-BD69-0522B25C37C5}"/>
              </a:ext>
            </a:extLst>
          </p:cNvPr>
          <p:cNvSpPr>
            <a:spLocks xmlns:a="http://schemas.openxmlformats.org/drawingml/2006/main" noGrp="1"/>
          </p:cNvSpPr>
          <p:nvPr/>
        </p:nvSpPr>
        <p:spPr>
          <a:xfrm xmlns:a="http://schemas.openxmlformats.org/drawingml/2006/main">
            <a:off x="8210550" y="4410075"/>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BD622B"/>
                </a:solidFill>
                <a:latin typeface="Arial"/>
                <a:ea typeface="Arial"/>
                <a:cs typeface="Arial"/>
              </a:defRPr>
            </a:pPr>
            <a:r>
              <a:rPr sz="2175" b="1">
                <a:solidFill>
                  <a:srgbClr val="BD622B"/>
                </a:solidFill>
                <a:latin typeface="Arial"/>
                <a:ea typeface="Arial"/>
                <a:cs typeface="Arial"/>
              </a:rPr>
              <a:t>Biased-neighbor test:</a:t>
            </a:r>
          </a:p>
          <a:p xmlns:a="http://schemas.openxmlformats.org/drawingml/2006/main">
            <a:pPr>
              <a:defRPr sz="2175" b="1">
                <a:solidFill>
                  <a:srgbClr val="BD622B"/>
                </a:solidFill>
                <a:latin typeface="Arial"/>
                <a:ea typeface="Arial"/>
                <a:cs typeface="Arial"/>
              </a:defRPr>
            </a:pPr>
            <a:r>
              <a:rPr sz="2175" b="1">
                <a:solidFill>
                  <a:srgbClr val="BD622B"/>
                </a:solidFill>
                <a:latin typeface="Arial"/>
                <a:ea typeface="Arial"/>
                <a:cs typeface="Arial"/>
              </a:rPr>
              <a:t>only 60.3% within limits</a:t>
            </a:r>
          </a:p>
        </p:txBody>
      </p:sp>
      <p:sp>
        <p:nvSpPr>
          <p:cNvPr id="9" name="">
            <a:extLst xmlns:a="http://schemas.openxmlformats.org/drawingml/2006/main">
              <a:ext uri="{FF2B5EF4-FFF2-40B4-BE49-F238E27FC236}">
                <a16:creationId xmlns:a16="http://schemas.microsoft.com/office/drawing/2014/main" id="{8EEED59D-C4A9-4759-B710-BE49B60E9816}"/>
              </a:ext>
            </a:extLst>
          </p:cNvPr>
          <p:cNvSpPr>
            <a:spLocks xmlns:a="http://schemas.openxmlformats.org/drawingml/2006/main" noGrp="1"/>
          </p:cNvSpPr>
          <p:nvPr/>
        </p:nvSpPr>
        <p:spPr>
          <a:xfrm xmlns:a="http://schemas.openxmlformats.org/drawingml/2006/main">
            <a:off x="619125" y="5657850"/>
            <a:ext cx="10906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D42"/>
                </a:solidFill>
                <a:latin typeface="Arial"/>
                <a:ea typeface="Arial"/>
                <a:cs typeface="Arial"/>
              </a:defRPr>
            </a:pPr>
            <a:r>
              <a:rPr sz="1800" b="0">
                <a:solidFill>
                  <a:srgbClr val="142D42"/>
                </a:solidFill>
                <a:latin typeface="Arial"/>
                <a:ea typeface="Arial"/>
                <a:cs typeface="Arial"/>
              </a:rPr>
              <a:t>Improve: check neighbors and shared outages. The biased test uses a separate simple formula.</a:t>
            </a:r>
          </a:p>
        </p:txBody>
      </p:sp>
    </p:spTree>
    <p:extLst>
      <p:ext uri="{BB962C8B-B14F-4D97-AF65-F5344CB8AC3E}">
        <p14:creationId xmlns:p14="http://schemas.microsoft.com/office/powerpoint/2010/main" val="167210581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407A99F-D813-4EF2-B0E7-76F452FEA61A}"/>
              </a:ext>
            </a:extLst>
          </p:cNvPr>
          <p:cNvSpPr>
            <a:spLocks xmlns:a="http://schemas.openxmlformats.org/drawingml/2006/main" noGrp="1"/>
          </p:cNvSpPr>
          <p:nvPr/>
        </p:nvSpPr>
        <p:spPr>
          <a:xfrm xmlns:a="http://schemas.openxmlformats.org/drawingml/2006/main">
            <a:off x="571500" y="238125"/>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167D8D"/>
                </a:solidFill>
                <a:latin typeface="Arial"/>
                <a:ea typeface="Arial"/>
                <a:cs typeface="Arial"/>
              </a:defRPr>
            </a:pPr>
            <a:r>
              <a:rPr sz="1425" b="1">
                <a:solidFill>
                  <a:srgbClr val="167D8D"/>
                </a:solidFill>
                <a:latin typeface="Arial"/>
                <a:ea typeface="Arial"/>
                <a:cs typeface="Arial"/>
              </a:rPr>
              <a:t>ECOllateral / CSCI 4150 A2</a:t>
            </a:r>
          </a:p>
        </p:txBody>
      </p:sp>
      <p:sp>
        <p:nvSpPr>
          <p:cNvPr id="2" name="">
            <a:extLst xmlns:a="http://schemas.openxmlformats.org/drawingml/2006/main">
              <a:ext uri="{FF2B5EF4-FFF2-40B4-BE49-F238E27FC236}">
                <a16:creationId xmlns:a16="http://schemas.microsoft.com/office/drawing/2014/main" id="{3B38BC86-0809-4B20-AB2F-185E4FF6450D}"/>
              </a:ext>
            </a:extLst>
          </p:cNvPr>
          <p:cNvSpPr>
            <a:spLocks xmlns:a="http://schemas.openxmlformats.org/drawingml/2006/main" noGrp="1"/>
          </p:cNvSpPr>
          <p:nvPr/>
        </p:nvSpPr>
        <p:spPr>
          <a:xfrm xmlns:a="http://schemas.openxmlformats.org/drawingml/2006/main">
            <a:off x="571500" y="6953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D42"/>
                </a:solidFill>
                <a:latin typeface="Arial"/>
                <a:ea typeface="Arial"/>
                <a:cs typeface="Arial"/>
              </a:defRPr>
            </a:pPr>
            <a:r>
              <a:rPr sz="3225" b="1">
                <a:solidFill>
                  <a:srgbClr val="142D42"/>
                </a:solidFill>
                <a:latin typeface="Arial"/>
                <a:ea typeface="Arial"/>
                <a:cs typeface="Arial"/>
              </a:rPr>
              <a:t>The prediction ranges missed our 90% goal</a:t>
            </a:r>
          </a:p>
        </p:txBody>
      </p:sp>
      <p:sp>
        <p:nvSpPr>
          <p:cNvPr id="3" name="">
            <a:extLst xmlns:a="http://schemas.openxmlformats.org/drawingml/2006/main">
              <a:ext uri="{FF2B5EF4-FFF2-40B4-BE49-F238E27FC236}">
                <a16:creationId xmlns:a16="http://schemas.microsoft.com/office/drawing/2014/main" id="{10A46460-4E1D-42A9-A098-906E2DA790A3}"/>
              </a:ext>
            </a:extLst>
          </p:cNvPr>
          <p:cNvSpPr>
            <a:spLocks xmlns:a="http://schemas.openxmlformats.org/drawingml/2006/main" noGrp="1"/>
          </p:cNvSpPr>
          <p:nvPr/>
        </p:nvSpPr>
        <p:spPr>
          <a:xfrm xmlns:a="http://schemas.openxmlformats.org/drawingml/2006/main">
            <a:off x="571500" y="624840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777"/>
                </a:solidFill>
                <a:latin typeface="Arial"/>
                <a:ea typeface="Arial"/>
                <a:cs typeface="Arial"/>
              </a:defRPr>
            </a:pPr>
            <a:r>
              <a:rPr sz="1200" b="0">
                <a:solidFill>
                  <a:srgbClr val="536777"/>
                </a:solidFill>
                <a:latin typeface="Arial"/>
                <a:ea typeface="Arial"/>
                <a:cs typeface="Arial"/>
              </a:rPr>
              <a:t>E5: interval-coverage.csv; benchmark.json | Made-up test values; 333 per model</a:t>
            </a:r>
          </a:p>
        </p:txBody>
      </p:sp>
      <p:sp>
        <p:nvSpPr>
          <p:cNvPr id="4" name="">
            <a:extLst xmlns:a="http://schemas.openxmlformats.org/drawingml/2006/main">
              <a:ext uri="{FF2B5EF4-FFF2-40B4-BE49-F238E27FC236}">
                <a16:creationId xmlns:a16="http://schemas.microsoft.com/office/drawing/2014/main" id="{5F42C563-6870-4746-88B8-31387D59CBB7}"/>
              </a:ext>
            </a:extLst>
          </p:cNvPr>
          <p:cNvSpPr>
            <a:spLocks xmlns:a="http://schemas.openxmlformats.org/drawingml/2006/main" noGrp="1"/>
          </p:cNvSpPr>
          <p:nvPr/>
        </p:nvSpPr>
        <p:spPr>
          <a:xfrm xmlns:a="http://schemas.openxmlformats.org/drawingml/2006/main">
            <a:off x="11334750" y="631507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5</a:t>
            </a:r>
          </a:p>
        </p:txBody>
      </p:sp>
      <p:graphicFrame>
        <p:nvGraphicFramePr>
          <p:cNvPr id="14" name="Chart"/>
          <p:cNvGraphicFramePr/>
          <p:nvPr/>
        </p:nvGraphicFramePr>
        <p:xfrm>
          <a:off xmlns:a="http://schemas.openxmlformats.org/drawingml/2006/main" x="590550" y="1952625"/>
          <a:ext xmlns:a="http://schemas.openxmlformats.org/drawingml/2006/main" cx="7239000" cy="3143250"/>
        </p:xfrm>
        <a:graphic xmlns:a="http://schemas.openxmlformats.org/drawingml/2006/main">
          <a:graphicData uri="http://schemas.openxmlformats.org/drawingml/2006/chart">
            <c:chart xmlns:r="http://schemas.openxmlformats.org/officeDocument/2006/relationships" xmlns:c="http://schemas.openxmlformats.org/drawingml/2006/chart" r:id="R3f873a36d6da4540"/>
          </a:graphicData>
        </a:graphic>
      </p:graphicFrame>
      <p:sp>
        <p:nvSpPr>
          <p:cNvPr id="6" name="">
            <a:extLst xmlns:a="http://schemas.openxmlformats.org/drawingml/2006/main">
              <a:ext uri="{FF2B5EF4-FFF2-40B4-BE49-F238E27FC236}">
                <a16:creationId xmlns:a16="http://schemas.microsoft.com/office/drawing/2014/main" id="{2F927745-57BB-4DE1-B30D-FD8BE9D913A8}"/>
              </a:ext>
            </a:extLst>
          </p:cNvPr>
          <p:cNvSpPr>
            <a:spLocks xmlns:a="http://schemas.openxmlformats.org/drawingml/2006/main" noGrp="1"/>
          </p:cNvSpPr>
          <p:nvPr/>
        </p:nvSpPr>
        <p:spPr>
          <a:xfrm xmlns:a="http://schemas.openxmlformats.org/drawingml/2006/main">
            <a:off x="8210550" y="2095500"/>
            <a:ext cx="3286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BD622B"/>
                </a:solidFill>
                <a:latin typeface="Arial"/>
                <a:ea typeface="Arial"/>
                <a:cs typeface="Arial"/>
              </a:defRPr>
            </a:pPr>
            <a:r>
              <a:rPr sz="2850" b="1">
                <a:solidFill>
                  <a:srgbClr val="BD622B"/>
                </a:solidFill>
                <a:latin typeface="Arial"/>
                <a:ea typeface="Arial"/>
                <a:cs typeface="Arial"/>
              </a:rPr>
              <a:t>88.3% / 88.0%</a:t>
            </a:r>
          </a:p>
        </p:txBody>
      </p:sp>
      <p:sp>
        <p:nvSpPr>
          <p:cNvPr id="7" name="">
            <a:extLst xmlns:a="http://schemas.openxmlformats.org/drawingml/2006/main">
              <a:ext uri="{FF2B5EF4-FFF2-40B4-BE49-F238E27FC236}">
                <a16:creationId xmlns:a16="http://schemas.microsoft.com/office/drawing/2014/main" id="{0C4C826C-7138-4A3B-AC5C-72615945183F}"/>
              </a:ext>
            </a:extLst>
          </p:cNvPr>
          <p:cNvSpPr>
            <a:spLocks xmlns:a="http://schemas.openxmlformats.org/drawingml/2006/main" noGrp="1"/>
          </p:cNvSpPr>
          <p:nvPr/>
        </p:nvSpPr>
        <p:spPr>
          <a:xfrm xmlns:a="http://schemas.openxmlformats.org/drawingml/2006/main">
            <a:off x="8210550" y="2809875"/>
            <a:ext cx="328612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D42"/>
                </a:solidFill>
                <a:latin typeface="Arial"/>
                <a:ea typeface="Arial"/>
                <a:cs typeface="Arial"/>
              </a:defRPr>
            </a:pPr>
            <a:r>
              <a:rPr sz="2100" b="0">
                <a:solidFill>
                  <a:srgbClr val="142D42"/>
                </a:solidFill>
                <a:latin typeface="Arial"/>
                <a:ea typeface="Arial"/>
                <a:cs typeface="Arial"/>
              </a:rPr>
              <a:t>Tower R2 = 0.998</a:t>
            </a:r>
          </a:p>
          <a:p xmlns:a="http://schemas.openxmlformats.org/drawingml/2006/main">
            <a:pPr>
              <a:defRPr sz="2100" b="0">
                <a:solidFill>
                  <a:srgbClr val="142D42"/>
                </a:solidFill>
                <a:latin typeface="Arial"/>
                <a:ea typeface="Arial"/>
                <a:cs typeface="Arial"/>
              </a:defRPr>
            </a:pPr>
            <a:r>
              <a:rPr sz="2100" b="0">
                <a:solidFill>
                  <a:srgbClr val="142D42"/>
                </a:solidFill>
                <a:latin typeface="Arial"/>
                <a:ea typeface="Arial"/>
                <a:cs typeface="Arial"/>
              </a:rPr>
              <a:t>Good fit does not prove</a:t>
            </a:r>
          </a:p>
          <a:p xmlns:a="http://schemas.openxmlformats.org/drawingml/2006/main">
            <a:pPr>
              <a:defRPr sz="2100" b="0">
                <a:solidFill>
                  <a:srgbClr val="142D42"/>
                </a:solidFill>
                <a:latin typeface="Arial"/>
                <a:ea typeface="Arial"/>
                <a:cs typeface="Arial"/>
              </a:defRPr>
            </a:pPr>
            <a:r>
              <a:rPr sz="2100" b="0">
                <a:solidFill>
                  <a:srgbClr val="142D42"/>
                </a:solidFill>
                <a:latin typeface="Arial"/>
                <a:ea typeface="Arial"/>
                <a:cs typeface="Arial"/>
              </a:rPr>
              <a:t>the range is reliable.</a:t>
            </a:r>
          </a:p>
        </p:txBody>
      </p:sp>
      <p:sp>
        <p:nvSpPr>
          <p:cNvPr id="8" name="">
            <a:extLst xmlns:a="http://schemas.openxmlformats.org/drawingml/2006/main">
              <a:ext uri="{FF2B5EF4-FFF2-40B4-BE49-F238E27FC236}">
                <a16:creationId xmlns:a16="http://schemas.microsoft.com/office/drawing/2014/main" id="{87A195A5-724B-43DE-AE2C-09B24417571B}"/>
              </a:ext>
            </a:extLst>
          </p:cNvPr>
          <p:cNvSpPr>
            <a:spLocks xmlns:a="http://schemas.openxmlformats.org/drawingml/2006/main" noGrp="1"/>
          </p:cNvSpPr>
          <p:nvPr/>
        </p:nvSpPr>
        <p:spPr>
          <a:xfrm xmlns:a="http://schemas.openxmlformats.org/drawingml/2006/main">
            <a:off x="8210550" y="4429125"/>
            <a:ext cx="32861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2D42"/>
                </a:solidFill>
                <a:latin typeface="Arial"/>
                <a:ea typeface="Arial"/>
                <a:cs typeface="Arial"/>
              </a:defRPr>
            </a:pPr>
            <a:r>
              <a:rPr sz="2100" b="1">
                <a:solidFill>
                  <a:srgbClr val="142D42"/>
                </a:solidFill>
                <a:latin typeface="Arial"/>
                <a:ea typeface="Arial"/>
                <a:cs typeface="Arial"/>
              </a:rPr>
              <a:t>Improve: use separate</a:t>
            </a:r>
          </a:p>
          <a:p xmlns:a="http://schemas.openxmlformats.org/drawingml/2006/main">
            <a:pPr>
              <a:defRPr sz="2100" b="1">
                <a:solidFill>
                  <a:srgbClr val="142D42"/>
                </a:solidFill>
                <a:latin typeface="Arial"/>
                <a:ea typeface="Arial"/>
                <a:cs typeface="Arial"/>
              </a:defRPr>
            </a:pPr>
            <a:r>
              <a:rPr sz="2100" b="1">
                <a:solidFill>
                  <a:srgbClr val="142D42"/>
                </a:solidFill>
                <a:latin typeface="Arial"/>
                <a:ea typeface="Arial"/>
                <a:cs typeface="Arial"/>
              </a:rPr>
              <a:t>data to choose models</a:t>
            </a:r>
          </a:p>
          <a:p xmlns:a="http://schemas.openxmlformats.org/drawingml/2006/main">
            <a:pPr>
              <a:defRPr sz="2100" b="1">
                <a:solidFill>
                  <a:srgbClr val="142D42"/>
                </a:solidFill>
                <a:latin typeface="Arial"/>
                <a:ea typeface="Arial"/>
                <a:cs typeface="Arial"/>
              </a:defRPr>
            </a:pPr>
            <a:r>
              <a:rPr sz="2100" b="1">
                <a:solidFill>
                  <a:srgbClr val="142D42"/>
                </a:solidFill>
                <a:latin typeface="Arial"/>
                <a:ea typeface="Arial"/>
                <a:cs typeface="Arial"/>
              </a:rPr>
              <a:t>and set ranges.</a:t>
            </a:r>
          </a:p>
        </p:txBody>
      </p:sp>
      <p:sp>
        <p:nvSpPr>
          <p:cNvPr id="9" name="">
            <a:extLst xmlns:a="http://schemas.openxmlformats.org/drawingml/2006/main">
              <a:ext uri="{FF2B5EF4-FFF2-40B4-BE49-F238E27FC236}">
                <a16:creationId xmlns:a16="http://schemas.microsoft.com/office/drawing/2014/main" id="{7F1FD246-E230-44F9-8103-DC76EF15F2AE}"/>
              </a:ext>
            </a:extLst>
          </p:cNvPr>
          <p:cNvSpPr>
            <a:spLocks xmlns:a="http://schemas.openxmlformats.org/drawingml/2006/main" noGrp="1"/>
          </p:cNvSpPr>
          <p:nvPr/>
        </p:nvSpPr>
        <p:spPr>
          <a:xfrm xmlns:a="http://schemas.openxmlformats.org/drawingml/2006/main">
            <a:off x="619125" y="5657850"/>
            <a:ext cx="10906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D42"/>
                </a:solidFill>
                <a:latin typeface="Arial"/>
                <a:ea typeface="Arial"/>
                <a:cs typeface="Arial"/>
              </a:defRPr>
            </a:pPr>
            <a:r>
              <a:rPr sz="1800" b="0">
                <a:solidFill>
                  <a:srgbClr val="142D42"/>
                </a:solidFill>
                <a:latin typeface="Arial"/>
                <a:ea typeface="Arial"/>
                <a:cs typeface="Arial"/>
              </a:rPr>
              <a:t>Limited samples; no statistical significance test or independently verified coverage guarantee.</a:t>
            </a:r>
          </a:p>
        </p:txBody>
      </p:sp>
    </p:spTree>
    <p:extLst>
      <p:ext uri="{BB962C8B-B14F-4D97-AF65-F5344CB8AC3E}">
        <p14:creationId xmlns:p14="http://schemas.microsoft.com/office/powerpoint/2010/main" val="19685498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DBF0B23-8AD4-4013-8675-ECD8209525F8}"/>
              </a:ext>
            </a:extLst>
          </p:cNvPr>
          <p:cNvSpPr>
            <a:spLocks xmlns:a="http://schemas.openxmlformats.org/drawingml/2006/main" noGrp="1"/>
          </p:cNvSpPr>
          <p:nvPr/>
        </p:nvSpPr>
        <p:spPr>
          <a:xfrm xmlns:a="http://schemas.openxmlformats.org/drawingml/2006/main">
            <a:off x="571500" y="238125"/>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167D8D"/>
                </a:solidFill>
                <a:latin typeface="Arial"/>
                <a:ea typeface="Arial"/>
                <a:cs typeface="Arial"/>
              </a:defRPr>
            </a:pPr>
            <a:r>
              <a:rPr sz="1425" b="1">
                <a:solidFill>
                  <a:srgbClr val="167D8D"/>
                </a:solidFill>
                <a:latin typeface="Arial"/>
                <a:ea typeface="Arial"/>
                <a:cs typeface="Arial"/>
              </a:rPr>
              <a:t>ECOllateral / CSCI 4150 A2</a:t>
            </a:r>
          </a:p>
        </p:txBody>
      </p:sp>
      <p:sp>
        <p:nvSpPr>
          <p:cNvPr id="2" name="">
            <a:extLst xmlns:a="http://schemas.openxmlformats.org/drawingml/2006/main">
              <a:ext uri="{FF2B5EF4-FFF2-40B4-BE49-F238E27FC236}">
                <a16:creationId xmlns:a16="http://schemas.microsoft.com/office/drawing/2014/main" id="{01300D50-8FEA-46CA-AF08-35D4EC53F826}"/>
              </a:ext>
            </a:extLst>
          </p:cNvPr>
          <p:cNvSpPr>
            <a:spLocks xmlns:a="http://schemas.openxmlformats.org/drawingml/2006/main" noGrp="1"/>
          </p:cNvSpPr>
          <p:nvPr/>
        </p:nvSpPr>
        <p:spPr>
          <a:xfrm xmlns:a="http://schemas.openxmlformats.org/drawingml/2006/main">
            <a:off x="571500" y="6953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142D42"/>
                </a:solidFill>
                <a:latin typeface="Arial"/>
                <a:ea typeface="Arial"/>
                <a:cs typeface="Arial"/>
              </a:defRPr>
            </a:pPr>
            <a:r>
              <a:rPr sz="3225" b="1">
                <a:solidFill>
                  <a:srgbClr val="142D42"/>
                </a:solidFill>
                <a:latin typeface="Arial"/>
                <a:ea typeface="Arial"/>
                <a:cs typeface="Arial"/>
              </a:rPr>
              <a:t>Next: test real water use at a new facility</a:t>
            </a:r>
          </a:p>
        </p:txBody>
      </p:sp>
      <p:sp>
        <p:nvSpPr>
          <p:cNvPr id="3" name="">
            <a:extLst xmlns:a="http://schemas.openxmlformats.org/drawingml/2006/main">
              <a:ext uri="{FF2B5EF4-FFF2-40B4-BE49-F238E27FC236}">
                <a16:creationId xmlns:a16="http://schemas.microsoft.com/office/drawing/2014/main" id="{8DFF8C25-F7B8-432D-AED5-5E522E73CB11}"/>
              </a:ext>
            </a:extLst>
          </p:cNvPr>
          <p:cNvSpPr>
            <a:spLocks xmlns:a="http://schemas.openxmlformats.org/drawingml/2006/main" noGrp="1"/>
          </p:cNvSpPr>
          <p:nvPr/>
        </p:nvSpPr>
        <p:spPr>
          <a:xfrm xmlns:a="http://schemas.openxmlformats.org/drawingml/2006/main">
            <a:off x="571500" y="624840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777"/>
                </a:solidFill>
                <a:latin typeface="Arial"/>
                <a:ea typeface="Arial"/>
                <a:cs typeface="Arial"/>
              </a:defRPr>
            </a:pPr>
            <a:r>
              <a:rPr sz="1200" b="0">
                <a:solidFill>
                  <a:srgbClr val="536777"/>
                </a:solidFill>
                <a:latin typeface="Arial"/>
                <a:ea typeface="Arial"/>
                <a:cs typeface="Arial"/>
              </a:rPr>
              <a:t>Decisions: E1-E5 | Proposed responsibilities: Shaun / Troy / Scott | Presentation day pending</a:t>
            </a:r>
          </a:p>
        </p:txBody>
      </p:sp>
      <p:sp>
        <p:nvSpPr>
          <p:cNvPr id="4" name="">
            <a:extLst xmlns:a="http://schemas.openxmlformats.org/drawingml/2006/main">
              <a:ext uri="{FF2B5EF4-FFF2-40B4-BE49-F238E27FC236}">
                <a16:creationId xmlns:a16="http://schemas.microsoft.com/office/drawing/2014/main" id="{2FDB3030-406E-4A21-827B-E6082333FFCA}"/>
              </a:ext>
            </a:extLst>
          </p:cNvPr>
          <p:cNvSpPr>
            <a:spLocks xmlns:a="http://schemas.openxmlformats.org/drawingml/2006/main" noGrp="1"/>
          </p:cNvSpPr>
          <p:nvPr/>
        </p:nvSpPr>
        <p:spPr>
          <a:xfrm xmlns:a="http://schemas.openxmlformats.org/drawingml/2006/main">
            <a:off x="11334750" y="6315075"/>
            <a:ext cx="333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BB94E6C4-4265-4428-85D3-BC789ADD2B3F}"/>
              </a:ext>
            </a:extLst>
          </p:cNvPr>
          <p:cNvSpPr>
            <a:spLocks xmlns:a="http://schemas.openxmlformats.org/drawingml/2006/main" noGrp="1"/>
          </p:cNvSpPr>
          <p:nvPr/>
        </p:nvSpPr>
        <p:spPr>
          <a:xfrm xmlns:a="http://schemas.openxmlformats.org/drawingml/2006/main">
            <a:off x="619125" y="1809750"/>
            <a:ext cx="2000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67D8D"/>
                </a:solidFill>
                <a:latin typeface="Arial"/>
                <a:ea typeface="Arial"/>
                <a:cs typeface="Arial"/>
              </a:defRPr>
            </a:pPr>
            <a:r>
              <a:rPr sz="2175" b="1">
                <a:solidFill>
                  <a:srgbClr val="167D8D"/>
                </a:solidFill>
                <a:latin typeface="Arial"/>
                <a:ea typeface="Arial"/>
                <a:cs typeface="Arial"/>
              </a:rPr>
              <a:t>Keep (Adopt)</a:t>
            </a:r>
          </a:p>
        </p:txBody>
      </p:sp>
      <p:sp>
        <p:nvSpPr>
          <p:cNvPr id="6" name="">
            <a:extLst xmlns:a="http://schemas.openxmlformats.org/drawingml/2006/main">
              <a:ext uri="{FF2B5EF4-FFF2-40B4-BE49-F238E27FC236}">
                <a16:creationId xmlns:a16="http://schemas.microsoft.com/office/drawing/2014/main" id="{27DDDE7E-4B7C-4DDC-A7CE-36CB379BDF2F}"/>
              </a:ext>
            </a:extLst>
          </p:cNvPr>
          <p:cNvSpPr>
            <a:spLocks xmlns:a="http://schemas.openxmlformats.org/drawingml/2006/main" noGrp="1"/>
          </p:cNvSpPr>
          <p:nvPr/>
        </p:nvSpPr>
        <p:spPr>
          <a:xfrm xmlns:a="http://schemas.openxmlformats.org/drawingml/2006/main">
            <a:off x="2714625" y="1809750"/>
            <a:ext cx="8572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D42"/>
                </a:solidFill>
                <a:latin typeface="Arial"/>
                <a:ea typeface="Arial"/>
                <a:cs typeface="Arial"/>
              </a:defRPr>
            </a:pPr>
            <a:r>
              <a:rPr sz="2175" b="0">
                <a:solidFill>
                  <a:srgbClr val="142D42"/>
                </a:solidFill>
                <a:latin typeface="Arial"/>
                <a:ea typeface="Arial"/>
                <a:cs typeface="Arial"/>
              </a:rPr>
              <a:t>Tree models, physical limits, permit-location checks</a:t>
            </a:r>
          </a:p>
        </p:txBody>
      </p:sp>
      <p:sp>
        <p:nvSpPr>
          <p:cNvPr id="7" name="">
            <a:extLst xmlns:a="http://schemas.openxmlformats.org/drawingml/2006/main">
              <a:ext uri="{FF2B5EF4-FFF2-40B4-BE49-F238E27FC236}">
                <a16:creationId xmlns:a16="http://schemas.microsoft.com/office/drawing/2014/main" id="{E4FF9178-FC1F-4811-A05F-E7B3F0D521EF}"/>
              </a:ext>
            </a:extLst>
          </p:cNvPr>
          <p:cNvSpPr>
            <a:spLocks xmlns:a="http://schemas.openxmlformats.org/drawingml/2006/main" noGrp="1"/>
          </p:cNvSpPr>
          <p:nvPr/>
        </p:nvSpPr>
        <p:spPr>
          <a:xfrm xmlns:a="http://schemas.openxmlformats.org/drawingml/2006/main">
            <a:off x="619125" y="2695575"/>
            <a:ext cx="2000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BD622B"/>
                </a:solidFill>
                <a:latin typeface="Arial"/>
                <a:ea typeface="Arial"/>
                <a:cs typeface="Arial"/>
              </a:defRPr>
            </a:pPr>
            <a:r>
              <a:rPr sz="1950" b="1">
                <a:solidFill>
                  <a:srgbClr val="BD622B"/>
                </a:solidFill>
                <a:latin typeface="Arial"/>
                <a:ea typeface="Arial"/>
                <a:cs typeface="Arial"/>
              </a:rPr>
              <a:t>Improve (Modify)</a:t>
            </a:r>
          </a:p>
        </p:txBody>
      </p:sp>
      <p:sp>
        <p:nvSpPr>
          <p:cNvPr id="8" name="">
            <a:extLst xmlns:a="http://schemas.openxmlformats.org/drawingml/2006/main">
              <a:ext uri="{FF2B5EF4-FFF2-40B4-BE49-F238E27FC236}">
                <a16:creationId xmlns:a16="http://schemas.microsoft.com/office/drawing/2014/main" id="{7D0609C6-E461-49E3-A43F-27D7100E8E5D}"/>
              </a:ext>
            </a:extLst>
          </p:cNvPr>
          <p:cNvSpPr>
            <a:spLocks xmlns:a="http://schemas.openxmlformats.org/drawingml/2006/main" noGrp="1"/>
          </p:cNvSpPr>
          <p:nvPr/>
        </p:nvSpPr>
        <p:spPr>
          <a:xfrm xmlns:a="http://schemas.openxmlformats.org/drawingml/2006/main">
            <a:off x="2714625" y="2695575"/>
            <a:ext cx="8572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D42"/>
                </a:solidFill>
                <a:latin typeface="Arial"/>
                <a:ea typeface="Arial"/>
                <a:cs typeface="Arial"/>
              </a:defRPr>
            </a:pPr>
            <a:r>
              <a:rPr sz="2175" b="0">
                <a:solidFill>
                  <a:srgbClr val="142D42"/>
                </a:solidFill>
                <a:latin typeface="Arial"/>
                <a:ea typeface="Arial"/>
                <a:cs typeface="Arial"/>
              </a:rPr>
              <a:t>Check neighbors, shared outages, and prediction ranges</a:t>
            </a:r>
          </a:p>
        </p:txBody>
      </p:sp>
      <p:sp>
        <p:nvSpPr>
          <p:cNvPr id="9" name="">
            <a:extLst xmlns:a="http://schemas.openxmlformats.org/drawingml/2006/main">
              <a:ext uri="{FF2B5EF4-FFF2-40B4-BE49-F238E27FC236}">
                <a16:creationId xmlns:a16="http://schemas.microsoft.com/office/drawing/2014/main" id="{87545420-0C29-4B4B-AEA5-40BC00799078}"/>
              </a:ext>
            </a:extLst>
          </p:cNvPr>
          <p:cNvSpPr>
            <a:spLocks xmlns:a="http://schemas.openxmlformats.org/drawingml/2006/main" noGrp="1"/>
          </p:cNvSpPr>
          <p:nvPr/>
        </p:nvSpPr>
        <p:spPr>
          <a:xfrm xmlns:a="http://schemas.openxmlformats.org/drawingml/2006/main">
            <a:off x="619125" y="3581400"/>
            <a:ext cx="2047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42D42"/>
                </a:solidFill>
                <a:latin typeface="Arial"/>
                <a:ea typeface="Arial"/>
                <a:cs typeface="Arial"/>
              </a:defRPr>
            </a:pPr>
            <a:r>
              <a:rPr sz="2175" b="1">
                <a:solidFill>
                  <a:srgbClr val="142D42"/>
                </a:solidFill>
                <a:latin typeface="Arial"/>
                <a:ea typeface="Arial"/>
                <a:cs typeface="Arial"/>
              </a:rPr>
              <a:t>Reject / Defer</a:t>
            </a:r>
          </a:p>
        </p:txBody>
      </p:sp>
      <p:sp>
        <p:nvSpPr>
          <p:cNvPr id="10" name="">
            <a:extLst xmlns:a="http://schemas.openxmlformats.org/drawingml/2006/main">
              <a:ext uri="{FF2B5EF4-FFF2-40B4-BE49-F238E27FC236}">
                <a16:creationId xmlns:a16="http://schemas.microsoft.com/office/drawing/2014/main" id="{71B13DC1-8330-4D08-BFD8-5DE1C9A45329}"/>
              </a:ext>
            </a:extLst>
          </p:cNvPr>
          <p:cNvSpPr>
            <a:spLocks xmlns:a="http://schemas.openxmlformats.org/drawingml/2006/main" noGrp="1"/>
          </p:cNvSpPr>
          <p:nvPr/>
        </p:nvSpPr>
        <p:spPr>
          <a:xfrm xmlns:a="http://schemas.openxmlformats.org/drawingml/2006/main">
            <a:off x="2714625" y="3581400"/>
            <a:ext cx="857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D42"/>
                </a:solidFill>
                <a:latin typeface="Arial"/>
                <a:ea typeface="Arial"/>
                <a:cs typeface="Arial"/>
              </a:defRPr>
            </a:pPr>
            <a:r>
              <a:rPr sz="2175" b="0">
                <a:solidFill>
                  <a:srgbClr val="142D42"/>
                </a:solidFill>
                <a:latin typeface="Arial"/>
                <a:ea typeface="Arial"/>
                <a:cs typeface="Arial"/>
              </a:rPr>
              <a:t>R2 is not confidence; wait on neural and generative LLM models</a:t>
            </a:r>
          </a:p>
        </p:txBody>
      </p:sp>
      <p:sp>
        <p:nvSpPr>
          <p:cNvPr id="11" name="">
            <a:extLst xmlns:a="http://schemas.openxmlformats.org/drawingml/2006/main">
              <a:ext uri="{FF2B5EF4-FFF2-40B4-BE49-F238E27FC236}">
                <a16:creationId xmlns:a16="http://schemas.microsoft.com/office/drawing/2014/main" id="{933ABCF6-FA24-4DEE-8D32-9B49CB91828C}"/>
              </a:ext>
            </a:extLst>
          </p:cNvPr>
          <p:cNvSpPr>
            <a:spLocks xmlns:a="http://schemas.openxmlformats.org/drawingml/2006/main" noGrp="1"/>
          </p:cNvSpPr>
          <p:nvPr/>
        </p:nvSpPr>
        <p:spPr>
          <a:xfrm xmlns:a="http://schemas.openxmlformats.org/drawingml/2006/main">
            <a:off x="619125" y="4562475"/>
            <a:ext cx="1085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42D42"/>
                </a:solidFill>
                <a:latin typeface="Arial"/>
                <a:ea typeface="Arial"/>
                <a:cs typeface="Arial"/>
              </a:defRPr>
            </a:pPr>
            <a:r>
              <a:rPr sz="2550" b="1">
                <a:solidFill>
                  <a:srgbClr val="142D42"/>
                </a:solidFill>
                <a:latin typeface="Arial"/>
                <a:ea typeface="Arial"/>
                <a:cs typeface="Arial"/>
              </a:rPr>
              <a:t>Will it work during drought at an unseen facility, with reliable prediction ranges?</a:t>
            </a:r>
          </a:p>
        </p:txBody>
      </p:sp>
      <p:sp>
        <p:nvSpPr>
          <p:cNvPr id="12" name="">
            <a:extLst xmlns:a="http://schemas.openxmlformats.org/drawingml/2006/main">
              <a:ext uri="{FF2B5EF4-FFF2-40B4-BE49-F238E27FC236}">
                <a16:creationId xmlns:a16="http://schemas.microsoft.com/office/drawing/2014/main" id="{93E00068-4CFF-4C5D-AB56-D61D1602645F}"/>
              </a:ext>
            </a:extLst>
          </p:cNvPr>
          <p:cNvSpPr>
            <a:spLocks xmlns:a="http://schemas.openxmlformats.org/drawingml/2006/main" noGrp="1"/>
          </p:cNvSpPr>
          <p:nvPr/>
        </p:nvSpPr>
        <p:spPr>
          <a:xfrm xmlns:a="http://schemas.openxmlformats.org/drawingml/2006/main">
            <a:off x="619125" y="5553075"/>
            <a:ext cx="109061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42D42"/>
                </a:solidFill>
                <a:latin typeface="Arial"/>
                <a:ea typeface="Arial"/>
                <a:cs typeface="Arial"/>
              </a:defRPr>
            </a:pPr>
            <a:r>
              <a:rPr sz="1800" b="0">
                <a:solidFill>
                  <a:srgbClr val="142D42"/>
                </a:solidFill>
                <a:latin typeface="Arial"/>
                <a:ea typeface="Arial"/>
                <a:cs typeface="Arial"/>
              </a:rPr>
              <a:t>Shaun: code + ranges    Troy: data + drought    Scott: permits + evidence</a:t>
            </a:r>
          </a:p>
        </p:txBody>
      </p:sp>
    </p:spTree>
    <p:extLst>
      <p:ext uri="{BB962C8B-B14F-4D97-AF65-F5344CB8AC3E}">
        <p14:creationId xmlns:p14="http://schemas.microsoft.com/office/powerpoint/2010/main" val="10721019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2026-10-08T04:09:01.2700000Z</dcterms:created>
  <dcterms:modified xsi:type="dcterms:W3CDTF">2026-10-08T04:09:01.2700000Z</dcterms:modified>
</coreProperties>
</file>