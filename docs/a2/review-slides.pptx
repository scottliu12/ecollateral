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2.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3.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56495c166444cab" /><Relationship Type="http://schemas.openxmlformats.org/officeDocument/2006/relationships/extended-properties" Target="/docProps/app.xml" Id="Ra8d45942abad4f05" /><Relationship Type="http://schemas.openxmlformats.org/officeDocument/2006/relationships/officeDocument" Target="/ppt/presentation.xml" Id="R92fe57360e9742ef" /></Relationships>
</file>

<file path=ppt/presentation.xml><?xml version="1.0" encoding="utf-8"?>
<p:presentation xmlns:p="http://schemas.openxmlformats.org/presentationml/2006/main">
  <p:sldMasterIdLst>
    <p:sldMasterId xmlns:r="http://schemas.openxmlformats.org/officeDocument/2006/relationships" id="2147483648" r:id="R1eea82e0c9b14d34"/>
  </p:sldMasterIdLst>
  <p:notesMasterIdLst>
    <p:notesMasterId xmlns:r="http://schemas.openxmlformats.org/officeDocument/2006/relationships" r:id="Ra009e59096034d49"/>
  </p:notesMasterIdLst>
  <p:sldIdLst>
    <p:sldId xmlns:r="http://schemas.openxmlformats.org/officeDocument/2006/relationships" id="256" r:id="Rfef2bec8220c4f71"/>
    <p:sldId xmlns:r="http://schemas.openxmlformats.org/officeDocument/2006/relationships" id="257" r:id="R8ad2ae6874014b8a"/>
    <p:sldId xmlns:r="http://schemas.openxmlformats.org/officeDocument/2006/relationships" id="258" r:id="R868746eb9e0e4ba6"/>
    <p:sldId xmlns:r="http://schemas.openxmlformats.org/officeDocument/2006/relationships" id="259" r:id="Ra21edb021a6c4874"/>
    <p:sldId xmlns:r="http://schemas.openxmlformats.org/officeDocument/2006/relationships" id="260" r:id="R977fd5df35d94217"/>
    <p:sldId xmlns:r="http://schemas.openxmlformats.org/officeDocument/2006/relationships" id="261" r:id="Ra80df5e16208451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9e7375619704e24" /><Relationship Type="http://schemas.openxmlformats.org/officeDocument/2006/relationships/slideMaster" Target="/ppt/slideMasters/slideMaster1.xml" Id="R1eea82e0c9b14d34" /><Relationship Type="http://schemas.openxmlformats.org/officeDocument/2006/relationships/notesMaster" Target="/ppt/notesMasters/notesMaster1.xml" Id="Ra009e59096034d49" /><Relationship Type="http://schemas.openxmlformats.org/officeDocument/2006/relationships/presProps" Target="/ppt/presProps.xml" Id="Rcd0fb5cc450e438c" /><Relationship Type="http://schemas.openxmlformats.org/officeDocument/2006/relationships/tableStyles" Target="/ppt/tableStyles.xml" Id="Rbc308a4c06034b49" /><Relationship Type="http://schemas.openxmlformats.org/officeDocument/2006/relationships/slide" Target="/ppt/slides/slide1.xml" Id="Rfef2bec8220c4f71" /><Relationship Type="http://schemas.openxmlformats.org/officeDocument/2006/relationships/slide" Target="/ppt/slides/slide2.xml" Id="R8ad2ae6874014b8a" /><Relationship Type="http://schemas.openxmlformats.org/officeDocument/2006/relationships/slide" Target="/ppt/slides/slide3.xml" Id="R868746eb9e0e4ba6" /><Relationship Type="http://schemas.openxmlformats.org/officeDocument/2006/relationships/slide" Target="/ppt/slides/slide4.xml" Id="Ra21edb021a6c4874" /><Relationship Type="http://schemas.openxmlformats.org/officeDocument/2006/relationships/slide" Target="/ppt/slides/slide5.xml" Id="R977fd5df35d94217" /><Relationship Type="http://schemas.openxmlformats.org/officeDocument/2006/relationships/slide" Target="/ppt/slides/slide6.xml" Id="Ra80df5e16208451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8531b965e5a475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570ac4c6d674d05" /><Relationship Type="http://schemas.openxmlformats.org/officeDocument/2006/relationships/notesMaster" Target="/ppt/notesMasters/notesMaster1.xml" Id="R833532704f714a87" /></Relationships>
</file>

<file path=ppt/notesSlides/_rels/notesSlide2.xml.rels>&#65279;<?xml version="1.0" encoding="utf-8"?><Relationships xmlns="http://schemas.openxmlformats.org/package/2006/relationships"><Relationship Type="http://schemas.openxmlformats.org/officeDocument/2006/relationships/slide" Target="/ppt/slides/slide2.xml" Id="Rbb73f40930714948" /><Relationship Type="http://schemas.openxmlformats.org/officeDocument/2006/relationships/notesMaster" Target="/ppt/notesMasters/notesMaster1.xml" Id="R30371cff50594444" /></Relationships>
</file>

<file path=ppt/notesSlides/_rels/notesSlide3.xml.rels>&#65279;<?xml version="1.0" encoding="utf-8"?><Relationships xmlns="http://schemas.openxmlformats.org/package/2006/relationships"><Relationship Type="http://schemas.openxmlformats.org/officeDocument/2006/relationships/slide" Target="/ppt/slides/slide3.xml" Id="R673f3fee7bbc44fe" /><Relationship Type="http://schemas.openxmlformats.org/officeDocument/2006/relationships/notesMaster" Target="/ppt/notesMasters/notesMaster1.xml" Id="R9fedaf2d3bd845e9" /></Relationships>
</file>

<file path=ppt/notesSlides/_rels/notesSlide4.xml.rels>&#65279;<?xml version="1.0" encoding="utf-8"?><Relationships xmlns="http://schemas.openxmlformats.org/package/2006/relationships"><Relationship Type="http://schemas.openxmlformats.org/officeDocument/2006/relationships/slide" Target="/ppt/slides/slide4.xml" Id="R1b6c58f419ef441e" /><Relationship Type="http://schemas.openxmlformats.org/officeDocument/2006/relationships/notesMaster" Target="/ppt/notesMasters/notesMaster1.xml" Id="R28f4d66e4a26437e" /></Relationships>
</file>

<file path=ppt/notesSlides/_rels/notesSlide5.xml.rels>&#65279;<?xml version="1.0" encoding="utf-8"?><Relationships xmlns="http://schemas.openxmlformats.org/package/2006/relationships"><Relationship Type="http://schemas.openxmlformats.org/officeDocument/2006/relationships/slide" Target="/ppt/slides/slide5.xml" Id="R509cab805c174777" /><Relationship Type="http://schemas.openxmlformats.org/officeDocument/2006/relationships/notesMaster" Target="/ppt/notesMasters/notesMaster1.xml" Id="Rab9feb38d90e4ff5" /></Relationships>
</file>

<file path=ppt/notesSlides/_rels/notesSlide6.xml.rels>&#65279;<?xml version="1.0" encoding="utf-8"?><Relationships xmlns="http://schemas.openxmlformats.org/package/2006/relationships"><Relationship Type="http://schemas.openxmlformats.org/officeDocument/2006/relationships/slide" Target="/ppt/slides/slide6.xml" Id="R82f25d684a0a4b47" /><Relationship Type="http://schemas.openxmlformats.org/officeDocument/2006/relationships/notesMaster" Target="/ppt/notesMasters/notesMaster1.xml" Id="Rfdc5b322c86a473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Shaun, 30 seconds. Source: docs/a2/dossier.md section 1; docs/a2/evidence/forecast.json. Synthetic labels and fictional permits. Public ingestion is a parser smoke test. The current collateral stress field is an on-site consumption proxy. Assigned day is pending.</a:t>
            </a:r>
          </a:p>
          <a:p xmlns:a="http://schemas.openxmlformats.org/drawingml/2006/main">
            <a:r>
              <a:t>
Regional framing: ECOllateral is an environmental impact assessment and regional ecosystem forecasting project. Primary question: development demands/cooling/location and seasonal impacts on area municipal reserves and watershed conditions. The cooling model is one pressure component. No regional impact or ecosystem health score is implemented/validated. Source: docs/project-scope.md and user context supplied October 8.</a:t>
            </a:r>
          </a:p>
          <a:p xmlns:a="http://schemas.openxmlformats.org/drawingml/2006/main">
            <a:r>
              <a:t>
Plain-English talk:
ECOllateral aims to help planners, researchers, and utilities understand how proposed
development affects an area's municipal water reserves and watershed conditions across
seasons. The ecosystem and area are the focus. Our prototype connects environmental
data, a cooling-water pressure model, physical checks, and local permit quotations.
Cooling is one component test. The regional supply, demand, return-flow, and ecological
assessment is still planned. Our model targets are made-up data, so we are not claiming
validated regional impact forecasts yet.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Shaun, 30 seconds. Sources: src/models/regression.py, src/rules/thermodynamic.py, src/grounding/store.py, src/grounding/generator.py; docs/a2/evidence E3/E4 JSON. Rules also use capacity and ambient features. Fault injection -1/1e6 MGD clips to 0/0.446484 MGD for 40 MW, 30 C dry, 20 C wet. Four fictional retrieval cases pass. No LLM arithmetic or legal compliance decision.</a:t>
            </a:r>
          </a:p>
          <a:p xmlns:a="http://schemas.openxmlformats.org/drawingml/2006/main">
            <a:r>
              <a:t>
This map describes current components. Regional balances, ecological flow needs, cumulative demands/returns, verified boundaries, and regional targets remain planned. Current vectors are sparse TF-IDF, not dense learned embeddings. Groundwater depth is not recharge.</a:t>
            </a:r>
          </a:p>
          <a:p xmlns:a="http://schemas.openxmlformats.org/drawingml/2006/main">
            <a:r>
              <a:t>
Plain-English talk:
The diagram shows current components. Six features describe size, weather, flow,
drought, and season. The target is cooling water use. Trees learn number relationships;
rules check physical limits. Permit documents keep original words, sources, and location
metadata. TF-IDF creates word vectors, FAISS ranks matches, and location checks filter
results. This connects learned numbers, symbolic rules, and text evidence. Four location
tests pass; forced wrong predictions clip and warn. Quotations add context, without
calculating risk or deciding compliance.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Shaun, 45 seconds. Source: docs/a2/evidence/regression-comparison.csv and benchmark.json. 1,600 synthetic rows per type, six years, seed 42. Selected tower R2 .99808, direct .99728. No field generalization claim. Model selection and interval sizing reuse calibration partition.</a:t>
            </a:r>
          </a:p>
          <a:p xmlns:a="http://schemas.openxmlformats.org/drawingml/2006/main">
            <a:r>
              <a:t>
Plain-English talk:
We compared RandomForest and XGBoost using the same made-up inputs and water-use targets.
We split dates in time order: 60 percent to train, 20 percent to choose the model and
set its range, and 20 percent to test. XGBoost lowered average error for towers from
about 0.00489 to 0.00367 million gallons per day. For direct evaporation, it improved
from 0.00384 to 0.00319. Each test group has 333 rows. We kept XGBoost and retained
RandomForest for comparison. Dry air cooling has zero on-site water use in our scope.
These scores show we learned the generated pattern; real water-use measurements are
still the main gap.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Troy, 40 seconds. Main data source: missingness-summary.csv. Bar values are exact variance multiplied by 1e8. Random gaps, fixed trained model, seed 42. Biased diagnostic: +100 MGD donors, 40% gaps, 20 repeats, predictor=.01*flow, spatial coverage .603305785, linear .985950413. Not a fitted-model failure rate. Interpolation is retrospective; sensitivity bands are not forecast intervals.</a:t>
            </a:r>
          </a:p>
          <a:p xmlns:a="http://schemas.openxmlformats.org/drawingml/2006/main">
            <a:r>
              <a:t>
Plain-English talk:
We removed 10, 25, and 40 percent of drought readings and repeated each test 50 times.
Filling gaps from a nearby station or a straight line through time kept forecasts within
0.05 million gallons per day of the complete-data result. But our made-up stations
behave similarly. In a separate test, we raised neighboring flow by 100 million gallons
per day. Nearby-station filling then passed only 60.3 percent of the tolerance checks.
That test uses a simple formula, not the fitted AI model. We need tests with biased
neighbors, long gaps, and several stations losing data together.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Troy, 35 seconds. Sources: interval-coverage.csv; src/models/regression.py. Tower 294/333, direct 293/333, nominal .9. Selection and radius share calibration set. Chronological dependence complicates exchangeability. These finite samples do not establish statistical significance. R2 is not confidence; air zero target excluded.</a:t>
            </a:r>
          </a:p>
          <a:p xmlns:a="http://schemas.openxmlformats.org/drawingml/2006/main">
            <a:r>
              <a:t>
Plain-English talk:
The models fit the made-up data well, but their prediction ranges missed our goal.
Ranges intended to include 90 percent of test values included 88.3 percent for towers
and 88.0 percent for direct evaporation. These are finite test samples, not proof of
a statistically significant failure. We also used the same data to choose the model
and set its range. We will separate those jobs and test by facility, time, and drought.
R-squared measures fit; it is not the chance a prediction is right.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Scott, 60 seconds. Source: docs/a2/dossier.md sections 7-8, evidence-summary.csv, team-contributions.md. No neural/LLM comparison run. Shaun majority coding is confirmed; Troy/Scott supporting responsibilities are assigned, not certified completed. Next measured-label study needs facility holdouts, verified station maps, real permit relevance, MAE/RMSE/R2/coverage/width. Course date, deadline, office hours and instructor access remain pending.</a:t>
            </a:r>
          </a:p>
          <a:p xmlns:a="http://schemas.openxmlformats.org/drawingml/2006/main">
            <a:r>
              <a:t>
Primary next study: observed regional supply/reserves, demands, returns, ecological baselines and unseen-area tests. Facility holdouts remain a supporting component check. Zero-shot LLM, heatwave validation, EIA/EPA ingestion and historical recharge masking are proposals, not completed benchmarks. Troy supports data/grounding; Scott evaluation/interface/failure evidence; Shaun leads coding.</a:t>
            </a:r>
          </a:p>
          <a:p xmlns:a="http://schemas.openxmlformats.org/drawingml/2006/main">
            <a:r>
              <a:t>
Plain-English talk:
We will keep the tested models, component rules, and location checks. Next, connect
development pressures to observed area supply, reserves, other demands, returns, and
ecological flow needs. We must define regional targets and test unseen areas and seasons
with separate calibration. One cooling-water number cannot represent ecosystem health.
We also reject R-squared as confidence and unconstrained language-model risk scoring.
No zero-shot or generative comparison was run. Shaun leads coding and area integration.
We defer neural/LLM comparisons until measured regional labels exist.
Troy supports environmental baselines, drought analysis, and document grounding.
Scott supports safety and interface evaluation, failure analysis, and regional evidence.
These supporting duties still need completion confirmation. Our next question is whether
verified area conditions and development demands can explain seasonal reserve and
watershed impacts in an area not used to build the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a8acbdea82d4ed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c841d5830bf4d24" /><Relationship Type="http://schemas.openxmlformats.org/officeDocument/2006/relationships/slideLayout" Target="/ppt/slideLayouts/slideLayout1.xml" Id="Ref711e882c57498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f711e882c57498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e59c3a3f98c4205" /><Relationship Type="http://schemas.openxmlformats.org/officeDocument/2006/relationships/notesSlide" Target="/ppt/notesSlides/notesSlide1.xml" Id="R9c8c2dc898fe4f5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e9ed0bea5664a99" /><Relationship Type="http://schemas.openxmlformats.org/officeDocument/2006/relationships/notesSlide" Target="/ppt/notesSlides/notesSlide2.xml" Id="R4006883292e4413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668d8b92d7f456d" /><Relationship Type="http://schemas.openxmlformats.org/officeDocument/2006/relationships/chart" Target="/ppt/slides/charts/chart1.xml" Id="Rf2c84cedf87e4bd8" /><Relationship Type="http://schemas.openxmlformats.org/officeDocument/2006/relationships/notesSlide" Target="/ppt/notesSlides/notesSlide3.xml" Id="R3dfcea046b5d4c5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394bb1dde6249a0" /><Relationship Type="http://schemas.openxmlformats.org/officeDocument/2006/relationships/chart" Target="/ppt/slides/charts/chart2.xml" Id="Rf9339be411ae4be1" /><Relationship Type="http://schemas.openxmlformats.org/officeDocument/2006/relationships/notesSlide" Target="/ppt/notesSlides/notesSlide4.xml" Id="Re748eaadf59b449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33adff10ffa491c" /><Relationship Type="http://schemas.openxmlformats.org/officeDocument/2006/relationships/chart" Target="/ppt/slides/charts/chart3.xml" Id="Rdcdc181d0ac6455f" /><Relationship Type="http://schemas.openxmlformats.org/officeDocument/2006/relationships/notesSlide" Target="/ppt/notesSlides/notesSlide5.xml" Id="R633c768715234ba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758a26349694837" /><Relationship Type="http://schemas.openxmlformats.org/officeDocument/2006/relationships/notesSlide" Target="/ppt/notesSlides/notesSlide6.xml" Id="Ra29f6df743b2445f"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RandomForest</c:v>
          </c:tx>
          <c:spPr>
            <a:solidFill xmlns:a="http://schemas.openxmlformats.org/drawingml/2006/main">
              <a:srgbClr val="D1D5DB"/>
            </a:solidFill>
          </c:spPr>
          <c:cat>
            <c:strRef>
              <c:f>'Chart Data'!$A$2:$A$3</c:f>
              <c:strCache>
                <c:ptCount val="2"/>
                <c:pt idx="0">
                  <c:v>Cooling tower</c:v>
                </c:pt>
                <c:pt idx="1">
                  <c:v>Direct evaporative</c:v>
                </c:pt>
              </c:strCache>
            </c:strRef>
          </c:cat>
          <c:val>
            <c:numRef>
              <c:f>'Chart Data'!$B$2:$B$3</c:f>
              <c:numCache>
                <c:formatCode>0.000</c:formatCode>
                <c:ptCount val="2"/>
                <c:pt idx="0">
                  <c:v>0.00488969303</c:v>
                </c:pt>
                <c:pt idx="1">
                  <c:v>0.00384193269</c:v>
                </c:pt>
              </c:numCache>
            </c:numRef>
          </c:val>
        </c:ser>
        <c:ser>
          <c:idx val="1"/>
          <c:order val="1"/>
          <c:tx>
            <c:v>XGBoost</c:v>
          </c:tx>
          <c:spPr>
            <a:solidFill xmlns:a="http://schemas.openxmlformats.org/drawingml/2006/main">
              <a:srgbClr val="B8ADF3"/>
            </a:solidFill>
          </c:spPr>
          <c:cat>
            <c:strRef>
              <c:f>'Chart Data'!$C$2:$C$3</c:f>
              <c:strCache>
                <c:ptCount val="2"/>
                <c:pt idx="0">
                  <c:v>Cooling tower</c:v>
                </c:pt>
                <c:pt idx="1">
                  <c:v>Direct evaporative</c:v>
                </c:pt>
              </c:strCache>
            </c:strRef>
          </c:cat>
          <c:val>
            <c:numRef>
              <c:f>'Chart Data'!$D$2:$D$3</c:f>
              <c:numCache>
                <c:formatCode>0.000</c:formatCode>
                <c:ptCount val="2"/>
                <c:pt idx="0">
                  <c:v>0.003668214892</c:v>
                </c:pt>
                <c:pt idx="1">
                  <c:v>0.003191320083</c:v>
                </c:pt>
              </c:numCache>
            </c:numRef>
          </c:val>
        </c:ser>
        <c:dLbls>
          <c:txPr>
            <a:bodyPr xmlns:a="http://schemas.openxmlformats.org/drawingml/2006/main" anchorCtr="1"/>
            <a:lstStyle xmlns:a="http://schemas.openxmlformats.org/drawingml/2006/main"/>
            <a:p xmlns:a="http://schemas.openxmlformats.org/drawingml/2006/main">
              <a:pPr>
                <a:defRPr sz="1725">
                  <a:latin typeface="Arial"/>
                  <a:ea typeface="Arial"/>
                  <a:cs typeface="Arial"/>
                </a:defRPr>
              </a:pPr>
            </a:p>
          </c:txPr>
          <c:showLegendKey val="0"/>
          <c:showVal val="0"/>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111827"/>
                </a:solidFill>
                <a:latin typeface="Arial"/>
                <a:ea typeface="Arial"/>
                <a:cs typeface="Arial"/>
              </a:defRPr>
            </a:pPr>
          </a:p>
        </c:txPr>
        <c:crossAx val="48672768"/>
      </c:catAx>
      <c:valAx>
        <c:axId val="48672768"/>
        <c:scaling>
          <c:orientation val="minMax"/>
          <c:max val="0.006"/>
          <c:min val="0"/>
        </c:scaling>
        <c:delete val="0"/>
        <c:axPos val="l"/>
        <c:majorGridlines>
          <c:spPr>
            <a:ln xmlns:a="http://schemas.openxmlformats.org/drawingml/2006/main" w="9525">
              <a:solidFill>
                <a:srgbClr val="E5E7EB"/>
              </a:solidFill>
            </a:ln>
          </c:spPr>
        </c:majorGridlines>
        <c:title>
          <c:tx>
            <c:rich>
              <a:bodyPr xmlns:a="http://schemas.openxmlformats.org/drawingml/2006/main"/>
              <a:lstStyle xmlns:a="http://schemas.openxmlformats.org/drawingml/2006/main"/>
              <a:p xmlns:a="http://schemas.openxmlformats.org/drawingml/2006/main">
                <a:r>
                  <a:rPr sz="1275">
                    <a:solidFill>
                      <a:srgbClr val="6B7280"/>
                    </a:solidFill>
                    <a:latin typeface="Arial"/>
                    <a:ea typeface="Arial"/>
                    <a:cs typeface="Arial"/>
                  </a:rPr>
                  <a:t>Average error (MAE, MGD)</a:t>
                </a:r>
              </a:p>
            </c:rich>
          </c:tx>
          <c:overlay val="0"/>
          <c:txPr>
            <a:bodyPr xmlns:a="http://schemas.openxmlformats.org/drawingml/2006/main" anchorCtr="1"/>
            <a:lstStyle xmlns:a="http://schemas.openxmlformats.org/drawingml/2006/main"/>
            <a:p xmlns:a="http://schemas.openxmlformats.org/drawingml/2006/main">
              <a:pPr>
                <a:defRPr sz="1275">
                  <a:solidFill>
                    <a:srgbClr val="6B7280"/>
                  </a:solidFill>
                  <a:latin typeface="Arial"/>
                  <a:ea typeface="Arial"/>
                  <a:cs typeface="Arial"/>
                </a:defRPr>
              </a:pPr>
            </a:p>
          </c:txPr>
        </c:title>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B7280"/>
                </a:solidFill>
                <a:latin typeface="Arial"/>
                <a:ea typeface="Arial"/>
                <a:cs typeface="Arial"/>
              </a:defRPr>
            </a:pPr>
          </a:p>
        </c:txPr>
        <c:crossAx val="48650112"/>
        <c:crossBetween val="between"/>
      </c:valAx>
      <c:spPr>
        <a:solidFill xmlns:a="http://schemas.openxmlformats.org/drawingml/2006/main">
          <a:srgbClr val="F9FAFB"/>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6B7280"/>
              </a:solidFill>
              <a:latin typeface="Arial"/>
              <a:ea typeface="Arial"/>
              <a:cs typeface="Arial"/>
            </a:defRPr>
          </a:pPr>
        </a:p>
      </c:txPr>
    </c:legend>
    <c:plotVisOnly val="1"/>
  </c:chart>
  <c:spPr>
    <a:solidFill xmlns:a="http://schemas.openxmlformats.org/drawingml/2006/main">
      <a:srgbClr val="F9FAFB"/>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Nearby station</c:v>
          </c:tx>
          <c:spPr>
            <a:solidFill xmlns:a="http://schemas.openxmlformats.org/drawingml/2006/main">
              <a:srgbClr val="B8ADF3"/>
            </a:solidFill>
          </c:spPr>
          <c:cat>
            <c:strRef>
              <c:f>'Chart Data'!$A$2:$A$4</c:f>
              <c:strCache>
                <c:ptCount val="3"/>
                <c:pt idx="0">
                  <c:v>10% gaps</c:v>
                </c:pt>
                <c:pt idx="1">
                  <c:v>25% gaps</c:v>
                </c:pt>
                <c:pt idx="2">
                  <c:v>40% gaps</c:v>
                </c:pt>
              </c:strCache>
            </c:strRef>
          </c:cat>
          <c:val>
            <c:numRef>
              <c:f>'Chart Data'!$B$2:$B$4</c:f>
              <c:numCache>
                <c:formatCode>0.0</c:formatCode>
                <c:ptCount val="3"/>
                <c:pt idx="0">
                  <c:v>0.3294740911</c:v>
                </c:pt>
                <c:pt idx="1">
                  <c:v>0.6313760632</c:v>
                </c:pt>
                <c:pt idx="2">
                  <c:v>0.9053629338</c:v>
                </c:pt>
              </c:numCache>
            </c:numRef>
          </c:val>
        </c:ser>
        <c:ser>
          <c:idx val="1"/>
          <c:order val="1"/>
          <c:tx>
            <c:v>Straight line</c:v>
          </c:tx>
          <c:spPr>
            <a:solidFill xmlns:a="http://schemas.openxmlformats.org/drawingml/2006/main">
              <a:srgbClr val="D1D5DB"/>
            </a:solidFill>
          </c:spPr>
          <c:cat>
            <c:strRef>
              <c:f>'Chart Data'!$C$2:$C$4</c:f>
              <c:strCache>
                <c:ptCount val="3"/>
                <c:pt idx="0">
                  <c:v>10% gaps</c:v>
                </c:pt>
                <c:pt idx="1">
                  <c:v>25% gaps</c:v>
                </c:pt>
                <c:pt idx="2">
                  <c:v>40% gaps</c:v>
                </c:pt>
              </c:strCache>
            </c:strRef>
          </c:cat>
          <c:val>
            <c:numRef>
              <c:f>'Chart Data'!$D$2:$D$4</c:f>
              <c:numCache>
                <c:formatCode>0.0</c:formatCode>
                <c:ptCount val="3"/>
                <c:pt idx="0">
                  <c:v>0.600125973</c:v>
                </c:pt>
                <c:pt idx="1">
                  <c:v>2.212085729</c:v>
                </c:pt>
                <c:pt idx="2">
                  <c:v>4.092290509</c:v>
                </c:pt>
              </c:numCache>
            </c:numRef>
          </c:val>
        </c:ser>
        <c:dLbls>
          <c:txPr>
            <a:bodyPr xmlns:a="http://schemas.openxmlformats.org/drawingml/2006/main" anchorCtr="1"/>
            <a:lstStyle xmlns:a="http://schemas.openxmlformats.org/drawingml/2006/main"/>
            <a:p xmlns:a="http://schemas.openxmlformats.org/drawingml/2006/main">
              <a:pPr>
                <a:defRPr sz="1725">
                  <a:latin typeface="Arial"/>
                  <a:ea typeface="Arial"/>
                  <a:cs typeface="Arial"/>
                </a:defRPr>
              </a:pPr>
            </a:p>
          </c:txPr>
          <c:showLegendKey val="0"/>
          <c:showVal val="0"/>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111827"/>
                </a:solidFill>
                <a:latin typeface="Arial"/>
                <a:ea typeface="Arial"/>
                <a:cs typeface="Arial"/>
              </a:defRPr>
            </a:pPr>
          </a:p>
        </c:txPr>
        <c:crossAx val="48672768"/>
      </c:catAx>
      <c:valAx>
        <c:axId val="48672768"/>
        <c:scaling>
          <c:orientation val="minMax"/>
          <c:max val="5"/>
          <c:min val="0"/>
        </c:scaling>
        <c:delete val="0"/>
        <c:axPos val="l"/>
        <c:majorGridlines>
          <c:spPr>
            <a:ln xmlns:a="http://schemas.openxmlformats.org/drawingml/2006/main" w="9525">
              <a:solidFill>
                <a:srgbClr val="E5E7EB"/>
              </a:solidFill>
            </a:ln>
          </c:spPr>
        </c:majorGridlines>
        <c:title>
          <c:tx>
            <c:rich>
              <a:bodyPr xmlns:a="http://schemas.openxmlformats.org/drawingml/2006/main"/>
              <a:lstStyle xmlns:a="http://schemas.openxmlformats.org/drawingml/2006/main"/>
              <a:p xmlns:a="http://schemas.openxmlformats.org/drawingml/2006/main">
                <a:r>
                  <a:rPr sz="1275">
                    <a:solidFill>
                      <a:srgbClr val="6B7280"/>
                    </a:solidFill>
                    <a:latin typeface="Arial"/>
                    <a:ea typeface="Arial"/>
                    <a:cs typeface="Arial"/>
                  </a:rPr>
                  <a:t>Prediction spread (10^-8 MGD2)</a:t>
                </a:r>
              </a:p>
            </c:rich>
          </c:tx>
          <c:overlay val="0"/>
          <c:txPr>
            <a:bodyPr xmlns:a="http://schemas.openxmlformats.org/drawingml/2006/main" anchorCtr="1"/>
            <a:lstStyle xmlns:a="http://schemas.openxmlformats.org/drawingml/2006/main"/>
            <a:p xmlns:a="http://schemas.openxmlformats.org/drawingml/2006/main">
              <a:pPr>
                <a:defRPr sz="1275">
                  <a:solidFill>
                    <a:srgbClr val="6B7280"/>
                  </a:solidFill>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B7280"/>
                </a:solidFill>
                <a:latin typeface="Arial"/>
                <a:ea typeface="Arial"/>
                <a:cs typeface="Arial"/>
              </a:defRPr>
            </a:pPr>
          </a:p>
        </c:txPr>
        <c:crossAx val="48650112"/>
        <c:crossBetween val="between"/>
      </c:valAx>
      <c:spPr>
        <a:solidFill xmlns:a="http://schemas.openxmlformats.org/drawingml/2006/main">
          <a:srgbClr val="F9FAFB"/>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6B7280"/>
              </a:solidFill>
              <a:latin typeface="Arial"/>
              <a:ea typeface="Arial"/>
              <a:cs typeface="Arial"/>
            </a:defRPr>
          </a:pPr>
        </a:p>
      </c:txPr>
    </c:legend>
    <c:plotVisOnly val="1"/>
  </c:chart>
  <c:spPr>
    <a:solidFill xmlns:a="http://schemas.openxmlformats.org/drawingml/2006/main">
      <a:srgbClr val="F9FAFB"/>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Coverage</c:v>
          </c:tx>
          <c:spPr>
            <a:solidFill xmlns:a="http://schemas.openxmlformats.org/drawingml/2006/main">
              <a:srgbClr val="B8ADF3"/>
            </a:solidFill>
          </c:spPr>
          <c:dPt>
            <c:idx val="2"/>
            <c:invertIfNegative val="0"/>
            <c:spPr>
              <a:solidFill xmlns:a="http://schemas.openxmlformats.org/drawingml/2006/main">
                <a:srgbClr val="D1D5DB"/>
              </a:solidFill>
            </c:spPr>
          </c:dPt>
          <c:cat>
            <c:strRef>
              <c:f>'Chart Data'!$A$2:$A$4</c:f>
              <c:strCache>
                <c:ptCount val="3"/>
                <c:pt idx="0">
                  <c:v>Tower XGB</c:v>
                </c:pt>
                <c:pt idx="1">
                  <c:v>Direct XGB</c:v>
                </c:pt>
                <c:pt idx="2">
                  <c:v>Goal</c:v>
                </c:pt>
              </c:strCache>
            </c:strRef>
          </c:cat>
          <c:val>
            <c:numRef>
              <c:f>'Chart Data'!$B$2:$B$4</c:f>
              <c:numCache>
                <c:formatCode>0%</c:formatCode>
                <c:ptCount val="3"/>
                <c:pt idx="0">
                  <c:v>0.8828828829</c:v>
                </c:pt>
                <c:pt idx="1">
                  <c:v>0.8798798799</c:v>
                </c:pt>
                <c:pt idx="2">
                  <c:v>0.9</c:v>
                </c:pt>
              </c:numCache>
            </c:numRef>
          </c:val>
        </c:ser>
        <c:dLbls>
          <c:txPr>
            <a:bodyPr xmlns:a="http://schemas.openxmlformats.org/drawingml/2006/main" anchorCtr="1"/>
            <a:lstStyle xmlns:a="http://schemas.openxmlformats.org/drawingml/2006/main"/>
            <a:p xmlns:a="http://schemas.openxmlformats.org/drawingml/2006/main">
              <a:pPr>
                <a:defRPr sz="1725">
                  <a:latin typeface="Arial"/>
                  <a:ea typeface="Arial"/>
                  <a:cs typeface="Arial"/>
                </a:defRPr>
              </a:pPr>
            </a:p>
          </c:txPr>
          <c:showLegendKey val="0"/>
          <c:showVal val="0"/>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111827"/>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E5E7EB"/>
              </a:solidFill>
            </a:ln>
          </c:spPr>
        </c:majorGridlines>
        <c:title>
          <c:tx>
            <c:rich>
              <a:bodyPr xmlns:a="http://schemas.openxmlformats.org/drawingml/2006/main"/>
              <a:lstStyle xmlns:a="http://schemas.openxmlformats.org/drawingml/2006/main"/>
              <a:p xmlns:a="http://schemas.openxmlformats.org/drawingml/2006/main">
                <a:r>
                  <a:rPr sz="1275">
                    <a:solidFill>
                      <a:srgbClr val="6B7280"/>
                    </a:solidFill>
                    <a:latin typeface="Arial"/>
                    <a:ea typeface="Arial"/>
                    <a:cs typeface="Arial"/>
                  </a:rPr>
                  <a:t>Test values inside range</a:t>
                </a:r>
              </a:p>
            </c:rich>
          </c:tx>
          <c:overlay val="0"/>
          <c:txPr>
            <a:bodyPr xmlns:a="http://schemas.openxmlformats.org/drawingml/2006/main" anchorCtr="1"/>
            <a:lstStyle xmlns:a="http://schemas.openxmlformats.org/drawingml/2006/main"/>
            <a:p xmlns:a="http://schemas.openxmlformats.org/drawingml/2006/main">
              <a:pPr>
                <a:defRPr sz="1275">
                  <a:solidFill>
                    <a:srgbClr val="6B7280"/>
                  </a:solidFill>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B7280"/>
                </a:solidFill>
                <a:latin typeface="Arial"/>
                <a:ea typeface="Arial"/>
                <a:cs typeface="Arial"/>
              </a:defRPr>
            </a:pPr>
          </a:p>
        </c:txPr>
        <c:crossAx val="48650112"/>
        <c:crossBetween val="between"/>
      </c:valAx>
      <c:spPr>
        <a:solidFill xmlns:a="http://schemas.openxmlformats.org/drawingml/2006/main">
          <a:srgbClr val="F9FAFB"/>
        </a:solidFill>
      </c:spPr>
    </c:plotArea>
    <c:plotVisOnly val="1"/>
  </c:chart>
  <c:spPr>
    <a:solidFill xmlns:a="http://schemas.openxmlformats.org/drawingml/2006/main">
      <a:srgbClr val="F9FAFB"/>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9FAFB"/>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F94B4D9-60CA-4D67-972E-DF79C41B6200}"/>
              </a:ext>
            </a:extLst>
          </p:cNvPr>
          <p:cNvSpPr>
            <a:spLocks xmlns:a="http://schemas.openxmlformats.org/drawingml/2006/main" noGrp="1"/>
          </p:cNvSpPr>
          <p:nvPr/>
        </p:nvSpPr>
        <p:spPr>
          <a:xfrm xmlns:a="http://schemas.openxmlformats.org/drawingml/2006/main">
            <a:off x="762000" y="342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050" b="0">
                <a:solidFill>
                  <a:srgbClr val="6B7280"/>
                </a:solidFill>
                <a:latin typeface="Arial"/>
                <a:ea typeface="Arial"/>
                <a:cs typeface="Arial"/>
              </a:defRPr>
            </a:pPr>
            <a:r>
              <a:rPr sz="1050" b="0">
                <a:solidFill>
                  <a:srgbClr val="6B7280"/>
                </a:solidFill>
                <a:latin typeface="Arial"/>
                <a:ea typeface="Arial"/>
                <a:cs typeface="Arial"/>
              </a:rPr>
              <a:t>E C O L L A T E R A L   /   C S C I  4 1 5 0  A 2</a:t>
            </a:r>
          </a:p>
        </p:txBody>
      </p:sp>
      <p:sp>
        <p:nvSpPr>
          <p:cNvPr id="2" name="">
            <a:extLst xmlns:a="http://schemas.openxmlformats.org/drawingml/2006/main">
              <a:ext uri="{FF2B5EF4-FFF2-40B4-BE49-F238E27FC236}">
                <a16:creationId xmlns:a16="http://schemas.microsoft.com/office/drawing/2014/main" id="{238C3142-C4EE-44E1-A691-83FC62A0F338}"/>
              </a:ext>
            </a:extLst>
          </p:cNvPr>
          <p:cNvSpPr>
            <a:spLocks xmlns:a="http://schemas.openxmlformats.org/drawingml/2006/main" noGrp="1"/>
          </p:cNvSpPr>
          <p:nvPr/>
        </p:nvSpPr>
        <p:spPr>
          <a:xfrm xmlns:a="http://schemas.openxmlformats.org/drawingml/2006/main">
            <a:off x="628650" y="1381125"/>
            <a:ext cx="14288" cy="1647825"/>
          </a:xfrm>
          <a:prstGeom xmlns:a="http://schemas.openxmlformats.org/drawingml/2006/main" prst="rect">
            <a:avLst/>
          </a:prstGeom>
          <a:solidFill xmlns:a="http://schemas.openxmlformats.org/drawingml/2006/main">
            <a:srgbClr val="111827"/>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E829EDD-71AB-45A0-A742-E1929E50FE31}"/>
              </a:ext>
            </a:extLst>
          </p:cNvPr>
          <p:cNvSpPr>
            <a:spLocks xmlns:a="http://schemas.openxmlformats.org/drawingml/2006/main" noGrp="1"/>
          </p:cNvSpPr>
          <p:nvPr/>
        </p:nvSpPr>
        <p:spPr>
          <a:xfrm xmlns:a="http://schemas.openxmlformats.org/drawingml/2006/main">
            <a:off x="809625" y="1362075"/>
            <a:ext cx="10096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4350" b="0">
                <a:solidFill>
                  <a:srgbClr val="111827"/>
                </a:solidFill>
                <a:latin typeface="Georgia"/>
                <a:ea typeface="Georgia"/>
                <a:cs typeface="Georgia"/>
              </a:defRPr>
            </a:pPr>
            <a:r>
              <a:rPr sz="4350" b="0">
                <a:solidFill>
                  <a:srgbClr val="111827"/>
                </a:solidFill>
                <a:latin typeface="Georgia"/>
                <a:ea typeface="Georgia"/>
                <a:cs typeface="Georgia"/>
              </a:rPr>
              <a:t>PROBLEM &amp; USERS:</a:t>
            </a:r>
          </a:p>
          <a:p xmlns:a="http://schemas.openxmlformats.org/drawingml/2006/main">
            <a:pPr>
              <a:defRPr sz="4350" b="0">
                <a:solidFill>
                  <a:srgbClr val="111827"/>
                </a:solidFill>
                <a:latin typeface="Georgia"/>
                <a:ea typeface="Georgia"/>
                <a:cs typeface="Georgia"/>
              </a:defRPr>
            </a:pPr>
            <a:r>
              <a:rPr sz="4350" b="0">
                <a:solidFill>
                  <a:srgbClr val="111827"/>
                </a:solidFill>
                <a:latin typeface="Georgia"/>
                <a:ea typeface="Georgia"/>
                <a:cs typeface="Georgia"/>
              </a:rPr>
              <a:t>ECOSYSTEMS ACROSS AN AREA</a:t>
            </a:r>
          </a:p>
        </p:txBody>
      </p:sp>
      <p:sp>
        <p:nvSpPr>
          <p:cNvPr id="4" name="">
            <a:extLst xmlns:a="http://schemas.openxmlformats.org/drawingml/2006/main">
              <a:ext uri="{FF2B5EF4-FFF2-40B4-BE49-F238E27FC236}">
                <a16:creationId xmlns:a16="http://schemas.microsoft.com/office/drawing/2014/main" id="{C28A8E67-DA58-414D-B6D0-C6FE1DCC3A07}"/>
              </a:ext>
            </a:extLst>
          </p:cNvPr>
          <p:cNvSpPr>
            <a:spLocks xmlns:a="http://schemas.openxmlformats.org/drawingml/2006/main" noGrp="1"/>
          </p:cNvSpPr>
          <p:nvPr/>
        </p:nvSpPr>
        <p:spPr>
          <a:xfrm xmlns:a="http://schemas.openxmlformats.org/drawingml/2006/main">
            <a:off x="762000" y="6324600"/>
            <a:ext cx="10191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975" b="0">
                <a:solidFill>
                  <a:srgbClr val="6B7280"/>
                </a:solidFill>
                <a:latin typeface="Arial"/>
                <a:ea typeface="Arial"/>
                <a:cs typeface="Arial"/>
              </a:defRPr>
            </a:pPr>
            <a:r>
              <a:rPr sz="975" b="0">
                <a:solidFill>
                  <a:srgbClr val="6B7280"/>
                </a:solidFill>
                <a:latin typeface="Arial"/>
                <a:ea typeface="Arial"/>
                <a:cs typeface="Arial"/>
              </a:rPr>
              <a:t>October 7 component evidence | Synthetic model targets; regional assessment not yet validated</a:t>
            </a:r>
          </a:p>
        </p:txBody>
      </p:sp>
      <p:sp>
        <p:nvSpPr>
          <p:cNvPr id="5" name="">
            <a:extLst xmlns:a="http://schemas.openxmlformats.org/drawingml/2006/main">
              <a:ext uri="{FF2B5EF4-FFF2-40B4-BE49-F238E27FC236}">
                <a16:creationId xmlns:a16="http://schemas.microsoft.com/office/drawing/2014/main" id="{654286E4-48BD-40BC-8932-C9EE7918E91B}"/>
              </a:ext>
            </a:extLst>
          </p:cNvPr>
          <p:cNvSpPr>
            <a:spLocks xmlns:a="http://schemas.openxmlformats.org/drawingml/2006/main" noGrp="1"/>
          </p:cNvSpPr>
          <p:nvPr/>
        </p:nvSpPr>
        <p:spPr>
          <a:xfrm xmlns:a="http://schemas.openxmlformats.org/drawingml/2006/main">
            <a:off x="11239500" y="632460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050" b="0">
                <a:solidFill>
                  <a:srgbClr val="6B7280"/>
                </a:solidFill>
                <a:latin typeface="Arial"/>
                <a:ea typeface="Arial"/>
                <a:cs typeface="Arial"/>
              </a:defRPr>
            </a:pPr>
            <a:r>
              <a:rPr sz="1050" b="0">
                <a:solidFill>
                  <a:srgbClr val="6B7280"/>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F7F00FA7-1A1E-4205-834E-CB2B4870C13A}"/>
              </a:ext>
            </a:extLst>
          </p:cNvPr>
          <p:cNvSpPr>
            <a:spLocks xmlns:a="http://schemas.openxmlformats.org/drawingml/2006/main" noGrp="1"/>
          </p:cNvSpPr>
          <p:nvPr/>
        </p:nvSpPr>
        <p:spPr>
          <a:xfrm xmlns:a="http://schemas.openxmlformats.org/drawingml/2006/main">
            <a:off x="809625" y="952500"/>
            <a:ext cx="619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Shaun, Troy, Scott</a:t>
            </a:r>
          </a:p>
        </p:txBody>
      </p:sp>
      <p:sp>
        <p:nvSpPr>
          <p:cNvPr id="7" name="">
            <a:extLst xmlns:a="http://schemas.openxmlformats.org/drawingml/2006/main">
              <a:ext uri="{FF2B5EF4-FFF2-40B4-BE49-F238E27FC236}">
                <a16:creationId xmlns:a16="http://schemas.microsoft.com/office/drawing/2014/main" id="{6E0221C3-5F00-49B5-9B16-3403E3397EAB}"/>
              </a:ext>
            </a:extLst>
          </p:cNvPr>
          <p:cNvSpPr>
            <a:spLocks xmlns:a="http://schemas.openxmlformats.org/drawingml/2006/main" noGrp="1"/>
          </p:cNvSpPr>
          <p:nvPr/>
        </p:nvSpPr>
        <p:spPr>
          <a:xfrm xmlns:a="http://schemas.openxmlformats.org/drawingml/2006/main">
            <a:off x="809625" y="31813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b="0">
                <a:solidFill>
                  <a:srgbClr val="111827"/>
                </a:solidFill>
                <a:latin typeface="Arial"/>
                <a:ea typeface="Arial"/>
                <a:cs typeface="Arial"/>
              </a:defRPr>
            </a:pPr>
            <a:r>
              <a:rPr sz="1875" b="0">
                <a:solidFill>
                  <a:srgbClr val="111827"/>
                </a:solidFill>
                <a:latin typeface="Arial"/>
                <a:ea typeface="Arial"/>
                <a:cs typeface="Arial"/>
              </a:rPr>
              <a:t>How could development change area water reserves and watershed conditions across seasons?</a:t>
            </a:r>
          </a:p>
        </p:txBody>
      </p:sp>
      <p:sp>
        <p:nvSpPr>
          <p:cNvPr id="8" name="">
            <a:extLst xmlns:a="http://schemas.openxmlformats.org/drawingml/2006/main">
              <a:ext uri="{FF2B5EF4-FFF2-40B4-BE49-F238E27FC236}">
                <a16:creationId xmlns:a16="http://schemas.microsoft.com/office/drawing/2014/main" id="{F1548F97-FF97-4D98-B43F-BB9A14D3F9E8}"/>
              </a:ext>
            </a:extLst>
          </p:cNvPr>
          <p:cNvSpPr>
            <a:spLocks xmlns:a="http://schemas.openxmlformats.org/drawingml/2006/main" noGrp="1"/>
          </p:cNvSpPr>
          <p:nvPr/>
        </p:nvSpPr>
        <p:spPr>
          <a:xfrm xmlns:a="http://schemas.openxmlformats.org/drawingml/2006/main">
            <a:off x="809625" y="4057650"/>
            <a:ext cx="485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200" b="0">
                <a:solidFill>
                  <a:srgbClr val="6B7280"/>
                </a:solidFill>
                <a:latin typeface="Arial"/>
                <a:ea typeface="Arial"/>
                <a:cs typeface="Arial"/>
              </a:defRPr>
            </a:pPr>
            <a:r>
              <a:rPr sz="1200" b="0">
                <a:solidFill>
                  <a:srgbClr val="6B7280"/>
                </a:solidFill>
                <a:latin typeface="Arial"/>
                <a:ea typeface="Arial"/>
                <a:cs typeface="Arial"/>
              </a:rPr>
              <a:t>R E G I O N A L  G O A L</a:t>
            </a:r>
          </a:p>
        </p:txBody>
      </p:sp>
      <p:sp>
        <p:nvSpPr>
          <p:cNvPr id="9" name="">
            <a:extLst xmlns:a="http://schemas.openxmlformats.org/drawingml/2006/main">
              <a:ext uri="{FF2B5EF4-FFF2-40B4-BE49-F238E27FC236}">
                <a16:creationId xmlns:a16="http://schemas.microsoft.com/office/drawing/2014/main" id="{3FFFDAD3-9805-4824-BA84-9E811F04E03E}"/>
              </a:ext>
            </a:extLst>
          </p:cNvPr>
          <p:cNvSpPr>
            <a:spLocks xmlns:a="http://schemas.openxmlformats.org/drawingml/2006/main" noGrp="1"/>
          </p:cNvSpPr>
          <p:nvPr/>
        </p:nvSpPr>
        <p:spPr>
          <a:xfrm xmlns:a="http://schemas.openxmlformats.org/drawingml/2006/main">
            <a:off x="809625" y="4429125"/>
            <a:ext cx="4143375"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2DC9303-1831-4487-B63C-51AA3084E171}"/>
              </a:ext>
            </a:extLst>
          </p:cNvPr>
          <p:cNvSpPr>
            <a:spLocks xmlns:a="http://schemas.openxmlformats.org/drawingml/2006/main" noGrp="1"/>
          </p:cNvSpPr>
          <p:nvPr/>
        </p:nvSpPr>
        <p:spPr>
          <a:xfrm xmlns:a="http://schemas.openxmlformats.org/drawingml/2006/main">
            <a:off x="809625" y="4600575"/>
            <a:ext cx="5048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b="0">
                <a:solidFill>
                  <a:srgbClr val="111827"/>
                </a:solidFill>
                <a:latin typeface="Arial"/>
                <a:ea typeface="Arial"/>
                <a:cs typeface="Arial"/>
              </a:defRPr>
            </a:pPr>
            <a:r>
              <a:rPr sz="1875" b="0">
                <a:solidFill>
                  <a:srgbClr val="111827"/>
                </a:solidFill>
                <a:latin typeface="Arial"/>
                <a:ea typeface="Arial"/>
                <a:cs typeface="Arial"/>
              </a:rPr>
              <a:t>Seasonal area conditions</a:t>
            </a:r>
          </a:p>
          <a:p xmlns:a="http://schemas.openxmlformats.org/drawingml/2006/main">
            <a:pPr>
              <a:defRPr sz="1875" b="0">
                <a:solidFill>
                  <a:srgbClr val="111827"/>
                </a:solidFill>
                <a:latin typeface="Arial"/>
                <a:ea typeface="Arial"/>
                <a:cs typeface="Arial"/>
              </a:defRPr>
            </a:pPr>
            <a:r>
              <a:rPr sz="1875" b="0">
                <a:solidFill>
                  <a:srgbClr val="111827"/>
                </a:solidFill>
                <a:latin typeface="Arial"/>
                <a:ea typeface="Arial"/>
                <a:cs typeface="Arial"/>
              </a:rPr>
              <a:t>Development demands + returns</a:t>
            </a:r>
          </a:p>
          <a:p xmlns:a="http://schemas.openxmlformats.org/drawingml/2006/main">
            <a:pPr>
              <a:defRPr sz="1875" b="0">
                <a:solidFill>
                  <a:srgbClr val="111827"/>
                </a:solidFill>
                <a:latin typeface="Arial"/>
                <a:ea typeface="Arial"/>
                <a:cs typeface="Arial"/>
              </a:defRPr>
            </a:pPr>
            <a:r>
              <a:rPr sz="1875" b="0">
                <a:solidFill>
                  <a:srgbClr val="111827"/>
                </a:solidFill>
                <a:latin typeface="Arial"/>
                <a:ea typeface="Arial"/>
                <a:cs typeface="Arial"/>
              </a:rPr>
              <a:t>Municipal reserves + watershed</a:t>
            </a:r>
          </a:p>
        </p:txBody>
      </p:sp>
      <p:sp>
        <p:nvSpPr>
          <p:cNvPr id="11" name="">
            <a:extLst xmlns:a="http://schemas.openxmlformats.org/drawingml/2006/main">
              <a:ext uri="{FF2B5EF4-FFF2-40B4-BE49-F238E27FC236}">
                <a16:creationId xmlns:a16="http://schemas.microsoft.com/office/drawing/2014/main" id="{83BE0963-60E1-4517-A280-B3B21ED64F6B}"/>
              </a:ext>
            </a:extLst>
          </p:cNvPr>
          <p:cNvSpPr>
            <a:spLocks xmlns:a="http://schemas.openxmlformats.org/drawingml/2006/main" noGrp="1"/>
          </p:cNvSpPr>
          <p:nvPr/>
        </p:nvSpPr>
        <p:spPr>
          <a:xfrm xmlns:a="http://schemas.openxmlformats.org/drawingml/2006/main">
            <a:off x="6286500" y="4057650"/>
            <a:ext cx="514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200" b="0">
                <a:solidFill>
                  <a:srgbClr val="6B7280"/>
                </a:solidFill>
                <a:latin typeface="Arial"/>
                <a:ea typeface="Arial"/>
                <a:cs typeface="Arial"/>
              </a:defRPr>
            </a:pPr>
            <a:r>
              <a:rPr sz="1200" b="0">
                <a:solidFill>
                  <a:srgbClr val="6B7280"/>
                </a:solidFill>
                <a:latin typeface="Arial"/>
                <a:ea typeface="Arial"/>
                <a:cs typeface="Arial"/>
              </a:rPr>
              <a:t>C U R R E N T  P R O T O T Y P E</a:t>
            </a:r>
          </a:p>
        </p:txBody>
      </p:sp>
      <p:sp>
        <p:nvSpPr>
          <p:cNvPr id="12" name="">
            <a:extLst xmlns:a="http://schemas.openxmlformats.org/drawingml/2006/main">
              <a:ext uri="{FF2B5EF4-FFF2-40B4-BE49-F238E27FC236}">
                <a16:creationId xmlns:a16="http://schemas.microsoft.com/office/drawing/2014/main" id="{62B43B0F-9CF9-4254-A0B9-9C070B89EACC}"/>
              </a:ext>
            </a:extLst>
          </p:cNvPr>
          <p:cNvSpPr>
            <a:spLocks xmlns:a="http://schemas.openxmlformats.org/drawingml/2006/main" noGrp="1"/>
          </p:cNvSpPr>
          <p:nvPr/>
        </p:nvSpPr>
        <p:spPr>
          <a:xfrm xmlns:a="http://schemas.openxmlformats.org/drawingml/2006/main">
            <a:off x="6286500" y="4429125"/>
            <a:ext cx="5095875"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43670AC-1F12-4779-B934-8F7DAC3CF9D0}"/>
              </a:ext>
            </a:extLst>
          </p:cNvPr>
          <p:cNvSpPr>
            <a:spLocks xmlns:a="http://schemas.openxmlformats.org/drawingml/2006/main" noGrp="1"/>
          </p:cNvSpPr>
          <p:nvPr/>
        </p:nvSpPr>
        <p:spPr>
          <a:xfrm xmlns:a="http://schemas.openxmlformats.org/drawingml/2006/main">
            <a:off x="6286500" y="4600575"/>
            <a:ext cx="509587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b="0">
                <a:solidFill>
                  <a:srgbClr val="111827"/>
                </a:solidFill>
                <a:latin typeface="Arial"/>
                <a:ea typeface="Arial"/>
                <a:cs typeface="Arial"/>
              </a:defRPr>
            </a:pPr>
            <a:r>
              <a:rPr sz="1875" b="0">
                <a:solidFill>
                  <a:srgbClr val="111827"/>
                </a:solidFill>
                <a:latin typeface="Arial"/>
                <a:ea typeface="Arial"/>
                <a:cs typeface="Arial"/>
              </a:rPr>
              <a:t>Environmental data + cooling model</a:t>
            </a:r>
          </a:p>
          <a:p xmlns:a="http://schemas.openxmlformats.org/drawingml/2006/main">
            <a:pPr>
              <a:defRPr sz="1875" b="0">
                <a:solidFill>
                  <a:srgbClr val="111827"/>
                </a:solidFill>
                <a:latin typeface="Arial"/>
                <a:ea typeface="Arial"/>
                <a:cs typeface="Arial"/>
              </a:defRPr>
            </a:pPr>
            <a:r>
              <a:rPr sz="1875" b="0">
                <a:solidFill>
                  <a:srgbClr val="111827"/>
                </a:solidFill>
                <a:latin typeface="Arial"/>
                <a:ea typeface="Arial"/>
                <a:cs typeface="Arial"/>
              </a:rPr>
              <a:t>Physical checks + permit quotes</a:t>
            </a:r>
          </a:p>
          <a:p xmlns:a="http://schemas.openxmlformats.org/drawingml/2006/main">
            <a:pPr>
              <a:defRPr sz="1875" b="0">
                <a:solidFill>
                  <a:srgbClr val="111827"/>
                </a:solidFill>
                <a:latin typeface="Arial"/>
                <a:ea typeface="Arial"/>
                <a:cs typeface="Arial"/>
              </a:defRPr>
            </a:pPr>
            <a:r>
              <a:rPr sz="1875" b="0">
                <a:solidFill>
                  <a:srgbClr val="111827"/>
                </a:solidFill>
                <a:latin typeface="Arial"/>
                <a:ea typeface="Arial"/>
                <a:cs typeface="Arial"/>
              </a:rPr>
              <a:t>Regional assessment still planned</a:t>
            </a:r>
          </a:p>
        </p:txBody>
      </p:sp>
      <p:sp>
        <p:nvSpPr>
          <p:cNvPr id="14" name="">
            <a:extLst xmlns:a="http://schemas.openxmlformats.org/drawingml/2006/main">
              <a:ext uri="{FF2B5EF4-FFF2-40B4-BE49-F238E27FC236}">
                <a16:creationId xmlns:a16="http://schemas.microsoft.com/office/drawing/2014/main" id="{92210842-3957-4ECD-9A0A-D4D9D5AF80F7}"/>
              </a:ext>
            </a:extLst>
          </p:cNvPr>
          <p:cNvSpPr>
            <a:spLocks xmlns:a="http://schemas.openxmlformats.org/drawingml/2006/main" noGrp="1"/>
          </p:cNvSpPr>
          <p:nvPr/>
        </p:nvSpPr>
        <p:spPr>
          <a:xfrm xmlns:a="http://schemas.openxmlformats.org/drawingml/2006/main">
            <a:off x="809625" y="5867400"/>
            <a:ext cx="10572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425" b="0">
                <a:solidFill>
                  <a:srgbClr val="6B7280"/>
                </a:solidFill>
                <a:latin typeface="Arial"/>
                <a:ea typeface="Arial"/>
                <a:cs typeface="Arial"/>
              </a:defRPr>
            </a:pPr>
            <a:r>
              <a:rPr sz="1425" b="0">
                <a:solidFill>
                  <a:srgbClr val="6B7280"/>
                </a:solidFill>
                <a:latin typeface="Arial"/>
                <a:ea typeface="Arial"/>
                <a:cs typeface="Arial"/>
              </a:rPr>
              <a:t>Cooling is one case study. Users: municipal planners, researchers, utilities.</a:t>
            </a:r>
          </a:p>
        </p:txBody>
      </p:sp>
    </p:spTree>
    <p:extLst>
      <p:ext uri="{BB962C8B-B14F-4D97-AF65-F5344CB8AC3E}">
        <p14:creationId xmlns:p14="http://schemas.microsoft.com/office/powerpoint/2010/main" val="1544669755"/>
      </p:ext>
    </p:extLst>
  </p:cSld>
</p:sld>
</file>

<file path=ppt/slides/slide2.xml><?xml version="1.0" encoding="utf-8"?>
<p:sld xmlns:p="http://schemas.openxmlformats.org/presentationml/2006/main">
  <p:cSld>
    <p:bg>
      <p:bgPr>
        <a:solidFill xmlns:a="http://schemas.openxmlformats.org/drawingml/2006/main">
          <a:srgbClr val="F9FAFB"/>
        </a:solidFill>
      </p:bgPr>
    </p:bg>
    <p:spTree>
      <p:nvGrpSpPr>
        <p:cNvPr id="1" name=""/>
        <p:cNvGrpSpPr/>
        <p:nvPr/>
      </p:nvGrpSpPr>
      <p:grpSpPr>
        <a:xfrm xmlns:a="http://schemas.openxmlformats.org/drawingml/2006/main"/>
      </p:grpSpPr>
      <p:sp>
        <p:nvSpPr>
          <p:cNvPr id="58" name="">
            <a:extLst xmlns:a="http://schemas.openxmlformats.org/drawingml/2006/main">
              <a:ext uri="{FF2B5EF4-FFF2-40B4-BE49-F238E27FC236}">
                <a16:creationId xmlns:a16="http://schemas.microsoft.com/office/drawing/2014/main" id="{B9B97266-7375-4BCF-A36B-96A490AC5CF1}"/>
              </a:ext>
            </a:extLst>
          </p:cNvPr>
          <p:cNvSpPr>
            <a:spLocks xmlns:a="http://schemas.openxmlformats.org/drawingml/2006/main" noGrp="1"/>
          </p:cNvSpPr>
          <p:nvPr/>
        </p:nvSpPr>
        <p:spPr>
          <a:xfrm xmlns:a="http://schemas.openxmlformats.org/drawingml/2006/main">
            <a:off x="762000" y="342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050" b="0">
                <a:solidFill>
                  <a:srgbClr val="6B7280"/>
                </a:solidFill>
                <a:latin typeface="Arial"/>
                <a:ea typeface="Arial"/>
                <a:cs typeface="Arial"/>
              </a:defRPr>
            </a:pPr>
            <a:r>
              <a:rPr sz="1050" b="0">
                <a:solidFill>
                  <a:srgbClr val="6B7280"/>
                </a:solidFill>
                <a:latin typeface="Arial"/>
                <a:ea typeface="Arial"/>
                <a:cs typeface="Arial"/>
              </a:rPr>
              <a:t>E C O L L A T E R A L   /   C S C I  4 1 5 0  A 2</a:t>
            </a:r>
          </a:p>
        </p:txBody>
      </p:sp>
      <p:sp>
        <p:nvSpPr>
          <p:cNvPr id="2" name="">
            <a:extLst xmlns:a="http://schemas.openxmlformats.org/drawingml/2006/main">
              <a:ext uri="{FF2B5EF4-FFF2-40B4-BE49-F238E27FC236}">
                <a16:creationId xmlns:a16="http://schemas.microsoft.com/office/drawing/2014/main" id="{7210FD32-CCA7-403C-9F7E-0D846F3EF82A}"/>
              </a:ext>
            </a:extLst>
          </p:cNvPr>
          <p:cNvSpPr>
            <a:spLocks xmlns:a="http://schemas.openxmlformats.org/drawingml/2006/main" noGrp="1"/>
          </p:cNvSpPr>
          <p:nvPr/>
        </p:nvSpPr>
        <p:spPr>
          <a:xfrm xmlns:a="http://schemas.openxmlformats.org/drawingml/2006/main">
            <a:off x="628650" y="885825"/>
            <a:ext cx="14288" cy="981075"/>
          </a:xfrm>
          <a:prstGeom xmlns:a="http://schemas.openxmlformats.org/drawingml/2006/main" prst="rect">
            <a:avLst/>
          </a:prstGeom>
          <a:solidFill xmlns:a="http://schemas.openxmlformats.org/drawingml/2006/main">
            <a:srgbClr val="111827"/>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90809D9-C3FC-4940-8316-66782F601CD9}"/>
              </a:ext>
            </a:extLst>
          </p:cNvPr>
          <p:cNvSpPr>
            <a:spLocks xmlns:a="http://schemas.openxmlformats.org/drawingml/2006/main" noGrp="1"/>
          </p:cNvSpPr>
          <p:nvPr/>
        </p:nvSpPr>
        <p:spPr>
          <a:xfrm xmlns:a="http://schemas.openxmlformats.org/drawingml/2006/main">
            <a:off x="809625" y="866775"/>
            <a:ext cx="10525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225" b="0">
                <a:solidFill>
                  <a:srgbClr val="111827"/>
                </a:solidFill>
                <a:latin typeface="Georgia"/>
                <a:ea typeface="Georgia"/>
                <a:cs typeface="Georgia"/>
              </a:defRPr>
            </a:pPr>
            <a:r>
              <a:rPr sz="3225" b="0">
                <a:solidFill>
                  <a:srgbClr val="111827"/>
                </a:solidFill>
                <a:latin typeface="Georgia"/>
                <a:ea typeface="Georgia"/>
                <a:cs typeface="Georgia"/>
              </a:rPr>
              <a:t>SEMANTIC MAP: CURRENT SYSTEM</a:t>
            </a:r>
          </a:p>
        </p:txBody>
      </p:sp>
      <p:sp>
        <p:nvSpPr>
          <p:cNvPr id="4" name="">
            <a:extLst xmlns:a="http://schemas.openxmlformats.org/drawingml/2006/main">
              <a:ext uri="{FF2B5EF4-FFF2-40B4-BE49-F238E27FC236}">
                <a16:creationId xmlns:a16="http://schemas.microsoft.com/office/drawing/2014/main" id="{601CA5A5-27EC-4F8F-8249-B96AF0AA4A3F}"/>
              </a:ext>
            </a:extLst>
          </p:cNvPr>
          <p:cNvSpPr>
            <a:spLocks xmlns:a="http://schemas.openxmlformats.org/drawingml/2006/main" noGrp="1"/>
          </p:cNvSpPr>
          <p:nvPr/>
        </p:nvSpPr>
        <p:spPr>
          <a:xfrm xmlns:a="http://schemas.openxmlformats.org/drawingml/2006/main">
            <a:off x="762000" y="6324600"/>
            <a:ext cx="10191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975" b="0">
                <a:solidFill>
                  <a:srgbClr val="6B7280"/>
                </a:solidFill>
                <a:latin typeface="Arial"/>
                <a:ea typeface="Arial"/>
                <a:cs typeface="Arial"/>
              </a:defRPr>
            </a:pPr>
            <a:r>
              <a:rPr sz="975" b="0">
                <a:solidFill>
                  <a:srgbClr val="6B7280"/>
                </a:solidFill>
                <a:latin typeface="Arial"/>
                <a:ea typeface="Arial"/>
                <a:cs typeface="Arial"/>
              </a:rPr>
              <a:t>Evidence: E3/E4: constraint-failure-cases.json; retrieval-cases.json | Diagram shows current prototype</a:t>
            </a:r>
          </a:p>
        </p:txBody>
      </p:sp>
      <p:sp>
        <p:nvSpPr>
          <p:cNvPr id="5" name="">
            <a:extLst xmlns:a="http://schemas.openxmlformats.org/drawingml/2006/main">
              <a:ext uri="{FF2B5EF4-FFF2-40B4-BE49-F238E27FC236}">
                <a16:creationId xmlns:a16="http://schemas.microsoft.com/office/drawing/2014/main" id="{840AE70F-F351-498C-9CF8-43C671C118A8}"/>
              </a:ext>
            </a:extLst>
          </p:cNvPr>
          <p:cNvSpPr>
            <a:spLocks xmlns:a="http://schemas.openxmlformats.org/drawingml/2006/main" noGrp="1"/>
          </p:cNvSpPr>
          <p:nvPr/>
        </p:nvSpPr>
        <p:spPr>
          <a:xfrm xmlns:a="http://schemas.openxmlformats.org/drawingml/2006/main">
            <a:off x="11239500" y="632460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050" b="0">
                <a:solidFill>
                  <a:srgbClr val="6B7280"/>
                </a:solidFill>
                <a:latin typeface="Arial"/>
                <a:ea typeface="Arial"/>
                <a:cs typeface="Arial"/>
              </a:defRPr>
            </a:pPr>
            <a:r>
              <a:rPr sz="1050" b="0">
                <a:solidFill>
                  <a:srgbClr val="6B7280"/>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691374C7-0F8E-46DE-B74D-C4DCAC53C858}"/>
              </a:ext>
            </a:extLst>
          </p:cNvPr>
          <p:cNvSpPr>
            <a:spLocks xmlns:a="http://schemas.openxmlformats.org/drawingml/2006/main" noGrp="1"/>
          </p:cNvSpPr>
          <p:nvPr/>
        </p:nvSpPr>
        <p:spPr>
          <a:xfrm xmlns:a="http://schemas.openxmlformats.org/drawingml/2006/main">
            <a:off x="762000" y="2200275"/>
            <a:ext cx="108108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650" b="0">
                <a:solidFill>
                  <a:srgbClr val="111827"/>
                </a:solidFill>
                <a:latin typeface="Arial"/>
                <a:ea typeface="Arial"/>
                <a:cs typeface="Arial"/>
              </a:defRPr>
            </a:pPr>
            <a:r>
              <a:rPr sz="1650" b="0">
                <a:solidFill>
                  <a:srgbClr val="111827"/>
                </a:solidFill>
                <a:latin typeface="Arial"/>
                <a:ea typeface="Arial"/>
                <a:cs typeface="Arial"/>
              </a:rPr>
              <a:t>Current API example: IT size, cooling type, watershed (HUC8), month; coordinates optional</a:t>
            </a:r>
          </a:p>
        </p:txBody>
      </p:sp>
      <p:sp>
        <p:nvSpPr>
          <p:cNvPr id="7" name="">
            <a:extLst xmlns:a="http://schemas.openxmlformats.org/drawingml/2006/main">
              <a:ext uri="{FF2B5EF4-FFF2-40B4-BE49-F238E27FC236}">
                <a16:creationId xmlns:a16="http://schemas.microsoft.com/office/drawing/2014/main" id="{8CA5B2CB-39B4-406B-BBA1-33CF1F173A62}"/>
              </a:ext>
            </a:extLst>
          </p:cNvPr>
          <p:cNvSpPr>
            <a:spLocks xmlns:a="http://schemas.openxmlformats.org/drawingml/2006/main" noGrp="1"/>
          </p:cNvSpPr>
          <p:nvPr/>
        </p:nvSpPr>
        <p:spPr>
          <a:xfrm xmlns:a="http://schemas.openxmlformats.org/drawingml/2006/main">
            <a:off x="762000" y="3000375"/>
            <a:ext cx="1809750" cy="1028700"/>
          </a:xfrm>
          <a:prstGeom xmlns:a="http://schemas.openxmlformats.org/drawingml/2006/main" prst="rect">
            <a:avLst/>
          </a:prstGeom>
          <a:noFill xmlns:a="http://schemas.openxmlformats.org/drawingml/2006/main"/>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E9CF199-FC74-43C6-9FAF-39E8638FDB78}"/>
              </a:ext>
            </a:extLst>
          </p:cNvPr>
          <p:cNvSpPr>
            <a:spLocks xmlns:a="http://schemas.openxmlformats.org/drawingml/2006/main" noGrp="1"/>
          </p:cNvSpPr>
          <p:nvPr/>
        </p:nvSpPr>
        <p:spPr>
          <a:xfrm xmlns:a="http://schemas.openxmlformats.org/drawingml/2006/main">
            <a:off x="762000" y="3000375"/>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111827"/>
                </a:solidFill>
                <a:latin typeface="Arial"/>
                <a:ea typeface="Arial"/>
                <a:cs typeface="Arial"/>
              </a:defRPr>
            </a:pPr>
            <a:r>
              <a:rPr sz="1500" b="0">
                <a:solidFill>
                  <a:srgbClr val="111827"/>
                </a:solidFill>
                <a:latin typeface="Arial"/>
                <a:ea typeface="Arial"/>
                <a:cs typeface="Arial"/>
              </a:rPr>
              <a:t>PUBLIC DATA</a:t>
            </a:r>
          </a:p>
        </p:txBody>
      </p:sp>
      <p:sp>
        <p:nvSpPr>
          <p:cNvPr id="9" name="">
            <a:extLst xmlns:a="http://schemas.openxmlformats.org/drawingml/2006/main">
              <a:ext uri="{FF2B5EF4-FFF2-40B4-BE49-F238E27FC236}">
                <a16:creationId xmlns:a16="http://schemas.microsoft.com/office/drawing/2014/main" id="{ABD280D5-6F5B-4EC6-8551-AC22112D2F6E}"/>
              </a:ext>
            </a:extLst>
          </p:cNvPr>
          <p:cNvSpPr>
            <a:spLocks xmlns:a="http://schemas.openxmlformats.org/drawingml/2006/main" noGrp="1"/>
          </p:cNvSpPr>
          <p:nvPr/>
        </p:nvSpPr>
        <p:spPr>
          <a:xfrm xmlns:a="http://schemas.openxmlformats.org/drawingml/2006/main">
            <a:off x="762000" y="3343275"/>
            <a:ext cx="1809750"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4EAB915-AB61-4C18-9EE7-471B5F48D755}"/>
              </a:ext>
            </a:extLst>
          </p:cNvPr>
          <p:cNvSpPr>
            <a:spLocks xmlns:a="http://schemas.openxmlformats.org/drawingml/2006/main" noGrp="1"/>
          </p:cNvSpPr>
          <p:nvPr/>
        </p:nvSpPr>
        <p:spPr>
          <a:xfrm xmlns:a="http://schemas.openxmlformats.org/drawingml/2006/main">
            <a:off x="762000" y="3467100"/>
            <a:ext cx="1809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USGS / NOAA</a:t>
            </a:r>
          </a:p>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units + dates</a:t>
            </a:r>
          </a:p>
        </p:txBody>
      </p:sp>
      <p:sp>
        <p:nvSpPr>
          <p:cNvPr id="11" name="">
            <a:extLst xmlns:a="http://schemas.openxmlformats.org/drawingml/2006/main">
              <a:ext uri="{FF2B5EF4-FFF2-40B4-BE49-F238E27FC236}">
                <a16:creationId xmlns:a16="http://schemas.microsoft.com/office/drawing/2014/main" id="{FAD2A5FC-7F47-4589-9214-421333BB981C}"/>
              </a:ext>
            </a:extLst>
          </p:cNvPr>
          <p:cNvSpPr>
            <a:spLocks xmlns:a="http://schemas.openxmlformats.org/drawingml/2006/main" noGrp="1"/>
          </p:cNvSpPr>
          <p:nvPr/>
        </p:nvSpPr>
        <p:spPr>
          <a:xfrm xmlns:a="http://schemas.openxmlformats.org/drawingml/2006/main">
            <a:off x="2981325" y="3000375"/>
            <a:ext cx="1809750" cy="1028700"/>
          </a:xfrm>
          <a:prstGeom xmlns:a="http://schemas.openxmlformats.org/drawingml/2006/main" prst="rect">
            <a:avLst/>
          </a:prstGeom>
          <a:noFill xmlns:a="http://schemas.openxmlformats.org/drawingml/2006/main"/>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0840932-B375-4C72-9E10-C4C899C880BB}"/>
              </a:ext>
            </a:extLst>
          </p:cNvPr>
          <p:cNvSpPr>
            <a:spLocks xmlns:a="http://schemas.openxmlformats.org/drawingml/2006/main" noGrp="1"/>
          </p:cNvSpPr>
          <p:nvPr/>
        </p:nvSpPr>
        <p:spPr>
          <a:xfrm xmlns:a="http://schemas.openxmlformats.org/drawingml/2006/main">
            <a:off x="2981325" y="3000375"/>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111827"/>
                </a:solidFill>
                <a:latin typeface="Arial"/>
                <a:ea typeface="Arial"/>
                <a:cs typeface="Arial"/>
              </a:defRPr>
            </a:pPr>
            <a:r>
              <a:rPr sz="1500" b="0">
                <a:solidFill>
                  <a:srgbClr val="111827"/>
                </a:solidFill>
                <a:latin typeface="Arial"/>
                <a:ea typeface="Arial"/>
                <a:cs typeface="Arial"/>
              </a:rPr>
              <a:t>6 INPUTS</a:t>
            </a:r>
          </a:p>
        </p:txBody>
      </p:sp>
      <p:sp>
        <p:nvSpPr>
          <p:cNvPr id="13" name="">
            <a:extLst xmlns:a="http://schemas.openxmlformats.org/drawingml/2006/main">
              <a:ext uri="{FF2B5EF4-FFF2-40B4-BE49-F238E27FC236}">
                <a16:creationId xmlns:a16="http://schemas.microsoft.com/office/drawing/2014/main" id="{FBB6C2AD-1B94-42A6-B3EF-73AB453A1305}"/>
              </a:ext>
            </a:extLst>
          </p:cNvPr>
          <p:cNvSpPr>
            <a:spLocks xmlns:a="http://schemas.openxmlformats.org/drawingml/2006/main" noGrp="1"/>
          </p:cNvSpPr>
          <p:nvPr/>
        </p:nvSpPr>
        <p:spPr>
          <a:xfrm xmlns:a="http://schemas.openxmlformats.org/drawingml/2006/main">
            <a:off x="2981325" y="3343275"/>
            <a:ext cx="1809750"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09980AC-31F8-4A2C-B3BC-52B4E971B58C}"/>
              </a:ext>
            </a:extLst>
          </p:cNvPr>
          <p:cNvSpPr>
            <a:spLocks xmlns:a="http://schemas.openxmlformats.org/drawingml/2006/main" noGrp="1"/>
          </p:cNvSpPr>
          <p:nvPr/>
        </p:nvSpPr>
        <p:spPr>
          <a:xfrm xmlns:a="http://schemas.openxmlformats.org/drawingml/2006/main">
            <a:off x="2981325" y="3467100"/>
            <a:ext cx="1809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size, dry/wet C</a:t>
            </a:r>
          </a:p>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flow, PDSI, season</a:t>
            </a:r>
          </a:p>
        </p:txBody>
      </p:sp>
      <p:sp>
        <p:nvSpPr>
          <p:cNvPr id="15" name="">
            <a:extLst xmlns:a="http://schemas.openxmlformats.org/drawingml/2006/main">
              <a:ext uri="{FF2B5EF4-FFF2-40B4-BE49-F238E27FC236}">
                <a16:creationId xmlns:a16="http://schemas.microsoft.com/office/drawing/2014/main" id="{21EB9669-E970-43F1-B3FD-943004D10C4A}"/>
              </a:ext>
            </a:extLst>
          </p:cNvPr>
          <p:cNvSpPr>
            <a:spLocks xmlns:a="http://schemas.openxmlformats.org/drawingml/2006/main" noGrp="1"/>
          </p:cNvSpPr>
          <p:nvPr/>
        </p:nvSpPr>
        <p:spPr>
          <a:xfrm xmlns:a="http://schemas.openxmlformats.org/drawingml/2006/main">
            <a:off x="5200650" y="3000375"/>
            <a:ext cx="1809750" cy="1028700"/>
          </a:xfrm>
          <a:prstGeom xmlns:a="http://schemas.openxmlformats.org/drawingml/2006/main" prst="rect">
            <a:avLst/>
          </a:prstGeom>
          <a:noFill xmlns:a="http://schemas.openxmlformats.org/drawingml/2006/main"/>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C6701F1-20C6-4E26-8574-0BAD53DC74ED}"/>
              </a:ext>
            </a:extLst>
          </p:cNvPr>
          <p:cNvSpPr>
            <a:spLocks xmlns:a="http://schemas.openxmlformats.org/drawingml/2006/main" noGrp="1"/>
          </p:cNvSpPr>
          <p:nvPr/>
        </p:nvSpPr>
        <p:spPr>
          <a:xfrm xmlns:a="http://schemas.openxmlformats.org/drawingml/2006/main">
            <a:off x="5200650" y="3000375"/>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111827"/>
                </a:solidFill>
                <a:latin typeface="Arial"/>
                <a:ea typeface="Arial"/>
                <a:cs typeface="Arial"/>
              </a:defRPr>
            </a:pPr>
            <a:r>
              <a:rPr sz="1500" b="0">
                <a:solidFill>
                  <a:srgbClr val="111827"/>
                </a:solidFill>
                <a:latin typeface="Arial"/>
                <a:ea typeface="Arial"/>
                <a:cs typeface="Arial"/>
              </a:rPr>
              <a:t>AI MODEL</a:t>
            </a:r>
          </a:p>
        </p:txBody>
      </p:sp>
      <p:sp>
        <p:nvSpPr>
          <p:cNvPr id="17" name="">
            <a:extLst xmlns:a="http://schemas.openxmlformats.org/drawingml/2006/main">
              <a:ext uri="{FF2B5EF4-FFF2-40B4-BE49-F238E27FC236}">
                <a16:creationId xmlns:a16="http://schemas.microsoft.com/office/drawing/2014/main" id="{6CE0162A-BDFE-4AD9-A5FA-A6D74541BC69}"/>
              </a:ext>
            </a:extLst>
          </p:cNvPr>
          <p:cNvSpPr>
            <a:spLocks xmlns:a="http://schemas.openxmlformats.org/drawingml/2006/main" noGrp="1"/>
          </p:cNvSpPr>
          <p:nvPr/>
        </p:nvSpPr>
        <p:spPr>
          <a:xfrm xmlns:a="http://schemas.openxmlformats.org/drawingml/2006/main">
            <a:off x="5200650" y="3343275"/>
            <a:ext cx="1809750"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CCBDDC4-F684-44D1-91DF-72E7B764393E}"/>
              </a:ext>
            </a:extLst>
          </p:cNvPr>
          <p:cNvSpPr>
            <a:spLocks xmlns:a="http://schemas.openxmlformats.org/drawingml/2006/main" noGrp="1"/>
          </p:cNvSpPr>
          <p:nvPr/>
        </p:nvSpPr>
        <p:spPr>
          <a:xfrm xmlns:a="http://schemas.openxmlformats.org/drawingml/2006/main">
            <a:off x="5200650" y="3467100"/>
            <a:ext cx="1809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RF / XGBoost</a:t>
            </a:r>
          </a:p>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cooling-use target</a:t>
            </a:r>
          </a:p>
        </p:txBody>
      </p:sp>
      <p:sp>
        <p:nvSpPr>
          <p:cNvPr id="19" name="">
            <a:extLst xmlns:a="http://schemas.openxmlformats.org/drawingml/2006/main">
              <a:ext uri="{FF2B5EF4-FFF2-40B4-BE49-F238E27FC236}">
                <a16:creationId xmlns:a16="http://schemas.microsoft.com/office/drawing/2014/main" id="{5BE5EBAC-3BFB-4443-AAC5-6103D71884E0}"/>
              </a:ext>
            </a:extLst>
          </p:cNvPr>
          <p:cNvSpPr>
            <a:spLocks xmlns:a="http://schemas.openxmlformats.org/drawingml/2006/main" noGrp="1"/>
          </p:cNvSpPr>
          <p:nvPr/>
        </p:nvSpPr>
        <p:spPr>
          <a:xfrm xmlns:a="http://schemas.openxmlformats.org/drawingml/2006/main">
            <a:off x="7419975" y="3000375"/>
            <a:ext cx="1809750" cy="1028700"/>
          </a:xfrm>
          <a:prstGeom xmlns:a="http://schemas.openxmlformats.org/drawingml/2006/main" prst="rect">
            <a:avLst/>
          </a:prstGeom>
          <a:noFill xmlns:a="http://schemas.openxmlformats.org/drawingml/2006/main"/>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34AD6466-7840-4C50-8E33-17681C23F758}"/>
              </a:ext>
            </a:extLst>
          </p:cNvPr>
          <p:cNvSpPr>
            <a:spLocks xmlns:a="http://schemas.openxmlformats.org/drawingml/2006/main" noGrp="1"/>
          </p:cNvSpPr>
          <p:nvPr/>
        </p:nvSpPr>
        <p:spPr>
          <a:xfrm xmlns:a="http://schemas.openxmlformats.org/drawingml/2006/main">
            <a:off x="7419975" y="3000375"/>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111827"/>
                </a:solidFill>
                <a:latin typeface="Arial"/>
                <a:ea typeface="Arial"/>
                <a:cs typeface="Arial"/>
              </a:defRPr>
            </a:pPr>
            <a:r>
              <a:rPr sz="1500" b="0">
                <a:solidFill>
                  <a:srgbClr val="111827"/>
                </a:solidFill>
                <a:latin typeface="Arial"/>
                <a:ea typeface="Arial"/>
                <a:cs typeface="Arial"/>
              </a:rPr>
              <a:t>HEAT RULES</a:t>
            </a:r>
          </a:p>
        </p:txBody>
      </p:sp>
      <p:sp>
        <p:nvSpPr>
          <p:cNvPr id="21" name="">
            <a:extLst xmlns:a="http://schemas.openxmlformats.org/drawingml/2006/main">
              <a:ext uri="{FF2B5EF4-FFF2-40B4-BE49-F238E27FC236}">
                <a16:creationId xmlns:a16="http://schemas.microsoft.com/office/drawing/2014/main" id="{1AE90DE5-6987-48A7-92CA-4219F3728E2D}"/>
              </a:ext>
            </a:extLst>
          </p:cNvPr>
          <p:cNvSpPr>
            <a:spLocks xmlns:a="http://schemas.openxmlformats.org/drawingml/2006/main" noGrp="1"/>
          </p:cNvSpPr>
          <p:nvPr/>
        </p:nvSpPr>
        <p:spPr>
          <a:xfrm xmlns:a="http://schemas.openxmlformats.org/drawingml/2006/main">
            <a:off x="7419975" y="3343275"/>
            <a:ext cx="1809750"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F2EA4EC-754F-42C5-A6DB-A9D497331614}"/>
              </a:ext>
            </a:extLst>
          </p:cNvPr>
          <p:cNvSpPr>
            <a:spLocks xmlns:a="http://schemas.openxmlformats.org/drawingml/2006/main" noGrp="1"/>
          </p:cNvSpPr>
          <p:nvPr/>
        </p:nvSpPr>
        <p:spPr>
          <a:xfrm xmlns:a="http://schemas.openxmlformats.org/drawingml/2006/main">
            <a:off x="7419975" y="3467100"/>
            <a:ext cx="1809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PUE + heat rules</a:t>
            </a:r>
          </a:p>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limits + warnings</a:t>
            </a:r>
          </a:p>
        </p:txBody>
      </p:sp>
      <p:sp>
        <p:nvSpPr>
          <p:cNvPr id="23" name="">
            <a:extLst xmlns:a="http://schemas.openxmlformats.org/drawingml/2006/main">
              <a:ext uri="{FF2B5EF4-FFF2-40B4-BE49-F238E27FC236}">
                <a16:creationId xmlns:a16="http://schemas.microsoft.com/office/drawing/2014/main" id="{6006F569-E32F-43AB-B9DF-CEA4BED73369}"/>
              </a:ext>
            </a:extLst>
          </p:cNvPr>
          <p:cNvSpPr>
            <a:spLocks xmlns:a="http://schemas.openxmlformats.org/drawingml/2006/main" noGrp="1"/>
          </p:cNvSpPr>
          <p:nvPr/>
        </p:nvSpPr>
        <p:spPr>
          <a:xfrm xmlns:a="http://schemas.openxmlformats.org/drawingml/2006/main">
            <a:off x="9639300" y="3000375"/>
            <a:ext cx="1809750" cy="1028700"/>
          </a:xfrm>
          <a:prstGeom xmlns:a="http://schemas.openxmlformats.org/drawingml/2006/main" prst="rect">
            <a:avLst/>
          </a:prstGeom>
          <a:noFill xmlns:a="http://schemas.openxmlformats.org/drawingml/2006/main"/>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8A78DA04-107E-4E21-83FD-E456365CAECB}"/>
              </a:ext>
            </a:extLst>
          </p:cNvPr>
          <p:cNvSpPr>
            <a:spLocks xmlns:a="http://schemas.openxmlformats.org/drawingml/2006/main" noGrp="1"/>
          </p:cNvSpPr>
          <p:nvPr/>
        </p:nvSpPr>
        <p:spPr>
          <a:xfrm xmlns:a="http://schemas.openxmlformats.org/drawingml/2006/main">
            <a:off x="9639300" y="3000375"/>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111827"/>
                </a:solidFill>
                <a:latin typeface="Arial"/>
                <a:ea typeface="Arial"/>
                <a:cs typeface="Arial"/>
              </a:defRPr>
            </a:pPr>
            <a:r>
              <a:rPr sz="1500" b="0">
                <a:solidFill>
                  <a:srgbClr val="111827"/>
                </a:solidFill>
                <a:latin typeface="Arial"/>
                <a:ea typeface="Arial"/>
                <a:cs typeface="Arial"/>
              </a:rPr>
              <a:t>RESPONSE</a:t>
            </a:r>
          </a:p>
        </p:txBody>
      </p:sp>
      <p:sp>
        <p:nvSpPr>
          <p:cNvPr id="25" name="">
            <a:extLst xmlns:a="http://schemas.openxmlformats.org/drawingml/2006/main">
              <a:ext uri="{FF2B5EF4-FFF2-40B4-BE49-F238E27FC236}">
                <a16:creationId xmlns:a16="http://schemas.microsoft.com/office/drawing/2014/main" id="{A88062E9-8C3D-4A0D-AAAF-D5B603C006D3}"/>
              </a:ext>
            </a:extLst>
          </p:cNvPr>
          <p:cNvSpPr>
            <a:spLocks xmlns:a="http://schemas.openxmlformats.org/drawingml/2006/main" noGrp="1"/>
          </p:cNvSpPr>
          <p:nvPr/>
        </p:nvSpPr>
        <p:spPr>
          <a:xfrm xmlns:a="http://schemas.openxmlformats.org/drawingml/2006/main">
            <a:off x="9639300" y="3343275"/>
            <a:ext cx="1809750"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BA5CD508-9640-4C4F-8F6D-CD3B319CB58A}"/>
              </a:ext>
            </a:extLst>
          </p:cNvPr>
          <p:cNvSpPr>
            <a:spLocks xmlns:a="http://schemas.openxmlformats.org/drawingml/2006/main" noGrp="1"/>
          </p:cNvSpPr>
          <p:nvPr/>
        </p:nvSpPr>
        <p:spPr>
          <a:xfrm xmlns:a="http://schemas.openxmlformats.org/drawingml/2006/main">
            <a:off x="9639300" y="3467100"/>
            <a:ext cx="1809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MGD + range</a:t>
            </a:r>
          </a:p>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limits + warnings</a:t>
            </a:r>
          </a:p>
        </p:txBody>
      </p:sp>
      <p:sp>
        <p:nvSpPr>
          <p:cNvPr id="27" name="">
            <a:extLst xmlns:a="http://schemas.openxmlformats.org/drawingml/2006/main">
              <a:ext uri="{FF2B5EF4-FFF2-40B4-BE49-F238E27FC236}">
                <a16:creationId xmlns:a16="http://schemas.microsoft.com/office/drawing/2014/main" id="{CE0A5FDA-62C0-40C1-BD6B-2E58E58470EC}"/>
              </a:ext>
            </a:extLst>
          </p:cNvPr>
          <p:cNvSpPr>
            <a:spLocks xmlns:a="http://schemas.openxmlformats.org/drawingml/2006/main" noGrp="1"/>
          </p:cNvSpPr>
          <p:nvPr/>
        </p:nvSpPr>
        <p:spPr>
          <a:xfrm xmlns:a="http://schemas.openxmlformats.org/drawingml/2006/main">
            <a:off x="762000" y="4429125"/>
            <a:ext cx="1809750" cy="1028700"/>
          </a:xfrm>
          <a:prstGeom xmlns:a="http://schemas.openxmlformats.org/drawingml/2006/main" prst="rect">
            <a:avLst/>
          </a:prstGeom>
          <a:noFill xmlns:a="http://schemas.openxmlformats.org/drawingml/2006/main"/>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B5961B65-4EC4-4486-A750-61DE09D64857}"/>
              </a:ext>
            </a:extLst>
          </p:cNvPr>
          <p:cNvSpPr>
            <a:spLocks xmlns:a="http://schemas.openxmlformats.org/drawingml/2006/main" noGrp="1"/>
          </p:cNvSpPr>
          <p:nvPr/>
        </p:nvSpPr>
        <p:spPr>
          <a:xfrm xmlns:a="http://schemas.openxmlformats.org/drawingml/2006/main">
            <a:off x="762000" y="4429125"/>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111827"/>
                </a:solidFill>
                <a:latin typeface="Arial"/>
                <a:ea typeface="Arial"/>
                <a:cs typeface="Arial"/>
              </a:defRPr>
            </a:pPr>
            <a:r>
              <a:rPr sz="1500" b="0">
                <a:solidFill>
                  <a:srgbClr val="111827"/>
                </a:solidFill>
                <a:latin typeface="Arial"/>
                <a:ea typeface="Arial"/>
                <a:cs typeface="Arial"/>
              </a:rPr>
              <a:t>PERMIT TEXT</a:t>
            </a:r>
          </a:p>
        </p:txBody>
      </p:sp>
      <p:sp>
        <p:nvSpPr>
          <p:cNvPr id="29" name="">
            <a:extLst xmlns:a="http://schemas.openxmlformats.org/drawingml/2006/main">
              <a:ext uri="{FF2B5EF4-FFF2-40B4-BE49-F238E27FC236}">
                <a16:creationId xmlns:a16="http://schemas.microsoft.com/office/drawing/2014/main" id="{2AB9DF73-ACD8-4B2D-B7B9-D7FAC1C546F7}"/>
              </a:ext>
            </a:extLst>
          </p:cNvPr>
          <p:cNvSpPr>
            <a:spLocks xmlns:a="http://schemas.openxmlformats.org/drawingml/2006/main" noGrp="1"/>
          </p:cNvSpPr>
          <p:nvPr/>
        </p:nvSpPr>
        <p:spPr>
          <a:xfrm xmlns:a="http://schemas.openxmlformats.org/drawingml/2006/main">
            <a:off x="762000" y="4772025"/>
            <a:ext cx="1809750"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C6B9F415-3D48-4560-AD4E-AB0EBF20A26A}"/>
              </a:ext>
            </a:extLst>
          </p:cNvPr>
          <p:cNvSpPr>
            <a:spLocks xmlns:a="http://schemas.openxmlformats.org/drawingml/2006/main" noGrp="1"/>
          </p:cNvSpPr>
          <p:nvPr/>
        </p:nvSpPr>
        <p:spPr>
          <a:xfrm xmlns:a="http://schemas.openxmlformats.org/drawingml/2006/main">
            <a:off x="762000" y="4895850"/>
            <a:ext cx="1809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source + section</a:t>
            </a:r>
          </a:p>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original words</a:t>
            </a:r>
          </a:p>
        </p:txBody>
      </p:sp>
      <p:sp>
        <p:nvSpPr>
          <p:cNvPr id="31" name="">
            <a:extLst xmlns:a="http://schemas.openxmlformats.org/drawingml/2006/main">
              <a:ext uri="{FF2B5EF4-FFF2-40B4-BE49-F238E27FC236}">
                <a16:creationId xmlns:a16="http://schemas.microsoft.com/office/drawing/2014/main" id="{A828F906-DA08-476C-9B60-724C2B37489A}"/>
              </a:ext>
            </a:extLst>
          </p:cNvPr>
          <p:cNvSpPr>
            <a:spLocks xmlns:a="http://schemas.openxmlformats.org/drawingml/2006/main" noGrp="1"/>
          </p:cNvSpPr>
          <p:nvPr/>
        </p:nvSpPr>
        <p:spPr>
          <a:xfrm xmlns:a="http://schemas.openxmlformats.org/drawingml/2006/main">
            <a:off x="2981325" y="4429125"/>
            <a:ext cx="1809750" cy="1028700"/>
          </a:xfrm>
          <a:prstGeom xmlns:a="http://schemas.openxmlformats.org/drawingml/2006/main" prst="rect">
            <a:avLst/>
          </a:prstGeom>
          <a:noFill xmlns:a="http://schemas.openxmlformats.org/drawingml/2006/main"/>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5FC9EA8F-3D65-491A-AE2E-F626B94F6DB5}"/>
              </a:ext>
            </a:extLst>
          </p:cNvPr>
          <p:cNvSpPr>
            <a:spLocks xmlns:a="http://schemas.openxmlformats.org/drawingml/2006/main" noGrp="1"/>
          </p:cNvSpPr>
          <p:nvPr/>
        </p:nvSpPr>
        <p:spPr>
          <a:xfrm xmlns:a="http://schemas.openxmlformats.org/drawingml/2006/main">
            <a:off x="2981325" y="4429125"/>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111827"/>
                </a:solidFill>
                <a:latin typeface="Arial"/>
                <a:ea typeface="Arial"/>
                <a:cs typeface="Arial"/>
              </a:defRPr>
            </a:pPr>
            <a:r>
              <a:rPr sz="1500" b="0">
                <a:solidFill>
                  <a:srgbClr val="111827"/>
                </a:solidFill>
                <a:latin typeface="Arial"/>
                <a:ea typeface="Arial"/>
                <a:cs typeface="Arial"/>
              </a:rPr>
              <a:t>DOC INFO</a:t>
            </a:r>
          </a:p>
        </p:txBody>
      </p:sp>
      <p:sp>
        <p:nvSpPr>
          <p:cNvPr id="33" name="">
            <a:extLst xmlns:a="http://schemas.openxmlformats.org/drawingml/2006/main">
              <a:ext uri="{FF2B5EF4-FFF2-40B4-BE49-F238E27FC236}">
                <a16:creationId xmlns:a16="http://schemas.microsoft.com/office/drawing/2014/main" id="{ADF2F911-61FB-4A2D-A814-17B089533138}"/>
              </a:ext>
            </a:extLst>
          </p:cNvPr>
          <p:cNvSpPr>
            <a:spLocks xmlns:a="http://schemas.openxmlformats.org/drawingml/2006/main" noGrp="1"/>
          </p:cNvSpPr>
          <p:nvPr/>
        </p:nvSpPr>
        <p:spPr>
          <a:xfrm xmlns:a="http://schemas.openxmlformats.org/drawingml/2006/main">
            <a:off x="2981325" y="4772025"/>
            <a:ext cx="1809750"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5D811CE7-57B9-47A9-A583-8928811490CB}"/>
              </a:ext>
            </a:extLst>
          </p:cNvPr>
          <p:cNvSpPr>
            <a:spLocks xmlns:a="http://schemas.openxmlformats.org/drawingml/2006/main" noGrp="1"/>
          </p:cNvSpPr>
          <p:nvPr/>
        </p:nvSpPr>
        <p:spPr>
          <a:xfrm xmlns:a="http://schemas.openxmlformats.org/drawingml/2006/main">
            <a:off x="2981325" y="4895850"/>
            <a:ext cx="1809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HUC or radius</a:t>
            </a:r>
          </a:p>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source/section IDs</a:t>
            </a:r>
          </a:p>
        </p:txBody>
      </p:sp>
      <p:sp>
        <p:nvSpPr>
          <p:cNvPr id="35" name="">
            <a:extLst xmlns:a="http://schemas.openxmlformats.org/drawingml/2006/main">
              <a:ext uri="{FF2B5EF4-FFF2-40B4-BE49-F238E27FC236}">
                <a16:creationId xmlns:a16="http://schemas.microsoft.com/office/drawing/2014/main" id="{57A0067F-85D8-4248-A30F-0C72DC322F71}"/>
              </a:ext>
            </a:extLst>
          </p:cNvPr>
          <p:cNvSpPr>
            <a:spLocks xmlns:a="http://schemas.openxmlformats.org/drawingml/2006/main" noGrp="1"/>
          </p:cNvSpPr>
          <p:nvPr/>
        </p:nvSpPr>
        <p:spPr>
          <a:xfrm xmlns:a="http://schemas.openxmlformats.org/drawingml/2006/main">
            <a:off x="5200650" y="4429125"/>
            <a:ext cx="1809750" cy="1028700"/>
          </a:xfrm>
          <a:prstGeom xmlns:a="http://schemas.openxmlformats.org/drawingml/2006/main" prst="rect">
            <a:avLst/>
          </a:prstGeom>
          <a:noFill xmlns:a="http://schemas.openxmlformats.org/drawingml/2006/main"/>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373F6D18-410D-4D94-9E25-688C889939FE}"/>
              </a:ext>
            </a:extLst>
          </p:cNvPr>
          <p:cNvSpPr>
            <a:spLocks xmlns:a="http://schemas.openxmlformats.org/drawingml/2006/main" noGrp="1"/>
          </p:cNvSpPr>
          <p:nvPr/>
        </p:nvSpPr>
        <p:spPr>
          <a:xfrm xmlns:a="http://schemas.openxmlformats.org/drawingml/2006/main">
            <a:off x="5200650" y="4429125"/>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111827"/>
                </a:solidFill>
                <a:latin typeface="Arial"/>
                <a:ea typeface="Arial"/>
                <a:cs typeface="Arial"/>
              </a:defRPr>
            </a:pPr>
            <a:r>
              <a:rPr sz="1500" b="0">
                <a:solidFill>
                  <a:srgbClr val="111827"/>
                </a:solidFill>
                <a:latin typeface="Arial"/>
                <a:ea typeface="Arial"/>
                <a:cs typeface="Arial"/>
              </a:rPr>
              <a:t>WORD SEARCH</a:t>
            </a:r>
          </a:p>
        </p:txBody>
      </p:sp>
      <p:sp>
        <p:nvSpPr>
          <p:cNvPr id="37" name="">
            <a:extLst xmlns:a="http://schemas.openxmlformats.org/drawingml/2006/main">
              <a:ext uri="{FF2B5EF4-FFF2-40B4-BE49-F238E27FC236}">
                <a16:creationId xmlns:a16="http://schemas.microsoft.com/office/drawing/2014/main" id="{0CAEAA74-FA05-4FAB-89B0-9DADF296A209}"/>
              </a:ext>
            </a:extLst>
          </p:cNvPr>
          <p:cNvSpPr>
            <a:spLocks xmlns:a="http://schemas.openxmlformats.org/drawingml/2006/main" noGrp="1"/>
          </p:cNvSpPr>
          <p:nvPr/>
        </p:nvSpPr>
        <p:spPr>
          <a:xfrm xmlns:a="http://schemas.openxmlformats.org/drawingml/2006/main">
            <a:off x="5200650" y="4772025"/>
            <a:ext cx="1809750"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38" name="">
            <a:extLst xmlns:a="http://schemas.openxmlformats.org/drawingml/2006/main">
              <a:ext uri="{FF2B5EF4-FFF2-40B4-BE49-F238E27FC236}">
                <a16:creationId xmlns:a16="http://schemas.microsoft.com/office/drawing/2014/main" id="{4EF4DFEC-551E-43BB-BB52-E02CDBDB3A16}"/>
              </a:ext>
            </a:extLst>
          </p:cNvPr>
          <p:cNvSpPr>
            <a:spLocks xmlns:a="http://schemas.openxmlformats.org/drawingml/2006/main" noGrp="1"/>
          </p:cNvSpPr>
          <p:nvPr/>
        </p:nvSpPr>
        <p:spPr>
          <a:xfrm xmlns:a="http://schemas.openxmlformats.org/drawingml/2006/main">
            <a:off x="5200650" y="4895850"/>
            <a:ext cx="1809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TF-IDF / FAISS</a:t>
            </a:r>
          </a:p>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word-pair vectors</a:t>
            </a:r>
          </a:p>
        </p:txBody>
      </p:sp>
      <p:sp>
        <p:nvSpPr>
          <p:cNvPr id="39" name="">
            <a:extLst xmlns:a="http://schemas.openxmlformats.org/drawingml/2006/main">
              <a:ext uri="{FF2B5EF4-FFF2-40B4-BE49-F238E27FC236}">
                <a16:creationId xmlns:a16="http://schemas.microsoft.com/office/drawing/2014/main" id="{1B137963-80DA-4348-8881-EB3514C2CAE1}"/>
              </a:ext>
            </a:extLst>
          </p:cNvPr>
          <p:cNvSpPr>
            <a:spLocks xmlns:a="http://schemas.openxmlformats.org/drawingml/2006/main" noGrp="1"/>
          </p:cNvSpPr>
          <p:nvPr/>
        </p:nvSpPr>
        <p:spPr>
          <a:xfrm xmlns:a="http://schemas.openxmlformats.org/drawingml/2006/main">
            <a:off x="7419975" y="4429125"/>
            <a:ext cx="1809750" cy="1028700"/>
          </a:xfrm>
          <a:prstGeom xmlns:a="http://schemas.openxmlformats.org/drawingml/2006/main" prst="rect">
            <a:avLst/>
          </a:prstGeom>
          <a:noFill xmlns:a="http://schemas.openxmlformats.org/drawingml/2006/main"/>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C0B82702-58BA-42C1-8C40-DBA91F0D2E29}"/>
              </a:ext>
            </a:extLst>
          </p:cNvPr>
          <p:cNvSpPr>
            <a:spLocks xmlns:a="http://schemas.openxmlformats.org/drawingml/2006/main" noGrp="1"/>
          </p:cNvSpPr>
          <p:nvPr/>
        </p:nvSpPr>
        <p:spPr>
          <a:xfrm xmlns:a="http://schemas.openxmlformats.org/drawingml/2006/main">
            <a:off x="7419975" y="4429125"/>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111827"/>
                </a:solidFill>
                <a:latin typeface="Arial"/>
                <a:ea typeface="Arial"/>
                <a:cs typeface="Arial"/>
              </a:defRPr>
            </a:pPr>
            <a:r>
              <a:rPr sz="1500" b="0">
                <a:solidFill>
                  <a:srgbClr val="111827"/>
                </a:solidFill>
                <a:latin typeface="Arial"/>
                <a:ea typeface="Arial"/>
                <a:cs typeface="Arial"/>
              </a:rPr>
              <a:t>LOCATION</a:t>
            </a:r>
          </a:p>
        </p:txBody>
      </p:sp>
      <p:sp>
        <p:nvSpPr>
          <p:cNvPr id="41" name="">
            <a:extLst xmlns:a="http://schemas.openxmlformats.org/drawingml/2006/main">
              <a:ext uri="{FF2B5EF4-FFF2-40B4-BE49-F238E27FC236}">
                <a16:creationId xmlns:a16="http://schemas.microsoft.com/office/drawing/2014/main" id="{FF6313BF-F6F0-4EF0-99DD-1B9B71CBA759}"/>
              </a:ext>
            </a:extLst>
          </p:cNvPr>
          <p:cNvSpPr>
            <a:spLocks xmlns:a="http://schemas.openxmlformats.org/drawingml/2006/main" noGrp="1"/>
          </p:cNvSpPr>
          <p:nvPr/>
        </p:nvSpPr>
        <p:spPr>
          <a:xfrm xmlns:a="http://schemas.openxmlformats.org/drawingml/2006/main">
            <a:off x="7419975" y="4772025"/>
            <a:ext cx="1809750"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7AEA86F7-D441-403A-B76F-ED7BB1C74EE9}"/>
              </a:ext>
            </a:extLst>
          </p:cNvPr>
          <p:cNvSpPr>
            <a:spLocks xmlns:a="http://schemas.openxmlformats.org/drawingml/2006/main" noGrp="1"/>
          </p:cNvSpPr>
          <p:nvPr/>
        </p:nvSpPr>
        <p:spPr>
          <a:xfrm xmlns:a="http://schemas.openxmlformats.org/drawingml/2006/main">
            <a:off x="7419975" y="4895850"/>
            <a:ext cx="1809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HUC or radius</a:t>
            </a:r>
          </a:p>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keep eligible k</a:t>
            </a:r>
          </a:p>
        </p:txBody>
      </p:sp>
      <p:sp>
        <p:nvSpPr>
          <p:cNvPr id="43" name="">
            <a:extLst xmlns:a="http://schemas.openxmlformats.org/drawingml/2006/main">
              <a:ext uri="{FF2B5EF4-FFF2-40B4-BE49-F238E27FC236}">
                <a16:creationId xmlns:a16="http://schemas.microsoft.com/office/drawing/2014/main" id="{9AD8C8E1-9A99-4B05-B302-0B3BBB9A2A1C}"/>
              </a:ext>
            </a:extLst>
          </p:cNvPr>
          <p:cNvSpPr>
            <a:spLocks xmlns:a="http://schemas.openxmlformats.org/drawingml/2006/main" noGrp="1"/>
          </p:cNvSpPr>
          <p:nvPr/>
        </p:nvSpPr>
        <p:spPr>
          <a:xfrm xmlns:a="http://schemas.openxmlformats.org/drawingml/2006/main">
            <a:off x="9639300" y="4429125"/>
            <a:ext cx="1809750" cy="1028700"/>
          </a:xfrm>
          <a:prstGeom xmlns:a="http://schemas.openxmlformats.org/drawingml/2006/main" prst="rect">
            <a:avLst/>
          </a:prstGeom>
          <a:noFill xmlns:a="http://schemas.openxmlformats.org/drawingml/2006/main"/>
          <a:ln xmlns:a="http://schemas.openxmlformats.org/drawingml/2006/main" w="0">
            <a:noFill/>
          </a:ln>
        </p:spPr>
      </p:sp>
      <p:sp>
        <p:nvSpPr>
          <p:cNvPr id="44" name="">
            <a:extLst xmlns:a="http://schemas.openxmlformats.org/drawingml/2006/main">
              <a:ext uri="{FF2B5EF4-FFF2-40B4-BE49-F238E27FC236}">
                <a16:creationId xmlns:a16="http://schemas.microsoft.com/office/drawing/2014/main" id="{50D2E758-38E8-4B4B-855E-C8DC5C6D94EC}"/>
              </a:ext>
            </a:extLst>
          </p:cNvPr>
          <p:cNvSpPr>
            <a:spLocks xmlns:a="http://schemas.openxmlformats.org/drawingml/2006/main" noGrp="1"/>
          </p:cNvSpPr>
          <p:nvPr/>
        </p:nvSpPr>
        <p:spPr>
          <a:xfrm xmlns:a="http://schemas.openxmlformats.org/drawingml/2006/main">
            <a:off x="9639300" y="4429125"/>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111827"/>
                </a:solidFill>
                <a:latin typeface="Arial"/>
                <a:ea typeface="Arial"/>
                <a:cs typeface="Arial"/>
              </a:defRPr>
            </a:pPr>
            <a:r>
              <a:rPr sz="1500" b="0">
                <a:solidFill>
                  <a:srgbClr val="111827"/>
                </a:solidFill>
                <a:latin typeface="Arial"/>
                <a:ea typeface="Arial"/>
                <a:cs typeface="Arial"/>
              </a:rPr>
              <a:t>QUOTES</a:t>
            </a:r>
          </a:p>
        </p:txBody>
      </p:sp>
      <p:sp>
        <p:nvSpPr>
          <p:cNvPr id="45" name="">
            <a:extLst xmlns:a="http://schemas.openxmlformats.org/drawingml/2006/main">
              <a:ext uri="{FF2B5EF4-FFF2-40B4-BE49-F238E27FC236}">
                <a16:creationId xmlns:a16="http://schemas.microsoft.com/office/drawing/2014/main" id="{F6ECA1B1-CF94-4A3D-AC0B-8E512351F89A}"/>
              </a:ext>
            </a:extLst>
          </p:cNvPr>
          <p:cNvSpPr>
            <a:spLocks xmlns:a="http://schemas.openxmlformats.org/drawingml/2006/main" noGrp="1"/>
          </p:cNvSpPr>
          <p:nvPr/>
        </p:nvSpPr>
        <p:spPr>
          <a:xfrm xmlns:a="http://schemas.openxmlformats.org/drawingml/2006/main">
            <a:off x="9639300" y="4772025"/>
            <a:ext cx="1809750"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3DC9FE79-39AF-4231-AB1E-6D9A0B3C8080}"/>
              </a:ext>
            </a:extLst>
          </p:cNvPr>
          <p:cNvSpPr>
            <a:spLocks xmlns:a="http://schemas.openxmlformats.org/drawingml/2006/main" noGrp="1"/>
          </p:cNvSpPr>
          <p:nvPr/>
        </p:nvSpPr>
        <p:spPr>
          <a:xfrm xmlns:a="http://schemas.openxmlformats.org/drawingml/2006/main">
            <a:off x="9639300" y="4895850"/>
            <a:ext cx="1809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source + section</a:t>
            </a:r>
          </a:p>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exact quotations</a:t>
            </a:r>
          </a:p>
        </p:txBody>
      </p:sp>
      <p:cxnSp>
        <p:nvCxnSpPr>
          <p:cNvPr id="104" name=""/>
          <p:cNvCxnSpPr>
            <a:stCxn xmlns:a="http://schemas.openxmlformats.org/drawingml/2006/main" id="7" idx="3"/>
            <a:endCxn xmlns:a="http://schemas.openxmlformats.org/drawingml/2006/main" id="11" idx="1"/>
          </p:cNvCxnSpPr>
          <p:nvPr/>
        </p:nvCxnSpPr>
        <p:spPr>
          <a:xfrm xmlns:a="http://schemas.openxmlformats.org/drawingml/2006/main">
            <a:off x="2571750" y="3514725"/>
            <a:ext cx="409575" cy="0"/>
          </a:xfrm>
          <a:prstGeom xmlns:a="http://schemas.openxmlformats.org/drawingml/2006/main" prst="straightConnector1">
            <a:avLst/>
          </a:prstGeom>
          <a:ln xmlns:a="http://schemas.openxmlformats.org/drawingml/2006/main" w="9525">
            <a:solidFill>
              <a:srgbClr val="9CA3AF"/>
            </a:solidFill>
            <a:tailEnd type="arrow" w="sm" len="sm"/>
          </a:ln>
        </p:spPr>
      </p:cxnSp>
      <p:cxnSp>
        <p:nvCxnSpPr>
          <p:cNvPr id="105" name=""/>
          <p:cNvCxnSpPr>
            <a:stCxn xmlns:a="http://schemas.openxmlformats.org/drawingml/2006/main" id="11" idx="3"/>
            <a:endCxn xmlns:a="http://schemas.openxmlformats.org/drawingml/2006/main" id="15" idx="1"/>
          </p:cNvCxnSpPr>
          <p:nvPr/>
        </p:nvCxnSpPr>
        <p:spPr>
          <a:xfrm xmlns:a="http://schemas.openxmlformats.org/drawingml/2006/main">
            <a:off x="4791075" y="3514725"/>
            <a:ext cx="409575" cy="0"/>
          </a:xfrm>
          <a:prstGeom xmlns:a="http://schemas.openxmlformats.org/drawingml/2006/main" prst="straightConnector1">
            <a:avLst/>
          </a:prstGeom>
          <a:ln xmlns:a="http://schemas.openxmlformats.org/drawingml/2006/main" w="9525">
            <a:solidFill>
              <a:srgbClr val="9CA3AF"/>
            </a:solidFill>
            <a:tailEnd type="arrow" w="sm" len="sm"/>
          </a:ln>
        </p:spPr>
      </p:cxnSp>
      <p:cxnSp>
        <p:nvCxnSpPr>
          <p:cNvPr id="106" name=""/>
          <p:cNvCxnSpPr>
            <a:stCxn xmlns:a="http://schemas.openxmlformats.org/drawingml/2006/main" id="15" idx="3"/>
            <a:endCxn xmlns:a="http://schemas.openxmlformats.org/drawingml/2006/main" id="19" idx="1"/>
          </p:cNvCxnSpPr>
          <p:nvPr/>
        </p:nvCxnSpPr>
        <p:spPr>
          <a:xfrm xmlns:a="http://schemas.openxmlformats.org/drawingml/2006/main">
            <a:off x="7010400" y="3514725"/>
            <a:ext cx="409575" cy="0"/>
          </a:xfrm>
          <a:prstGeom xmlns:a="http://schemas.openxmlformats.org/drawingml/2006/main" prst="straightConnector1">
            <a:avLst/>
          </a:prstGeom>
          <a:ln xmlns:a="http://schemas.openxmlformats.org/drawingml/2006/main" w="9525">
            <a:solidFill>
              <a:srgbClr val="9CA3AF"/>
            </a:solidFill>
            <a:tailEnd type="arrow" w="sm" len="sm"/>
          </a:ln>
        </p:spPr>
      </p:cxnSp>
      <p:cxnSp>
        <p:nvCxnSpPr>
          <p:cNvPr id="107" name=""/>
          <p:cNvCxnSpPr>
            <a:stCxn xmlns:a="http://schemas.openxmlformats.org/drawingml/2006/main" id="19" idx="3"/>
            <a:endCxn xmlns:a="http://schemas.openxmlformats.org/drawingml/2006/main" id="23" idx="1"/>
          </p:cNvCxnSpPr>
          <p:nvPr/>
        </p:nvCxnSpPr>
        <p:spPr>
          <a:xfrm xmlns:a="http://schemas.openxmlformats.org/drawingml/2006/main">
            <a:off x="9229725" y="3514725"/>
            <a:ext cx="409575" cy="0"/>
          </a:xfrm>
          <a:prstGeom xmlns:a="http://schemas.openxmlformats.org/drawingml/2006/main" prst="straightConnector1">
            <a:avLst/>
          </a:prstGeom>
          <a:ln xmlns:a="http://schemas.openxmlformats.org/drawingml/2006/main" w="9525">
            <a:solidFill>
              <a:srgbClr val="9CA3AF"/>
            </a:solidFill>
            <a:tailEnd type="arrow" w="sm" len="sm"/>
          </a:ln>
        </p:spPr>
      </p:cxnSp>
      <p:cxnSp>
        <p:nvCxnSpPr>
          <p:cNvPr id="108" name=""/>
          <p:cNvCxnSpPr>
            <a:stCxn xmlns:a="http://schemas.openxmlformats.org/drawingml/2006/main" id="27" idx="3"/>
            <a:endCxn xmlns:a="http://schemas.openxmlformats.org/drawingml/2006/main" id="31" idx="1"/>
          </p:cNvCxnSpPr>
          <p:nvPr/>
        </p:nvCxnSpPr>
        <p:spPr>
          <a:xfrm xmlns:a="http://schemas.openxmlformats.org/drawingml/2006/main">
            <a:off x="2571750" y="4943475"/>
            <a:ext cx="409575" cy="0"/>
          </a:xfrm>
          <a:prstGeom xmlns:a="http://schemas.openxmlformats.org/drawingml/2006/main" prst="straightConnector1">
            <a:avLst/>
          </a:prstGeom>
          <a:ln xmlns:a="http://schemas.openxmlformats.org/drawingml/2006/main" w="9525">
            <a:solidFill>
              <a:srgbClr val="9CA3AF"/>
            </a:solidFill>
            <a:tailEnd type="arrow" w="sm" len="sm"/>
          </a:ln>
        </p:spPr>
      </p:cxnSp>
      <p:cxnSp>
        <p:nvCxnSpPr>
          <p:cNvPr id="109" name=""/>
          <p:cNvCxnSpPr>
            <a:stCxn xmlns:a="http://schemas.openxmlformats.org/drawingml/2006/main" id="31" idx="3"/>
            <a:endCxn xmlns:a="http://schemas.openxmlformats.org/drawingml/2006/main" id="35" idx="1"/>
          </p:cNvCxnSpPr>
          <p:nvPr/>
        </p:nvCxnSpPr>
        <p:spPr>
          <a:xfrm xmlns:a="http://schemas.openxmlformats.org/drawingml/2006/main">
            <a:off x="4791075" y="4943475"/>
            <a:ext cx="409575" cy="0"/>
          </a:xfrm>
          <a:prstGeom xmlns:a="http://schemas.openxmlformats.org/drawingml/2006/main" prst="straightConnector1">
            <a:avLst/>
          </a:prstGeom>
          <a:ln xmlns:a="http://schemas.openxmlformats.org/drawingml/2006/main" w="9525">
            <a:solidFill>
              <a:srgbClr val="9CA3AF"/>
            </a:solidFill>
            <a:tailEnd type="arrow" w="sm" len="sm"/>
          </a:ln>
        </p:spPr>
      </p:cxnSp>
      <p:cxnSp>
        <p:nvCxnSpPr>
          <p:cNvPr id="110" name=""/>
          <p:cNvCxnSpPr>
            <a:stCxn xmlns:a="http://schemas.openxmlformats.org/drawingml/2006/main" id="35" idx="3"/>
            <a:endCxn xmlns:a="http://schemas.openxmlformats.org/drawingml/2006/main" id="39" idx="1"/>
          </p:cNvCxnSpPr>
          <p:nvPr/>
        </p:nvCxnSpPr>
        <p:spPr>
          <a:xfrm xmlns:a="http://schemas.openxmlformats.org/drawingml/2006/main">
            <a:off x="7010400" y="4943475"/>
            <a:ext cx="409575" cy="0"/>
          </a:xfrm>
          <a:prstGeom xmlns:a="http://schemas.openxmlformats.org/drawingml/2006/main" prst="straightConnector1">
            <a:avLst/>
          </a:prstGeom>
          <a:ln xmlns:a="http://schemas.openxmlformats.org/drawingml/2006/main" w="9525">
            <a:solidFill>
              <a:srgbClr val="9CA3AF"/>
            </a:solidFill>
            <a:tailEnd type="arrow" w="sm" len="sm"/>
          </a:ln>
        </p:spPr>
      </p:cxnSp>
      <p:cxnSp>
        <p:nvCxnSpPr>
          <p:cNvPr id="111" name=""/>
          <p:cNvCxnSpPr>
            <a:stCxn xmlns:a="http://schemas.openxmlformats.org/drawingml/2006/main" id="39" idx="3"/>
            <a:endCxn xmlns:a="http://schemas.openxmlformats.org/drawingml/2006/main" id="43" idx="1"/>
          </p:cNvCxnSpPr>
          <p:nvPr/>
        </p:nvCxnSpPr>
        <p:spPr>
          <a:xfrm xmlns:a="http://schemas.openxmlformats.org/drawingml/2006/main">
            <a:off x="9229725" y="4943475"/>
            <a:ext cx="409575" cy="0"/>
          </a:xfrm>
          <a:prstGeom xmlns:a="http://schemas.openxmlformats.org/drawingml/2006/main" prst="straightConnector1">
            <a:avLst/>
          </a:prstGeom>
          <a:ln xmlns:a="http://schemas.openxmlformats.org/drawingml/2006/main" w="9525">
            <a:solidFill>
              <a:srgbClr val="9CA3AF"/>
            </a:solidFill>
            <a:tailEnd type="arrow" w="sm" len="sm"/>
          </a:ln>
        </p:spPr>
      </p:cxnSp>
      <p:cxnSp>
        <p:nvCxnSpPr>
          <p:cNvPr id="112" name=""/>
          <p:cNvCxnSpPr>
            <a:stCxn xmlns:a="http://schemas.openxmlformats.org/drawingml/2006/main" id="43" idx="0"/>
            <a:endCxn xmlns:a="http://schemas.openxmlformats.org/drawingml/2006/main" id="23" idx="2"/>
          </p:cNvCxnSpPr>
          <p:nvPr/>
        </p:nvCxnSpPr>
        <p:spPr>
          <a:xfrm xmlns:a="http://schemas.openxmlformats.org/drawingml/2006/main" flipV="1">
            <a:off x="10544175" y="4029075"/>
            <a:ext cx="0" cy="400050"/>
          </a:xfrm>
          <a:prstGeom xmlns:a="http://schemas.openxmlformats.org/drawingml/2006/main" prst="straightConnector1">
            <a:avLst/>
          </a:prstGeom>
          <a:ln xmlns:a="http://schemas.openxmlformats.org/drawingml/2006/main" w="9525">
            <a:solidFill>
              <a:srgbClr val="9CA3AF"/>
            </a:solidFill>
            <a:tailEnd type="arrow" w="sm" len="sm"/>
          </a:ln>
        </p:spPr>
      </p:cxnSp>
      <p:sp>
        <p:nvSpPr>
          <p:cNvPr id="56" name="">
            <a:extLst xmlns:a="http://schemas.openxmlformats.org/drawingml/2006/main">
              <a:ext uri="{FF2B5EF4-FFF2-40B4-BE49-F238E27FC236}">
                <a16:creationId xmlns:a16="http://schemas.microsoft.com/office/drawing/2014/main" id="{A75DD0ED-24A4-4BAC-9291-95E268B30F20}"/>
              </a:ext>
            </a:extLst>
          </p:cNvPr>
          <p:cNvSpPr>
            <a:spLocks xmlns:a="http://schemas.openxmlformats.org/drawingml/2006/main" noGrp="1"/>
          </p:cNvSpPr>
          <p:nvPr/>
        </p:nvSpPr>
        <p:spPr>
          <a:xfrm xmlns:a="http://schemas.openxmlformats.org/drawingml/2006/main">
            <a:off x="762000" y="5638800"/>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111827"/>
                </a:solidFill>
                <a:latin typeface="Arial"/>
                <a:ea typeface="Arial"/>
                <a:cs typeface="Arial"/>
              </a:defRPr>
            </a:pPr>
            <a:r>
              <a:rPr sz="1500" b="0">
                <a:solidFill>
                  <a:srgbClr val="111827"/>
                </a:solidFill>
                <a:latin typeface="Arial"/>
                <a:ea typeface="Arial"/>
                <a:cs typeface="Arial"/>
              </a:rPr>
              <a:t>Rules check learned numbers. Place metadata filters word vectors. Quotes add context.</a:t>
            </a:r>
          </a:p>
        </p:txBody>
      </p:sp>
      <p:sp>
        <p:nvSpPr>
          <p:cNvPr id="57" name="">
            <a:extLst xmlns:a="http://schemas.openxmlformats.org/drawingml/2006/main">
              <a:ext uri="{FF2B5EF4-FFF2-40B4-BE49-F238E27FC236}">
                <a16:creationId xmlns:a16="http://schemas.microsoft.com/office/drawing/2014/main" id="{E389FED3-FD65-4C32-81C8-9FBCC9FF43C3}"/>
              </a:ext>
            </a:extLst>
          </p:cNvPr>
          <p:cNvSpPr>
            <a:spLocks xmlns:a="http://schemas.openxmlformats.org/drawingml/2006/main" noGrp="1"/>
          </p:cNvSpPr>
          <p:nvPr/>
        </p:nvSpPr>
        <p:spPr>
          <a:xfrm xmlns:a="http://schemas.openxmlformats.org/drawingml/2006/main">
            <a:off x="762000" y="5953125"/>
            <a:ext cx="10858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111827"/>
                </a:solidFill>
                <a:latin typeface="Arial"/>
                <a:ea typeface="Arial"/>
                <a:cs typeface="Arial"/>
              </a:defRPr>
            </a:pPr>
            <a:r>
              <a:rPr sz="1500" b="0">
                <a:solidFill>
                  <a:srgbClr val="111827"/>
                </a:solidFill>
                <a:latin typeface="Arial"/>
                <a:ea typeface="Arial"/>
                <a:cs typeface="Arial"/>
              </a:rPr>
              <a:t>E3: 40 MW fault test clips to [0, 0.446484] MGD. E4: four location checks pass.</a:t>
            </a:r>
          </a:p>
        </p:txBody>
      </p:sp>
    </p:spTree>
    <p:extLst>
      <p:ext uri="{BB962C8B-B14F-4D97-AF65-F5344CB8AC3E}">
        <p14:creationId xmlns:p14="http://schemas.microsoft.com/office/powerpoint/2010/main" val="916598804"/>
      </p:ext>
    </p:extLst>
  </p:cSld>
</p:sld>
</file>

<file path=ppt/slides/slide3.xml><?xml version="1.0" encoding="utf-8"?>
<p:sld xmlns:p="http://schemas.openxmlformats.org/presentationml/2006/main">
  <p:cSld>
    <p:bg>
      <p:bgPr>
        <a:solidFill xmlns:a="http://schemas.openxmlformats.org/drawingml/2006/main">
          <a:srgbClr val="F9FAFB"/>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3804E18-203D-4907-8B61-EEA3E1E5C63F}"/>
              </a:ext>
            </a:extLst>
          </p:cNvPr>
          <p:cNvSpPr>
            <a:spLocks xmlns:a="http://schemas.openxmlformats.org/drawingml/2006/main" noGrp="1"/>
          </p:cNvSpPr>
          <p:nvPr/>
        </p:nvSpPr>
        <p:spPr>
          <a:xfrm xmlns:a="http://schemas.openxmlformats.org/drawingml/2006/main">
            <a:off x="762000" y="342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050" b="0">
                <a:solidFill>
                  <a:srgbClr val="6B7280"/>
                </a:solidFill>
                <a:latin typeface="Arial"/>
                <a:ea typeface="Arial"/>
                <a:cs typeface="Arial"/>
              </a:defRPr>
            </a:pPr>
            <a:r>
              <a:rPr sz="1050" b="0">
                <a:solidFill>
                  <a:srgbClr val="6B7280"/>
                </a:solidFill>
                <a:latin typeface="Arial"/>
                <a:ea typeface="Arial"/>
                <a:cs typeface="Arial"/>
              </a:rPr>
              <a:t>E C O L L A T E R A L   /   C S C I  4 1 5 0  A 2</a:t>
            </a:r>
          </a:p>
        </p:txBody>
      </p:sp>
      <p:sp>
        <p:nvSpPr>
          <p:cNvPr id="2" name="">
            <a:extLst xmlns:a="http://schemas.openxmlformats.org/drawingml/2006/main">
              <a:ext uri="{FF2B5EF4-FFF2-40B4-BE49-F238E27FC236}">
                <a16:creationId xmlns:a16="http://schemas.microsoft.com/office/drawing/2014/main" id="{D0F001D5-2028-4CFD-A466-55695CE5FDE1}"/>
              </a:ext>
            </a:extLst>
          </p:cNvPr>
          <p:cNvSpPr>
            <a:spLocks xmlns:a="http://schemas.openxmlformats.org/drawingml/2006/main" noGrp="1"/>
          </p:cNvSpPr>
          <p:nvPr/>
        </p:nvSpPr>
        <p:spPr>
          <a:xfrm xmlns:a="http://schemas.openxmlformats.org/drawingml/2006/main">
            <a:off x="628650" y="885825"/>
            <a:ext cx="14288" cy="981075"/>
          </a:xfrm>
          <a:prstGeom xmlns:a="http://schemas.openxmlformats.org/drawingml/2006/main" prst="rect">
            <a:avLst/>
          </a:prstGeom>
          <a:solidFill xmlns:a="http://schemas.openxmlformats.org/drawingml/2006/main">
            <a:srgbClr val="111827"/>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57A3279-5A7B-48E9-9269-3669B6A2913F}"/>
              </a:ext>
            </a:extLst>
          </p:cNvPr>
          <p:cNvSpPr>
            <a:spLocks xmlns:a="http://schemas.openxmlformats.org/drawingml/2006/main" noGrp="1"/>
          </p:cNvSpPr>
          <p:nvPr/>
        </p:nvSpPr>
        <p:spPr>
          <a:xfrm xmlns:a="http://schemas.openxmlformats.org/drawingml/2006/main">
            <a:off x="809625" y="866775"/>
            <a:ext cx="10525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225" b="0">
                <a:solidFill>
                  <a:srgbClr val="111827"/>
                </a:solidFill>
                <a:latin typeface="Georgia"/>
                <a:ea typeface="Georgia"/>
                <a:cs typeface="Georgia"/>
              </a:defRPr>
            </a:pPr>
            <a:r>
              <a:rPr sz="3225" b="0">
                <a:solidFill>
                  <a:srgbClr val="111827"/>
                </a:solidFill>
                <a:latin typeface="Georgia"/>
                <a:ea typeface="Georgia"/>
                <a:cs typeface="Georgia"/>
              </a:rPr>
              <a:t>EXPERIMENT E1: MODEL COMPARISON</a:t>
            </a:r>
          </a:p>
        </p:txBody>
      </p:sp>
      <p:sp>
        <p:nvSpPr>
          <p:cNvPr id="4" name="">
            <a:extLst xmlns:a="http://schemas.openxmlformats.org/drawingml/2006/main">
              <a:ext uri="{FF2B5EF4-FFF2-40B4-BE49-F238E27FC236}">
                <a16:creationId xmlns:a16="http://schemas.microsoft.com/office/drawing/2014/main" id="{0EF51438-34E2-454D-8A4B-40DDF8A418C8}"/>
              </a:ext>
            </a:extLst>
          </p:cNvPr>
          <p:cNvSpPr>
            <a:spLocks xmlns:a="http://schemas.openxmlformats.org/drawingml/2006/main" noGrp="1"/>
          </p:cNvSpPr>
          <p:nvPr/>
        </p:nvSpPr>
        <p:spPr>
          <a:xfrm xmlns:a="http://schemas.openxmlformats.org/drawingml/2006/main">
            <a:off x="762000" y="6324600"/>
            <a:ext cx="10191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975" b="0">
                <a:solidFill>
                  <a:srgbClr val="6B7280"/>
                </a:solidFill>
                <a:latin typeface="Arial"/>
                <a:ea typeface="Arial"/>
                <a:cs typeface="Arial"/>
              </a:defRPr>
            </a:pPr>
            <a:r>
              <a:rPr sz="975" b="0">
                <a:solidFill>
                  <a:srgbClr val="6B7280"/>
                </a:solidFill>
                <a:latin typeface="Arial"/>
                <a:ea typeface="Arial"/>
                <a:cs typeface="Arial"/>
              </a:rPr>
              <a:t>Evidence: E1: regression-comparison.csv | 333 test rows per evaporative type | MGD = million US gallons/day</a:t>
            </a:r>
          </a:p>
        </p:txBody>
      </p:sp>
      <p:sp>
        <p:nvSpPr>
          <p:cNvPr id="5" name="">
            <a:extLst xmlns:a="http://schemas.openxmlformats.org/drawingml/2006/main">
              <a:ext uri="{FF2B5EF4-FFF2-40B4-BE49-F238E27FC236}">
                <a16:creationId xmlns:a16="http://schemas.microsoft.com/office/drawing/2014/main" id="{25CDE85C-0166-4F93-915B-E654AF6EB0BD}"/>
              </a:ext>
            </a:extLst>
          </p:cNvPr>
          <p:cNvSpPr>
            <a:spLocks xmlns:a="http://schemas.openxmlformats.org/drawingml/2006/main" noGrp="1"/>
          </p:cNvSpPr>
          <p:nvPr/>
        </p:nvSpPr>
        <p:spPr>
          <a:xfrm xmlns:a="http://schemas.openxmlformats.org/drawingml/2006/main">
            <a:off x="11239500" y="632460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050" b="0">
                <a:solidFill>
                  <a:srgbClr val="6B7280"/>
                </a:solidFill>
                <a:latin typeface="Arial"/>
                <a:ea typeface="Arial"/>
                <a:cs typeface="Arial"/>
              </a:defRPr>
            </a:pPr>
            <a:r>
              <a:rPr sz="1050" b="0">
                <a:solidFill>
                  <a:srgbClr val="6B7280"/>
                </a:solidFill>
                <a:latin typeface="Arial"/>
                <a:ea typeface="Arial"/>
                <a:cs typeface="Arial"/>
              </a:rPr>
              <a:t>03</a:t>
            </a:r>
          </a:p>
        </p:txBody>
      </p:sp>
      <p:graphicFrame>
        <p:nvGraphicFramePr>
          <p:cNvPr id="17" name="Chart"/>
          <p:cNvGraphicFramePr/>
          <p:nvPr/>
        </p:nvGraphicFramePr>
        <p:xfrm>
          <a:off xmlns:a="http://schemas.openxmlformats.org/drawingml/2006/main" x="723900" y="2362200"/>
          <a:ext xmlns:a="http://schemas.openxmlformats.org/drawingml/2006/main" cx="6667500" cy="2781300"/>
        </p:xfrm>
        <a:graphic xmlns:a="http://schemas.openxmlformats.org/drawingml/2006/main">
          <a:graphicData uri="http://schemas.openxmlformats.org/drawingml/2006/chart">
            <c:chart xmlns:r="http://schemas.openxmlformats.org/officeDocument/2006/relationships" xmlns:c="http://schemas.openxmlformats.org/drawingml/2006/chart" r:id="Rf2c84cedf87e4bd8"/>
          </a:graphicData>
        </a:graphic>
      </p:graphicFrame>
      <p:sp>
        <p:nvSpPr>
          <p:cNvPr id="7" name="">
            <a:extLst xmlns:a="http://schemas.openxmlformats.org/drawingml/2006/main">
              <a:ext uri="{FF2B5EF4-FFF2-40B4-BE49-F238E27FC236}">
                <a16:creationId xmlns:a16="http://schemas.microsoft.com/office/drawing/2014/main" id="{DDAF2DD1-4513-4332-BB76-E4683B966356}"/>
              </a:ext>
            </a:extLst>
          </p:cNvPr>
          <p:cNvSpPr>
            <a:spLocks xmlns:a="http://schemas.openxmlformats.org/drawingml/2006/main" noGrp="1"/>
          </p:cNvSpPr>
          <p:nvPr/>
        </p:nvSpPr>
        <p:spPr>
          <a:xfrm xmlns:a="http://schemas.openxmlformats.org/drawingml/2006/main">
            <a:off x="8096250" y="2409825"/>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0">
                <a:solidFill>
                  <a:srgbClr val="111827"/>
                </a:solidFill>
                <a:latin typeface="Arial"/>
                <a:ea typeface="Arial"/>
                <a:cs typeface="Arial"/>
              </a:defRPr>
            </a:pPr>
            <a:r>
              <a:rPr sz="1800" b="0">
                <a:solidFill>
                  <a:srgbClr val="111827"/>
                </a:solidFill>
                <a:latin typeface="Arial"/>
                <a:ea typeface="Arial"/>
                <a:cs typeface="Arial"/>
              </a:rPr>
              <a:t>KEEP AS A COMPONENT</a:t>
            </a:r>
          </a:p>
        </p:txBody>
      </p:sp>
      <p:sp>
        <p:nvSpPr>
          <p:cNvPr id="8" name="">
            <a:extLst xmlns:a="http://schemas.openxmlformats.org/drawingml/2006/main">
              <a:ext uri="{FF2B5EF4-FFF2-40B4-BE49-F238E27FC236}">
                <a16:creationId xmlns:a16="http://schemas.microsoft.com/office/drawing/2014/main" id="{B60CA3BF-6465-4DD2-BA4C-ECCECF8CEBF7}"/>
              </a:ext>
            </a:extLst>
          </p:cNvPr>
          <p:cNvSpPr>
            <a:spLocks xmlns:a="http://schemas.openxmlformats.org/drawingml/2006/main" noGrp="1"/>
          </p:cNvSpPr>
          <p:nvPr/>
        </p:nvSpPr>
        <p:spPr>
          <a:xfrm xmlns:a="http://schemas.openxmlformats.org/drawingml/2006/main">
            <a:off x="8096250" y="2886075"/>
            <a:ext cx="3286125"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C6E093A-7CDF-447B-93EF-26D18FF977F9}"/>
              </a:ext>
            </a:extLst>
          </p:cNvPr>
          <p:cNvSpPr>
            <a:spLocks xmlns:a="http://schemas.openxmlformats.org/drawingml/2006/main" noGrp="1"/>
          </p:cNvSpPr>
          <p:nvPr/>
        </p:nvSpPr>
        <p:spPr>
          <a:xfrm xmlns:a="http://schemas.openxmlformats.org/drawingml/2006/main">
            <a:off x="8096250" y="3114675"/>
            <a:ext cx="3333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0">
                <a:solidFill>
                  <a:srgbClr val="111827"/>
                </a:solidFill>
                <a:latin typeface="Arial"/>
                <a:ea typeface="Arial"/>
                <a:cs typeface="Arial"/>
              </a:defRPr>
            </a:pPr>
            <a:r>
              <a:rPr sz="2025" b="0">
                <a:solidFill>
                  <a:srgbClr val="111827"/>
                </a:solidFill>
                <a:latin typeface="Arial"/>
                <a:ea typeface="Arial"/>
                <a:cs typeface="Arial"/>
              </a:rPr>
              <a:t>Choose with RMSE on</a:t>
            </a:r>
          </a:p>
          <a:p xmlns:a="http://schemas.openxmlformats.org/drawingml/2006/main">
            <a:pPr>
              <a:defRPr sz="2025" b="0">
                <a:solidFill>
                  <a:srgbClr val="111827"/>
                </a:solidFill>
                <a:latin typeface="Arial"/>
                <a:ea typeface="Arial"/>
                <a:cs typeface="Arial"/>
              </a:defRPr>
            </a:pPr>
            <a:r>
              <a:rPr sz="2025" b="0">
                <a:solidFill>
                  <a:srgbClr val="111827"/>
                </a:solidFill>
                <a:latin typeface="Arial"/>
                <a:ea typeface="Arial"/>
                <a:cs typeface="Arial"/>
              </a:rPr>
              <a:t>the middle date group.</a:t>
            </a:r>
          </a:p>
          <a:p xmlns:a="http://schemas.openxmlformats.org/drawingml/2006/main">
            <a:pPr>
              <a:defRPr sz="2025" b="0">
                <a:solidFill>
                  <a:srgbClr val="111827"/>
                </a:solidFill>
                <a:latin typeface="Arial"/>
                <a:ea typeface="Arial"/>
                <a:cs typeface="Arial"/>
              </a:defRPr>
            </a:pPr>
            <a:r>
              <a:rPr sz="2025" b="0">
                <a:solidFill>
                  <a:srgbClr val="111827"/>
                </a:solidFill>
                <a:latin typeface="Arial"/>
                <a:ea typeface="Arial"/>
                <a:cs typeface="Arial"/>
              </a:rPr>
              <a:t>Keep RF for comparison.</a:t>
            </a:r>
          </a:p>
        </p:txBody>
      </p:sp>
      <p:sp>
        <p:nvSpPr>
          <p:cNvPr id="10" name="">
            <a:extLst xmlns:a="http://schemas.openxmlformats.org/drawingml/2006/main">
              <a:ext uri="{FF2B5EF4-FFF2-40B4-BE49-F238E27FC236}">
                <a16:creationId xmlns:a16="http://schemas.microsoft.com/office/drawing/2014/main" id="{2CB236CE-F923-43C9-B04C-0AEA1F4A19A0}"/>
              </a:ext>
            </a:extLst>
          </p:cNvPr>
          <p:cNvSpPr>
            <a:spLocks xmlns:a="http://schemas.openxmlformats.org/drawingml/2006/main" noGrp="1"/>
          </p:cNvSpPr>
          <p:nvPr/>
        </p:nvSpPr>
        <p:spPr>
          <a:xfrm xmlns:a="http://schemas.openxmlformats.org/drawingml/2006/main">
            <a:off x="8096250" y="4629150"/>
            <a:ext cx="333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b="0">
                <a:solidFill>
                  <a:srgbClr val="111827"/>
                </a:solidFill>
                <a:latin typeface="Arial"/>
                <a:ea typeface="Arial"/>
                <a:cs typeface="Arial"/>
              </a:defRPr>
            </a:pPr>
            <a:r>
              <a:rPr sz="1875" b="0">
                <a:solidFill>
                  <a:srgbClr val="111827"/>
                </a:solidFill>
                <a:latin typeface="Arial"/>
                <a:ea typeface="Arial"/>
                <a:cs typeface="Arial"/>
              </a:rPr>
              <a:t>Next: measured demand</a:t>
            </a:r>
          </a:p>
          <a:p xmlns:a="http://schemas.openxmlformats.org/drawingml/2006/main">
            <a:pPr>
              <a:defRPr sz="1875" b="0">
                <a:solidFill>
                  <a:srgbClr val="111827"/>
                </a:solidFill>
                <a:latin typeface="Arial"/>
                <a:ea typeface="Arial"/>
                <a:cs typeface="Arial"/>
              </a:defRPr>
            </a:pPr>
            <a:r>
              <a:rPr sz="1875" b="0">
                <a:solidFill>
                  <a:srgbClr val="111827"/>
                </a:solidFill>
                <a:latin typeface="Arial"/>
                <a:ea typeface="Arial"/>
                <a:cs typeface="Arial"/>
              </a:rPr>
              <a:t>and regional outcome data.</a:t>
            </a:r>
          </a:p>
        </p:txBody>
      </p:sp>
      <p:sp>
        <p:nvSpPr>
          <p:cNvPr id="11" name="">
            <a:extLst xmlns:a="http://schemas.openxmlformats.org/drawingml/2006/main">
              <a:ext uri="{FF2B5EF4-FFF2-40B4-BE49-F238E27FC236}">
                <a16:creationId xmlns:a16="http://schemas.microsoft.com/office/drawing/2014/main" id="{92DD3AF4-2876-4849-B282-E558F6EC7CA3}"/>
              </a:ext>
            </a:extLst>
          </p:cNvPr>
          <p:cNvSpPr>
            <a:spLocks xmlns:a="http://schemas.openxmlformats.org/drawingml/2006/main" noGrp="1"/>
          </p:cNvSpPr>
          <p:nvPr/>
        </p:nvSpPr>
        <p:spPr>
          <a:xfrm xmlns:a="http://schemas.openxmlformats.org/drawingml/2006/main">
            <a:off x="762000" y="5648325"/>
            <a:ext cx="10858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75" b="0">
                <a:solidFill>
                  <a:srgbClr val="111827"/>
                </a:solidFill>
                <a:latin typeface="Arial"/>
                <a:ea typeface="Arial"/>
                <a:cs typeface="Arial"/>
              </a:defRPr>
            </a:pPr>
            <a:r>
              <a:rPr sz="1575" b="0">
                <a:solidFill>
                  <a:srgbClr val="111827"/>
                </a:solidFill>
                <a:latin typeface="Arial"/>
                <a:ea typeface="Arial"/>
                <a:cs typeface="Arial"/>
              </a:rPr>
              <a:t>Dates: train 60% / choose + set ranges 20% / test 20%</a:t>
            </a:r>
          </a:p>
          <a:p xmlns:a="http://schemas.openxmlformats.org/drawingml/2006/main">
            <a:pPr>
              <a:defRPr sz="1575" b="0">
                <a:solidFill>
                  <a:srgbClr val="111827"/>
                </a:solidFill>
                <a:latin typeface="Arial"/>
                <a:ea typeface="Arial"/>
                <a:cs typeface="Arial"/>
              </a:defRPr>
            </a:pPr>
            <a:r>
              <a:rPr sz="1575" b="0">
                <a:solidFill>
                  <a:srgbClr val="111827"/>
                </a:solidFill>
                <a:latin typeface="Arial"/>
                <a:ea typeface="Arial"/>
                <a:cs typeface="Arial"/>
              </a:rPr>
              <a:t>Dry air cooling: zero water target; R2 is undefined.</a:t>
            </a:r>
          </a:p>
        </p:txBody>
      </p:sp>
    </p:spTree>
    <p:extLst>
      <p:ext uri="{BB962C8B-B14F-4D97-AF65-F5344CB8AC3E}">
        <p14:creationId xmlns:p14="http://schemas.microsoft.com/office/powerpoint/2010/main" val="1891366707"/>
      </p:ext>
    </p:extLst>
  </p:cSld>
</p:sld>
</file>

<file path=ppt/slides/slide4.xml><?xml version="1.0" encoding="utf-8"?>
<p:sld xmlns:p="http://schemas.openxmlformats.org/presentationml/2006/main">
  <p:cSld>
    <p:bg>
      <p:bgPr>
        <a:solidFill xmlns:a="http://schemas.openxmlformats.org/drawingml/2006/main">
          <a:srgbClr val="F9FAFB"/>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D0FEC48-A94A-48BB-9A28-D08F1DFAC4F7}"/>
              </a:ext>
            </a:extLst>
          </p:cNvPr>
          <p:cNvSpPr>
            <a:spLocks xmlns:a="http://schemas.openxmlformats.org/drawingml/2006/main" noGrp="1"/>
          </p:cNvSpPr>
          <p:nvPr/>
        </p:nvSpPr>
        <p:spPr>
          <a:xfrm xmlns:a="http://schemas.openxmlformats.org/drawingml/2006/main">
            <a:off x="762000" y="342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050" b="0">
                <a:solidFill>
                  <a:srgbClr val="6B7280"/>
                </a:solidFill>
                <a:latin typeface="Arial"/>
                <a:ea typeface="Arial"/>
                <a:cs typeface="Arial"/>
              </a:defRPr>
            </a:pPr>
            <a:r>
              <a:rPr sz="1050" b="0">
                <a:solidFill>
                  <a:srgbClr val="6B7280"/>
                </a:solidFill>
                <a:latin typeface="Arial"/>
                <a:ea typeface="Arial"/>
                <a:cs typeface="Arial"/>
              </a:rPr>
              <a:t>E C O L L A T E R A L   /   C S C I  4 1 5 0  A 2</a:t>
            </a:r>
          </a:p>
        </p:txBody>
      </p:sp>
      <p:sp>
        <p:nvSpPr>
          <p:cNvPr id="2" name="">
            <a:extLst xmlns:a="http://schemas.openxmlformats.org/drawingml/2006/main">
              <a:ext uri="{FF2B5EF4-FFF2-40B4-BE49-F238E27FC236}">
                <a16:creationId xmlns:a16="http://schemas.microsoft.com/office/drawing/2014/main" id="{7E767BAA-3A30-48C0-8E46-868864CA7442}"/>
              </a:ext>
            </a:extLst>
          </p:cNvPr>
          <p:cNvSpPr>
            <a:spLocks xmlns:a="http://schemas.openxmlformats.org/drawingml/2006/main" noGrp="1"/>
          </p:cNvSpPr>
          <p:nvPr/>
        </p:nvSpPr>
        <p:spPr>
          <a:xfrm xmlns:a="http://schemas.openxmlformats.org/drawingml/2006/main">
            <a:off x="628650" y="885825"/>
            <a:ext cx="14288" cy="981075"/>
          </a:xfrm>
          <a:prstGeom xmlns:a="http://schemas.openxmlformats.org/drawingml/2006/main" prst="rect">
            <a:avLst/>
          </a:prstGeom>
          <a:solidFill xmlns:a="http://schemas.openxmlformats.org/drawingml/2006/main">
            <a:srgbClr val="111827"/>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30376FB-8DB2-4E4A-B91B-564BDC4D12C0}"/>
              </a:ext>
            </a:extLst>
          </p:cNvPr>
          <p:cNvSpPr>
            <a:spLocks xmlns:a="http://schemas.openxmlformats.org/drawingml/2006/main" noGrp="1"/>
          </p:cNvSpPr>
          <p:nvPr/>
        </p:nvSpPr>
        <p:spPr>
          <a:xfrm xmlns:a="http://schemas.openxmlformats.org/drawingml/2006/main">
            <a:off x="809625" y="866775"/>
            <a:ext cx="10525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225" b="0">
                <a:solidFill>
                  <a:srgbClr val="111827"/>
                </a:solidFill>
                <a:latin typeface="Georgia"/>
                <a:ea typeface="Georgia"/>
                <a:cs typeface="Georgia"/>
              </a:defRPr>
            </a:pPr>
            <a:r>
              <a:rPr sz="3225" b="0">
                <a:solidFill>
                  <a:srgbClr val="111827"/>
                </a:solidFill>
                <a:latin typeface="Georgia"/>
                <a:ea typeface="Georgia"/>
                <a:cs typeface="Georgia"/>
              </a:rPr>
              <a:t>EXPERIMENT E2: GAPS &amp; BIASED NEIGHBORS</a:t>
            </a:r>
          </a:p>
        </p:txBody>
      </p:sp>
      <p:sp>
        <p:nvSpPr>
          <p:cNvPr id="4" name="">
            <a:extLst xmlns:a="http://schemas.openxmlformats.org/drawingml/2006/main">
              <a:ext uri="{FF2B5EF4-FFF2-40B4-BE49-F238E27FC236}">
                <a16:creationId xmlns:a16="http://schemas.microsoft.com/office/drawing/2014/main" id="{90B7BBD2-FF6D-4998-86FB-26DDFAD8C664}"/>
              </a:ext>
            </a:extLst>
          </p:cNvPr>
          <p:cNvSpPr>
            <a:spLocks xmlns:a="http://schemas.openxmlformats.org/drawingml/2006/main" noGrp="1"/>
          </p:cNvSpPr>
          <p:nvPr/>
        </p:nvSpPr>
        <p:spPr>
          <a:xfrm xmlns:a="http://schemas.openxmlformats.org/drawingml/2006/main">
            <a:off x="762000" y="6324600"/>
            <a:ext cx="10191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975" b="0">
                <a:solidFill>
                  <a:srgbClr val="6B7280"/>
                </a:solidFill>
                <a:latin typeface="Arial"/>
                <a:ea typeface="Arial"/>
                <a:cs typeface="Arial"/>
              </a:defRPr>
            </a:pPr>
            <a:r>
              <a:rPr sz="975" b="0">
                <a:solidFill>
                  <a:srgbClr val="6B7280"/>
                </a:solidFill>
                <a:latin typeface="Arial"/>
                <a:ea typeface="Arial"/>
                <a:cs typeface="Arial"/>
              </a:rPr>
              <a:t>Evidence: E2: missingness-summary.csv; biased-donor-diagnostic.csv | Main test uses trained AI and made-up river data</a:t>
            </a:r>
          </a:p>
        </p:txBody>
      </p:sp>
      <p:sp>
        <p:nvSpPr>
          <p:cNvPr id="5" name="">
            <a:extLst xmlns:a="http://schemas.openxmlformats.org/drawingml/2006/main">
              <a:ext uri="{FF2B5EF4-FFF2-40B4-BE49-F238E27FC236}">
                <a16:creationId xmlns:a16="http://schemas.microsoft.com/office/drawing/2014/main" id="{EC0D65D0-4941-4884-8EF3-85B69EF3570F}"/>
              </a:ext>
            </a:extLst>
          </p:cNvPr>
          <p:cNvSpPr>
            <a:spLocks xmlns:a="http://schemas.openxmlformats.org/drawingml/2006/main" noGrp="1"/>
          </p:cNvSpPr>
          <p:nvPr/>
        </p:nvSpPr>
        <p:spPr>
          <a:xfrm xmlns:a="http://schemas.openxmlformats.org/drawingml/2006/main">
            <a:off x="11239500" y="632460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050" b="0">
                <a:solidFill>
                  <a:srgbClr val="6B7280"/>
                </a:solidFill>
                <a:latin typeface="Arial"/>
                <a:ea typeface="Arial"/>
                <a:cs typeface="Arial"/>
              </a:defRPr>
            </a:pPr>
            <a:r>
              <a:rPr sz="1050" b="0">
                <a:solidFill>
                  <a:srgbClr val="6B7280"/>
                </a:solidFill>
                <a:latin typeface="Arial"/>
                <a:ea typeface="Arial"/>
                <a:cs typeface="Arial"/>
              </a:rPr>
              <a:t>04</a:t>
            </a:r>
          </a:p>
        </p:txBody>
      </p:sp>
      <p:graphicFrame>
        <p:nvGraphicFramePr>
          <p:cNvPr id="19" name="Chart"/>
          <p:cNvGraphicFramePr/>
          <p:nvPr/>
        </p:nvGraphicFramePr>
        <p:xfrm>
          <a:off xmlns:a="http://schemas.openxmlformats.org/drawingml/2006/main" x="723900" y="2362200"/>
          <a:ext xmlns:a="http://schemas.openxmlformats.org/drawingml/2006/main" cx="6667500" cy="2781300"/>
        </p:xfrm>
        <a:graphic xmlns:a="http://schemas.openxmlformats.org/drawingml/2006/main">
          <a:graphicData uri="http://schemas.openxmlformats.org/drawingml/2006/chart">
            <c:chart xmlns:r="http://schemas.openxmlformats.org/officeDocument/2006/relationships" xmlns:c="http://schemas.openxmlformats.org/drawingml/2006/chart" r:id="Rf9339be411ae4be1"/>
          </a:graphicData>
        </a:graphic>
      </p:graphicFrame>
      <p:sp>
        <p:nvSpPr>
          <p:cNvPr id="7" name="">
            <a:extLst xmlns:a="http://schemas.openxmlformats.org/drawingml/2006/main">
              <a:ext uri="{FF2B5EF4-FFF2-40B4-BE49-F238E27FC236}">
                <a16:creationId xmlns:a16="http://schemas.microsoft.com/office/drawing/2014/main" id="{3AC591CC-A76F-438F-9A15-C927EDDA8389}"/>
              </a:ext>
            </a:extLst>
          </p:cNvPr>
          <p:cNvSpPr>
            <a:spLocks xmlns:a="http://schemas.openxmlformats.org/drawingml/2006/main" noGrp="1"/>
          </p:cNvSpPr>
          <p:nvPr/>
        </p:nvSpPr>
        <p:spPr>
          <a:xfrm xmlns:a="http://schemas.openxmlformats.org/drawingml/2006/main">
            <a:off x="8096250" y="2219325"/>
            <a:ext cx="3333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6300" b="0">
                <a:solidFill>
                  <a:srgbClr val="111827"/>
                </a:solidFill>
                <a:latin typeface="Arial"/>
                <a:ea typeface="Arial"/>
                <a:cs typeface="Arial"/>
              </a:defRPr>
            </a:pPr>
            <a:r>
              <a:rPr sz="6300" b="0">
                <a:solidFill>
                  <a:srgbClr val="111827"/>
                </a:solidFill>
                <a:latin typeface="Arial"/>
                <a:ea typeface="Arial"/>
                <a:cs typeface="Arial"/>
              </a:rPr>
              <a:t>100%</a:t>
            </a:r>
          </a:p>
        </p:txBody>
      </p:sp>
      <p:sp>
        <p:nvSpPr>
          <p:cNvPr id="8" name="">
            <a:extLst xmlns:a="http://schemas.openxmlformats.org/drawingml/2006/main">
              <a:ext uri="{FF2B5EF4-FFF2-40B4-BE49-F238E27FC236}">
                <a16:creationId xmlns:a16="http://schemas.microsoft.com/office/drawing/2014/main" id="{DD79EF7F-587A-4E78-A718-C07060B23C00}"/>
              </a:ext>
            </a:extLst>
          </p:cNvPr>
          <p:cNvSpPr>
            <a:spLocks xmlns:a="http://schemas.openxmlformats.org/drawingml/2006/main" noGrp="1"/>
          </p:cNvSpPr>
          <p:nvPr/>
        </p:nvSpPr>
        <p:spPr>
          <a:xfrm xmlns:a="http://schemas.openxmlformats.org/drawingml/2006/main">
            <a:off x="8096250" y="3190875"/>
            <a:ext cx="3286125"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750F6DF-D5C8-4596-971C-FDE32CF6A320}"/>
              </a:ext>
            </a:extLst>
          </p:cNvPr>
          <p:cNvSpPr>
            <a:spLocks xmlns:a="http://schemas.openxmlformats.org/drawingml/2006/main" noGrp="1"/>
          </p:cNvSpPr>
          <p:nvPr/>
        </p:nvSpPr>
        <p:spPr>
          <a:xfrm xmlns:a="http://schemas.openxmlformats.org/drawingml/2006/main">
            <a:off x="8096250" y="3343275"/>
            <a:ext cx="3333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b="0">
                <a:solidFill>
                  <a:srgbClr val="111827"/>
                </a:solidFill>
                <a:latin typeface="Arial"/>
                <a:ea typeface="Arial"/>
                <a:cs typeface="Arial"/>
              </a:defRPr>
            </a:pPr>
            <a:r>
              <a:rPr sz="1875" b="0">
                <a:solidFill>
                  <a:srgbClr val="111827"/>
                </a:solidFill>
                <a:latin typeface="Arial"/>
                <a:ea typeface="Arial"/>
                <a:cs typeface="Arial"/>
              </a:rPr>
              <a:t>All main cases passed</a:t>
            </a:r>
          </a:p>
        </p:txBody>
      </p:sp>
      <p:sp>
        <p:nvSpPr>
          <p:cNvPr id="10" name="">
            <a:extLst xmlns:a="http://schemas.openxmlformats.org/drawingml/2006/main">
              <a:ext uri="{FF2B5EF4-FFF2-40B4-BE49-F238E27FC236}">
                <a16:creationId xmlns:a16="http://schemas.microsoft.com/office/drawing/2014/main" id="{0B77CE7A-158D-425E-849C-011DD70446EE}"/>
              </a:ext>
            </a:extLst>
          </p:cNvPr>
          <p:cNvSpPr>
            <a:spLocks xmlns:a="http://schemas.openxmlformats.org/drawingml/2006/main" noGrp="1"/>
          </p:cNvSpPr>
          <p:nvPr/>
        </p:nvSpPr>
        <p:spPr>
          <a:xfrm xmlns:a="http://schemas.openxmlformats.org/drawingml/2006/main">
            <a:off x="8096250" y="3790950"/>
            <a:ext cx="3333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650" b="0">
                <a:solidFill>
                  <a:srgbClr val="6B7280"/>
                </a:solidFill>
                <a:latin typeface="Arial"/>
                <a:ea typeface="Arial"/>
                <a:cs typeface="Arial"/>
              </a:defRPr>
            </a:pPr>
            <a:r>
              <a:rPr sz="1650" b="0">
                <a:solidFill>
                  <a:srgbClr val="6B7280"/>
                </a:solidFill>
                <a:latin typeface="Arial"/>
                <a:ea typeface="Arial"/>
                <a:cs typeface="Arial"/>
              </a:rPr>
              <a:t>Change within +/-0.05 MGD</a:t>
            </a:r>
          </a:p>
          <a:p xmlns:a="http://schemas.openxmlformats.org/drawingml/2006/main">
            <a:pPr>
              <a:defRPr sz="1650" b="0">
                <a:solidFill>
                  <a:srgbClr val="6B7280"/>
                </a:solidFill>
                <a:latin typeface="Arial"/>
                <a:ea typeface="Arial"/>
                <a:cs typeface="Arial"/>
              </a:defRPr>
            </a:pPr>
            <a:r>
              <a:rPr sz="1650" b="0">
                <a:solidFill>
                  <a:srgbClr val="6B7280"/>
                </a:solidFill>
                <a:latin typeface="Arial"/>
                <a:ea typeface="Arial"/>
                <a:cs typeface="Arial"/>
              </a:rPr>
              <a:t>50 repeats; 121 drought dates</a:t>
            </a:r>
          </a:p>
        </p:txBody>
      </p:sp>
      <p:sp>
        <p:nvSpPr>
          <p:cNvPr id="11" name="">
            <a:extLst xmlns:a="http://schemas.openxmlformats.org/drawingml/2006/main">
              <a:ext uri="{FF2B5EF4-FFF2-40B4-BE49-F238E27FC236}">
                <a16:creationId xmlns:a16="http://schemas.microsoft.com/office/drawing/2014/main" id="{D0B3EE25-CD15-4A33-AFBB-0622FAF68FB0}"/>
              </a:ext>
            </a:extLst>
          </p:cNvPr>
          <p:cNvSpPr>
            <a:spLocks xmlns:a="http://schemas.openxmlformats.org/drawingml/2006/main" noGrp="1"/>
          </p:cNvSpPr>
          <p:nvPr/>
        </p:nvSpPr>
        <p:spPr>
          <a:xfrm xmlns:a="http://schemas.openxmlformats.org/drawingml/2006/main">
            <a:off x="8096250" y="4762500"/>
            <a:ext cx="3286125"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4CD58FC-FBAD-4FE9-982B-57CAB0E6A892}"/>
              </a:ext>
            </a:extLst>
          </p:cNvPr>
          <p:cNvSpPr>
            <a:spLocks xmlns:a="http://schemas.openxmlformats.org/drawingml/2006/main" noGrp="1"/>
          </p:cNvSpPr>
          <p:nvPr/>
        </p:nvSpPr>
        <p:spPr>
          <a:xfrm xmlns:a="http://schemas.openxmlformats.org/drawingml/2006/main">
            <a:off x="8096250" y="4895850"/>
            <a:ext cx="3333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0">
                <a:solidFill>
                  <a:srgbClr val="111827"/>
                </a:solidFill>
                <a:latin typeface="Arial"/>
                <a:ea typeface="Arial"/>
                <a:cs typeface="Arial"/>
              </a:defRPr>
            </a:pPr>
            <a:r>
              <a:rPr sz="1800" b="0">
                <a:solidFill>
                  <a:srgbClr val="111827"/>
                </a:solidFill>
                <a:latin typeface="Arial"/>
                <a:ea typeface="Arial"/>
                <a:cs typeface="Arial"/>
              </a:rPr>
              <a:t>FAILURE: biased neighbors</a:t>
            </a:r>
          </a:p>
          <a:p xmlns:a="http://schemas.openxmlformats.org/drawingml/2006/main">
            <a:pPr>
              <a:defRPr sz="1800" b="0">
                <a:solidFill>
                  <a:srgbClr val="111827"/>
                </a:solidFill>
                <a:latin typeface="Arial"/>
                <a:ea typeface="Arial"/>
                <a:cs typeface="Arial"/>
              </a:defRPr>
            </a:pPr>
            <a:r>
              <a:rPr sz="1800" b="0">
                <a:solidFill>
                  <a:srgbClr val="111827"/>
                </a:solidFill>
                <a:latin typeface="Arial"/>
                <a:ea typeface="Arial"/>
                <a:cs typeface="Arial"/>
              </a:rPr>
              <a:t>only 60.3% within limits</a:t>
            </a:r>
          </a:p>
        </p:txBody>
      </p:sp>
      <p:sp>
        <p:nvSpPr>
          <p:cNvPr id="13" name="">
            <a:extLst xmlns:a="http://schemas.openxmlformats.org/drawingml/2006/main">
              <a:ext uri="{FF2B5EF4-FFF2-40B4-BE49-F238E27FC236}">
                <a16:creationId xmlns:a16="http://schemas.microsoft.com/office/drawing/2014/main" id="{8E91A626-6F99-49BE-8AA7-9EBFB81F4BDD}"/>
              </a:ext>
            </a:extLst>
          </p:cNvPr>
          <p:cNvSpPr>
            <a:spLocks xmlns:a="http://schemas.openxmlformats.org/drawingml/2006/main" noGrp="1"/>
          </p:cNvSpPr>
          <p:nvPr/>
        </p:nvSpPr>
        <p:spPr>
          <a:xfrm xmlns:a="http://schemas.openxmlformats.org/drawingml/2006/main">
            <a:off x="762000" y="5781675"/>
            <a:ext cx="1085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75" b="0">
                <a:solidFill>
                  <a:srgbClr val="111827"/>
                </a:solidFill>
                <a:latin typeface="Arial"/>
                <a:ea typeface="Arial"/>
                <a:cs typeface="Arial"/>
              </a:defRPr>
            </a:pPr>
            <a:r>
              <a:rPr sz="1575" b="0">
                <a:solidFill>
                  <a:srgbClr val="111827"/>
                </a:solidFill>
                <a:latin typeface="Arial"/>
                <a:ea typeface="Arial"/>
                <a:cs typeface="Arial"/>
              </a:rPr>
              <a:t>Improve: check neighbors and shared outages. The biased test uses a separate simple formula.</a:t>
            </a:r>
          </a:p>
        </p:txBody>
      </p:sp>
    </p:spTree>
    <p:extLst>
      <p:ext uri="{BB962C8B-B14F-4D97-AF65-F5344CB8AC3E}">
        <p14:creationId xmlns:p14="http://schemas.microsoft.com/office/powerpoint/2010/main" val="1501487678"/>
      </p:ext>
    </p:extLst>
  </p:cSld>
</p:sld>
</file>

<file path=ppt/slides/slide5.xml><?xml version="1.0" encoding="utf-8"?>
<p:sld xmlns:p="http://schemas.openxmlformats.org/presentationml/2006/main">
  <p:cSld>
    <p:bg>
      <p:bgPr>
        <a:solidFill xmlns:a="http://schemas.openxmlformats.org/drawingml/2006/main">
          <a:srgbClr val="F9FAFB"/>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683A881-EEF2-46C7-A480-747D5AEF8538}"/>
              </a:ext>
            </a:extLst>
          </p:cNvPr>
          <p:cNvSpPr>
            <a:spLocks xmlns:a="http://schemas.openxmlformats.org/drawingml/2006/main" noGrp="1"/>
          </p:cNvSpPr>
          <p:nvPr/>
        </p:nvSpPr>
        <p:spPr>
          <a:xfrm xmlns:a="http://schemas.openxmlformats.org/drawingml/2006/main">
            <a:off x="762000" y="342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050" b="0">
                <a:solidFill>
                  <a:srgbClr val="6B7280"/>
                </a:solidFill>
                <a:latin typeface="Arial"/>
                <a:ea typeface="Arial"/>
                <a:cs typeface="Arial"/>
              </a:defRPr>
            </a:pPr>
            <a:r>
              <a:rPr sz="1050" b="0">
                <a:solidFill>
                  <a:srgbClr val="6B7280"/>
                </a:solidFill>
                <a:latin typeface="Arial"/>
                <a:ea typeface="Arial"/>
                <a:cs typeface="Arial"/>
              </a:rPr>
              <a:t>E C O L L A T E R A L   /   C S C I  4 1 5 0  A 2</a:t>
            </a:r>
          </a:p>
        </p:txBody>
      </p:sp>
      <p:sp>
        <p:nvSpPr>
          <p:cNvPr id="2" name="">
            <a:extLst xmlns:a="http://schemas.openxmlformats.org/drawingml/2006/main">
              <a:ext uri="{FF2B5EF4-FFF2-40B4-BE49-F238E27FC236}">
                <a16:creationId xmlns:a16="http://schemas.microsoft.com/office/drawing/2014/main" id="{62FC00F8-74CC-47F9-AFEE-3823CD35916D}"/>
              </a:ext>
            </a:extLst>
          </p:cNvPr>
          <p:cNvSpPr>
            <a:spLocks xmlns:a="http://schemas.openxmlformats.org/drawingml/2006/main" noGrp="1"/>
          </p:cNvSpPr>
          <p:nvPr/>
        </p:nvSpPr>
        <p:spPr>
          <a:xfrm xmlns:a="http://schemas.openxmlformats.org/drawingml/2006/main">
            <a:off x="628650" y="885825"/>
            <a:ext cx="14288" cy="981075"/>
          </a:xfrm>
          <a:prstGeom xmlns:a="http://schemas.openxmlformats.org/drawingml/2006/main" prst="rect">
            <a:avLst/>
          </a:prstGeom>
          <a:solidFill xmlns:a="http://schemas.openxmlformats.org/drawingml/2006/main">
            <a:srgbClr val="111827"/>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EE063EB-1385-4ED7-A96B-235C831BEBCC}"/>
              </a:ext>
            </a:extLst>
          </p:cNvPr>
          <p:cNvSpPr>
            <a:spLocks xmlns:a="http://schemas.openxmlformats.org/drawingml/2006/main" noGrp="1"/>
          </p:cNvSpPr>
          <p:nvPr/>
        </p:nvSpPr>
        <p:spPr>
          <a:xfrm xmlns:a="http://schemas.openxmlformats.org/drawingml/2006/main">
            <a:off x="809625" y="866775"/>
            <a:ext cx="10525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225" b="0">
                <a:solidFill>
                  <a:srgbClr val="111827"/>
                </a:solidFill>
                <a:latin typeface="Georgia"/>
                <a:ea typeface="Georgia"/>
                <a:cs typeface="Georgia"/>
              </a:defRPr>
            </a:pPr>
            <a:r>
              <a:rPr sz="3225" b="0">
                <a:solidFill>
                  <a:srgbClr val="111827"/>
                </a:solidFill>
                <a:latin typeface="Georgia"/>
                <a:ea typeface="Georgia"/>
                <a:cs typeface="Georgia"/>
              </a:rPr>
              <a:t>EXPERIMENT E5: RANGE RELIABILITY</a:t>
            </a:r>
          </a:p>
        </p:txBody>
      </p:sp>
      <p:sp>
        <p:nvSpPr>
          <p:cNvPr id="4" name="">
            <a:extLst xmlns:a="http://schemas.openxmlformats.org/drawingml/2006/main">
              <a:ext uri="{FF2B5EF4-FFF2-40B4-BE49-F238E27FC236}">
                <a16:creationId xmlns:a16="http://schemas.microsoft.com/office/drawing/2014/main" id="{FBA1ADA8-7FB9-41B0-BC84-6D1875E4710E}"/>
              </a:ext>
            </a:extLst>
          </p:cNvPr>
          <p:cNvSpPr>
            <a:spLocks xmlns:a="http://schemas.openxmlformats.org/drawingml/2006/main" noGrp="1"/>
          </p:cNvSpPr>
          <p:nvPr/>
        </p:nvSpPr>
        <p:spPr>
          <a:xfrm xmlns:a="http://schemas.openxmlformats.org/drawingml/2006/main">
            <a:off x="762000" y="6324600"/>
            <a:ext cx="10191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975" b="0">
                <a:solidFill>
                  <a:srgbClr val="6B7280"/>
                </a:solidFill>
                <a:latin typeface="Arial"/>
                <a:ea typeface="Arial"/>
                <a:cs typeface="Arial"/>
              </a:defRPr>
            </a:pPr>
            <a:r>
              <a:rPr sz="975" b="0">
                <a:solidFill>
                  <a:srgbClr val="6B7280"/>
                </a:solidFill>
                <a:latin typeface="Arial"/>
                <a:ea typeface="Arial"/>
                <a:cs typeface="Arial"/>
              </a:rPr>
              <a:t>Evidence: E5: interval-coverage.csv; benchmark.json | Made-up test values; 333 per model</a:t>
            </a:r>
          </a:p>
        </p:txBody>
      </p:sp>
      <p:sp>
        <p:nvSpPr>
          <p:cNvPr id="5" name="">
            <a:extLst xmlns:a="http://schemas.openxmlformats.org/drawingml/2006/main">
              <a:ext uri="{FF2B5EF4-FFF2-40B4-BE49-F238E27FC236}">
                <a16:creationId xmlns:a16="http://schemas.microsoft.com/office/drawing/2014/main" id="{DC717C26-850F-4671-89A3-8965AA1E32BF}"/>
              </a:ext>
            </a:extLst>
          </p:cNvPr>
          <p:cNvSpPr>
            <a:spLocks xmlns:a="http://schemas.openxmlformats.org/drawingml/2006/main" noGrp="1"/>
          </p:cNvSpPr>
          <p:nvPr/>
        </p:nvSpPr>
        <p:spPr>
          <a:xfrm xmlns:a="http://schemas.openxmlformats.org/drawingml/2006/main">
            <a:off x="11239500" y="632460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050" b="0">
                <a:solidFill>
                  <a:srgbClr val="6B7280"/>
                </a:solidFill>
                <a:latin typeface="Arial"/>
                <a:ea typeface="Arial"/>
                <a:cs typeface="Arial"/>
              </a:defRPr>
            </a:pPr>
            <a:r>
              <a:rPr sz="1050" b="0">
                <a:solidFill>
                  <a:srgbClr val="6B7280"/>
                </a:solidFill>
                <a:latin typeface="Arial"/>
                <a:ea typeface="Arial"/>
                <a:cs typeface="Arial"/>
              </a:rPr>
              <a:t>05</a:t>
            </a:r>
          </a:p>
        </p:txBody>
      </p:sp>
      <p:graphicFrame>
        <p:nvGraphicFramePr>
          <p:cNvPr id="19" name="Chart"/>
          <p:cNvGraphicFramePr/>
          <p:nvPr/>
        </p:nvGraphicFramePr>
        <p:xfrm>
          <a:off xmlns:a="http://schemas.openxmlformats.org/drawingml/2006/main" x="6286500" y="2571750"/>
          <a:ext xmlns:a="http://schemas.openxmlformats.org/drawingml/2006/main" cx="5191125" cy="2809875"/>
        </p:xfrm>
        <a:graphic xmlns:a="http://schemas.openxmlformats.org/drawingml/2006/main">
          <a:graphicData uri="http://schemas.openxmlformats.org/drawingml/2006/chart">
            <c:chart xmlns:r="http://schemas.openxmlformats.org/officeDocument/2006/relationships" xmlns:c="http://schemas.openxmlformats.org/drawingml/2006/chart" r:id="Rdcdc181d0ac6455f"/>
          </a:graphicData>
        </a:graphic>
      </p:graphicFrame>
      <p:sp>
        <p:nvSpPr>
          <p:cNvPr id="7" name="">
            <a:extLst xmlns:a="http://schemas.openxmlformats.org/drawingml/2006/main">
              <a:ext uri="{FF2B5EF4-FFF2-40B4-BE49-F238E27FC236}">
                <a16:creationId xmlns:a16="http://schemas.microsoft.com/office/drawing/2014/main" id="{49AE5CAC-993C-4627-A287-C1F2AD40C7B5}"/>
              </a:ext>
            </a:extLst>
          </p:cNvPr>
          <p:cNvSpPr>
            <a:spLocks xmlns:a="http://schemas.openxmlformats.org/drawingml/2006/main" noGrp="1"/>
          </p:cNvSpPr>
          <p:nvPr/>
        </p:nvSpPr>
        <p:spPr>
          <a:xfrm xmlns:a="http://schemas.openxmlformats.org/drawingml/2006/main">
            <a:off x="762000" y="2533650"/>
            <a:ext cx="5334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5475" b="0">
                <a:solidFill>
                  <a:srgbClr val="111827"/>
                </a:solidFill>
                <a:latin typeface="Arial"/>
                <a:ea typeface="Arial"/>
                <a:cs typeface="Arial"/>
              </a:defRPr>
            </a:pPr>
            <a:r>
              <a:rPr sz="5475" b="0">
                <a:solidFill>
                  <a:srgbClr val="111827"/>
                </a:solidFill>
                <a:latin typeface="Arial"/>
                <a:ea typeface="Arial"/>
                <a:cs typeface="Arial"/>
              </a:rPr>
              <a:t>88.3% / 88.0%</a:t>
            </a:r>
          </a:p>
        </p:txBody>
      </p:sp>
      <p:sp>
        <p:nvSpPr>
          <p:cNvPr id="8" name="">
            <a:extLst xmlns:a="http://schemas.openxmlformats.org/drawingml/2006/main">
              <a:ext uri="{FF2B5EF4-FFF2-40B4-BE49-F238E27FC236}">
                <a16:creationId xmlns:a16="http://schemas.microsoft.com/office/drawing/2014/main" id="{6BEA2A38-B653-4AD7-9729-4B454EDC52FC}"/>
              </a:ext>
            </a:extLst>
          </p:cNvPr>
          <p:cNvSpPr>
            <a:spLocks xmlns:a="http://schemas.openxmlformats.org/drawingml/2006/main" noGrp="1"/>
          </p:cNvSpPr>
          <p:nvPr/>
        </p:nvSpPr>
        <p:spPr>
          <a:xfrm xmlns:a="http://schemas.openxmlformats.org/drawingml/2006/main">
            <a:off x="762000" y="3571875"/>
            <a:ext cx="5048250"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44666B0-3898-4086-9EAA-492D5557B982}"/>
              </a:ext>
            </a:extLst>
          </p:cNvPr>
          <p:cNvSpPr>
            <a:spLocks xmlns:a="http://schemas.openxmlformats.org/drawingml/2006/main" noGrp="1"/>
          </p:cNvSpPr>
          <p:nvPr/>
        </p:nvSpPr>
        <p:spPr>
          <a:xfrm xmlns:a="http://schemas.openxmlformats.org/drawingml/2006/main">
            <a:off x="762000" y="374332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6B7280"/>
                </a:solidFill>
                <a:latin typeface="Arial"/>
                <a:ea typeface="Arial"/>
                <a:cs typeface="Arial"/>
              </a:defRPr>
            </a:pPr>
            <a:r>
              <a:rPr sz="1725" b="0">
                <a:solidFill>
                  <a:srgbClr val="6B7280"/>
                </a:solidFill>
                <a:latin typeface="Arial"/>
                <a:ea typeface="Arial"/>
                <a:cs typeface="Arial"/>
              </a:rPr>
              <a:t>RELIABILITY ISSUE: below the 90% goal</a:t>
            </a:r>
          </a:p>
        </p:txBody>
      </p:sp>
      <p:sp>
        <p:nvSpPr>
          <p:cNvPr id="10" name="">
            <a:extLst xmlns:a="http://schemas.openxmlformats.org/drawingml/2006/main">
              <a:ext uri="{FF2B5EF4-FFF2-40B4-BE49-F238E27FC236}">
                <a16:creationId xmlns:a16="http://schemas.microsoft.com/office/drawing/2014/main" id="{0D0808BF-0FD8-4A08-9D41-FDA5C2BA1514}"/>
              </a:ext>
            </a:extLst>
          </p:cNvPr>
          <p:cNvSpPr>
            <a:spLocks xmlns:a="http://schemas.openxmlformats.org/drawingml/2006/main" noGrp="1"/>
          </p:cNvSpPr>
          <p:nvPr/>
        </p:nvSpPr>
        <p:spPr>
          <a:xfrm xmlns:a="http://schemas.openxmlformats.org/drawingml/2006/main">
            <a:off x="762000" y="4219575"/>
            <a:ext cx="5000625"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950" b="0">
                <a:solidFill>
                  <a:srgbClr val="111827"/>
                </a:solidFill>
                <a:latin typeface="Arial"/>
                <a:ea typeface="Arial"/>
                <a:cs typeface="Arial"/>
              </a:defRPr>
            </a:pPr>
            <a:r>
              <a:rPr sz="1950" b="0">
                <a:solidFill>
                  <a:srgbClr val="111827"/>
                </a:solidFill>
                <a:latin typeface="Arial"/>
                <a:ea typeface="Arial"/>
                <a:cs typeface="Arial"/>
              </a:rPr>
              <a:t>Tower R2 = 0.998</a:t>
            </a:r>
          </a:p>
          <a:p xmlns:a="http://schemas.openxmlformats.org/drawingml/2006/main">
            <a:pPr>
              <a:defRPr sz="1950" b="0">
                <a:solidFill>
                  <a:srgbClr val="111827"/>
                </a:solidFill>
                <a:latin typeface="Arial"/>
                <a:ea typeface="Arial"/>
                <a:cs typeface="Arial"/>
              </a:defRPr>
            </a:pPr>
            <a:r>
              <a:rPr sz="1950" b="0">
                <a:solidFill>
                  <a:srgbClr val="111827"/>
                </a:solidFill>
                <a:latin typeface="Arial"/>
                <a:ea typeface="Arial"/>
                <a:cs typeface="Arial"/>
              </a:rPr>
              <a:t>Good fit does not prove the range is reliable.</a:t>
            </a:r>
          </a:p>
        </p:txBody>
      </p:sp>
      <p:sp>
        <p:nvSpPr>
          <p:cNvPr id="11" name="">
            <a:extLst xmlns:a="http://schemas.openxmlformats.org/drawingml/2006/main">
              <a:ext uri="{FF2B5EF4-FFF2-40B4-BE49-F238E27FC236}">
                <a16:creationId xmlns:a16="http://schemas.microsoft.com/office/drawing/2014/main" id="{C3004477-6BB4-435D-A561-717015FD45EA}"/>
              </a:ext>
            </a:extLst>
          </p:cNvPr>
          <p:cNvSpPr>
            <a:spLocks xmlns:a="http://schemas.openxmlformats.org/drawingml/2006/main" noGrp="1"/>
          </p:cNvSpPr>
          <p:nvPr/>
        </p:nvSpPr>
        <p:spPr>
          <a:xfrm xmlns:a="http://schemas.openxmlformats.org/drawingml/2006/main">
            <a:off x="762000" y="5286375"/>
            <a:ext cx="10668000"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201E195-5392-433A-8456-DFA064C7C529}"/>
              </a:ext>
            </a:extLst>
          </p:cNvPr>
          <p:cNvSpPr>
            <a:spLocks xmlns:a="http://schemas.openxmlformats.org/drawingml/2006/main" noGrp="1"/>
          </p:cNvSpPr>
          <p:nvPr/>
        </p:nvSpPr>
        <p:spPr>
          <a:xfrm xmlns:a="http://schemas.openxmlformats.org/drawingml/2006/main">
            <a:off x="762000" y="547687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0">
                <a:solidFill>
                  <a:srgbClr val="111827"/>
                </a:solidFill>
                <a:latin typeface="Arial"/>
                <a:ea typeface="Arial"/>
                <a:cs typeface="Arial"/>
              </a:defRPr>
            </a:pPr>
            <a:r>
              <a:rPr sz="1800" b="0">
                <a:solidFill>
                  <a:srgbClr val="111827"/>
                </a:solidFill>
                <a:latin typeface="Arial"/>
                <a:ea typeface="Arial"/>
                <a:cs typeface="Arial"/>
              </a:rPr>
              <a:t>Improve: use separate data to choose models and set ranges.</a:t>
            </a:r>
          </a:p>
        </p:txBody>
      </p:sp>
      <p:sp>
        <p:nvSpPr>
          <p:cNvPr id="13" name="">
            <a:extLst xmlns:a="http://schemas.openxmlformats.org/drawingml/2006/main">
              <a:ext uri="{FF2B5EF4-FFF2-40B4-BE49-F238E27FC236}">
                <a16:creationId xmlns:a16="http://schemas.microsoft.com/office/drawing/2014/main" id="{1499A5B9-E44B-4507-8473-D6C4CCBE9A59}"/>
              </a:ext>
            </a:extLst>
          </p:cNvPr>
          <p:cNvSpPr>
            <a:spLocks xmlns:a="http://schemas.openxmlformats.org/drawingml/2006/main" noGrp="1"/>
          </p:cNvSpPr>
          <p:nvPr/>
        </p:nvSpPr>
        <p:spPr>
          <a:xfrm xmlns:a="http://schemas.openxmlformats.org/drawingml/2006/main">
            <a:off x="762000" y="5905500"/>
            <a:ext cx="1085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425" b="0">
                <a:solidFill>
                  <a:srgbClr val="6B7280"/>
                </a:solidFill>
                <a:latin typeface="Arial"/>
                <a:ea typeface="Arial"/>
                <a:cs typeface="Arial"/>
              </a:defRPr>
            </a:pPr>
            <a:r>
              <a:rPr sz="1425" b="0">
                <a:solidFill>
                  <a:srgbClr val="6B7280"/>
                </a:solidFill>
                <a:latin typeface="Arial"/>
                <a:ea typeface="Arial"/>
                <a:cs typeface="Arial"/>
              </a:rPr>
              <a:t>Limited samples; no statistical significance test or independently verified coverage guarantee.</a:t>
            </a:r>
          </a:p>
        </p:txBody>
      </p:sp>
    </p:spTree>
    <p:extLst>
      <p:ext uri="{BB962C8B-B14F-4D97-AF65-F5344CB8AC3E}">
        <p14:creationId xmlns:p14="http://schemas.microsoft.com/office/powerpoint/2010/main" val="375864447"/>
      </p:ext>
    </p:extLst>
  </p:cSld>
</p:sld>
</file>

<file path=ppt/slides/slide6.xml><?xml version="1.0" encoding="utf-8"?>
<p:sld xmlns:p="http://schemas.openxmlformats.org/presentationml/2006/main">
  <p:cSld>
    <p:bg>
      <p:bgPr>
        <a:solidFill xmlns:a="http://schemas.openxmlformats.org/drawingml/2006/main">
          <a:srgbClr val="F9FAFB"/>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EDE9A87B-EA44-411C-BCC5-C0964E03A63D}"/>
              </a:ext>
            </a:extLst>
          </p:cNvPr>
          <p:cNvSpPr>
            <a:spLocks xmlns:a="http://schemas.openxmlformats.org/drawingml/2006/main" noGrp="1"/>
          </p:cNvSpPr>
          <p:nvPr/>
        </p:nvSpPr>
        <p:spPr>
          <a:xfrm xmlns:a="http://schemas.openxmlformats.org/drawingml/2006/main">
            <a:off x="762000" y="342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050" b="0">
                <a:solidFill>
                  <a:srgbClr val="6B7280"/>
                </a:solidFill>
                <a:latin typeface="Arial"/>
                <a:ea typeface="Arial"/>
                <a:cs typeface="Arial"/>
              </a:defRPr>
            </a:pPr>
            <a:r>
              <a:rPr sz="1050" b="0">
                <a:solidFill>
                  <a:srgbClr val="6B7280"/>
                </a:solidFill>
                <a:latin typeface="Arial"/>
                <a:ea typeface="Arial"/>
                <a:cs typeface="Arial"/>
              </a:rPr>
              <a:t>E C O L L A T E R A L   /   C S C I  4 1 5 0  A 2</a:t>
            </a:r>
          </a:p>
        </p:txBody>
      </p:sp>
      <p:sp>
        <p:nvSpPr>
          <p:cNvPr id="2" name="">
            <a:extLst xmlns:a="http://schemas.openxmlformats.org/drawingml/2006/main">
              <a:ext uri="{FF2B5EF4-FFF2-40B4-BE49-F238E27FC236}">
                <a16:creationId xmlns:a16="http://schemas.microsoft.com/office/drawing/2014/main" id="{DE1E3C6F-8780-4A30-AA55-46609677E719}"/>
              </a:ext>
            </a:extLst>
          </p:cNvPr>
          <p:cNvSpPr>
            <a:spLocks xmlns:a="http://schemas.openxmlformats.org/drawingml/2006/main" noGrp="1"/>
          </p:cNvSpPr>
          <p:nvPr/>
        </p:nvSpPr>
        <p:spPr>
          <a:xfrm xmlns:a="http://schemas.openxmlformats.org/drawingml/2006/main">
            <a:off x="628650" y="885825"/>
            <a:ext cx="14288" cy="981075"/>
          </a:xfrm>
          <a:prstGeom xmlns:a="http://schemas.openxmlformats.org/drawingml/2006/main" prst="rect">
            <a:avLst/>
          </a:prstGeom>
          <a:solidFill xmlns:a="http://schemas.openxmlformats.org/drawingml/2006/main">
            <a:srgbClr val="111827"/>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09BEE68-B9BF-45E6-95FF-4F4B062F9A36}"/>
              </a:ext>
            </a:extLst>
          </p:cNvPr>
          <p:cNvSpPr>
            <a:spLocks xmlns:a="http://schemas.openxmlformats.org/drawingml/2006/main" noGrp="1"/>
          </p:cNvSpPr>
          <p:nvPr/>
        </p:nvSpPr>
        <p:spPr>
          <a:xfrm xmlns:a="http://schemas.openxmlformats.org/drawingml/2006/main">
            <a:off x="809625" y="866775"/>
            <a:ext cx="10525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225" b="0">
                <a:solidFill>
                  <a:srgbClr val="111827"/>
                </a:solidFill>
                <a:latin typeface="Georgia"/>
                <a:ea typeface="Georgia"/>
                <a:cs typeface="Georgia"/>
              </a:defRPr>
            </a:pPr>
            <a:r>
              <a:rPr sz="3225" b="0">
                <a:solidFill>
                  <a:srgbClr val="111827"/>
                </a:solidFill>
                <a:latin typeface="Georgia"/>
                <a:ea typeface="Georgia"/>
                <a:cs typeface="Georgia"/>
              </a:rPr>
              <a:t>DECISIONS &amp; NEXT QUESTION</a:t>
            </a:r>
          </a:p>
        </p:txBody>
      </p:sp>
      <p:sp>
        <p:nvSpPr>
          <p:cNvPr id="4" name="">
            <a:extLst xmlns:a="http://schemas.openxmlformats.org/drawingml/2006/main">
              <a:ext uri="{FF2B5EF4-FFF2-40B4-BE49-F238E27FC236}">
                <a16:creationId xmlns:a16="http://schemas.microsoft.com/office/drawing/2014/main" id="{97E85B10-9781-4620-B673-88DE7F0FF99E}"/>
              </a:ext>
            </a:extLst>
          </p:cNvPr>
          <p:cNvSpPr>
            <a:spLocks xmlns:a="http://schemas.openxmlformats.org/drawingml/2006/main" noGrp="1"/>
          </p:cNvSpPr>
          <p:nvPr/>
        </p:nvSpPr>
        <p:spPr>
          <a:xfrm xmlns:a="http://schemas.openxmlformats.org/drawingml/2006/main">
            <a:off x="762000" y="6324600"/>
            <a:ext cx="10191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975" b="0">
                <a:solidFill>
                  <a:srgbClr val="6B7280"/>
                </a:solidFill>
                <a:latin typeface="Arial"/>
                <a:ea typeface="Arial"/>
                <a:cs typeface="Arial"/>
              </a:defRPr>
            </a:pPr>
            <a:r>
              <a:rPr sz="975" b="0">
                <a:solidFill>
                  <a:srgbClr val="6B7280"/>
                </a:solidFill>
                <a:latin typeface="Arial"/>
                <a:ea typeface="Arial"/>
                <a:cs typeface="Arial"/>
              </a:rPr>
              <a:t>Decisions: E1-E5 | Proposed responsibilities: Shaun / Troy / Scott | Presentation day pending</a:t>
            </a:r>
          </a:p>
        </p:txBody>
      </p:sp>
      <p:sp>
        <p:nvSpPr>
          <p:cNvPr id="5" name="">
            <a:extLst xmlns:a="http://schemas.openxmlformats.org/drawingml/2006/main">
              <a:ext uri="{FF2B5EF4-FFF2-40B4-BE49-F238E27FC236}">
                <a16:creationId xmlns:a16="http://schemas.microsoft.com/office/drawing/2014/main" id="{C550670B-C8B3-48C4-A01F-F379B8317196}"/>
              </a:ext>
            </a:extLst>
          </p:cNvPr>
          <p:cNvSpPr>
            <a:spLocks xmlns:a="http://schemas.openxmlformats.org/drawingml/2006/main" noGrp="1"/>
          </p:cNvSpPr>
          <p:nvPr/>
        </p:nvSpPr>
        <p:spPr>
          <a:xfrm xmlns:a="http://schemas.openxmlformats.org/drawingml/2006/main">
            <a:off x="11239500" y="632460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050" b="0">
                <a:solidFill>
                  <a:srgbClr val="6B7280"/>
                </a:solidFill>
                <a:latin typeface="Arial"/>
                <a:ea typeface="Arial"/>
                <a:cs typeface="Arial"/>
              </a:defRPr>
            </a:pPr>
            <a:r>
              <a:rPr sz="1050" b="0">
                <a:solidFill>
                  <a:srgbClr val="6B7280"/>
                </a:solidFill>
                <a:latin typeface="Arial"/>
                <a:ea typeface="Arial"/>
                <a:cs typeface="Arial"/>
              </a:rPr>
              <a:t>06</a:t>
            </a:r>
          </a:p>
        </p:txBody>
      </p:sp>
      <p:sp>
        <p:nvSpPr>
          <p:cNvPr id="6" name="">
            <a:extLst xmlns:a="http://schemas.openxmlformats.org/drawingml/2006/main">
              <a:ext uri="{FF2B5EF4-FFF2-40B4-BE49-F238E27FC236}">
                <a16:creationId xmlns:a16="http://schemas.microsoft.com/office/drawing/2014/main" id="{051BFF05-F28F-4002-BD67-868365E21181}"/>
              </a:ext>
            </a:extLst>
          </p:cNvPr>
          <p:cNvSpPr>
            <a:spLocks xmlns:a="http://schemas.openxmlformats.org/drawingml/2006/main" noGrp="1"/>
          </p:cNvSpPr>
          <p:nvPr/>
        </p:nvSpPr>
        <p:spPr>
          <a:xfrm xmlns:a="http://schemas.openxmlformats.org/drawingml/2006/main">
            <a:off x="762000" y="2228850"/>
            <a:ext cx="5762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275" b="0">
                <a:solidFill>
                  <a:srgbClr val="6B7280"/>
                </a:solidFill>
                <a:latin typeface="Arial"/>
                <a:ea typeface="Arial"/>
                <a:cs typeface="Arial"/>
              </a:defRPr>
            </a:pPr>
            <a:r>
              <a:rPr sz="1275" b="0">
                <a:solidFill>
                  <a:srgbClr val="6B7280"/>
                </a:solidFill>
                <a:latin typeface="Arial"/>
                <a:ea typeface="Arial"/>
                <a:cs typeface="Arial"/>
              </a:rPr>
              <a:t>KEEP (ADOPT)</a:t>
            </a:r>
          </a:p>
        </p:txBody>
      </p:sp>
      <p:sp>
        <p:nvSpPr>
          <p:cNvPr id="7" name="">
            <a:extLst xmlns:a="http://schemas.openxmlformats.org/drawingml/2006/main">
              <a:ext uri="{FF2B5EF4-FFF2-40B4-BE49-F238E27FC236}">
                <a16:creationId xmlns:a16="http://schemas.microsoft.com/office/drawing/2014/main" id="{4C574903-43DC-45ED-8429-8D9AB6E38F4C}"/>
              </a:ext>
            </a:extLst>
          </p:cNvPr>
          <p:cNvSpPr>
            <a:spLocks xmlns:a="http://schemas.openxmlformats.org/drawingml/2006/main" noGrp="1"/>
          </p:cNvSpPr>
          <p:nvPr/>
        </p:nvSpPr>
        <p:spPr>
          <a:xfrm xmlns:a="http://schemas.openxmlformats.org/drawingml/2006/main">
            <a:off x="762000" y="2476500"/>
            <a:ext cx="5810250"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8B13783-7F88-496E-BDE4-090F3A24A4B9}"/>
              </a:ext>
            </a:extLst>
          </p:cNvPr>
          <p:cNvSpPr>
            <a:spLocks xmlns:a="http://schemas.openxmlformats.org/drawingml/2006/main" noGrp="1"/>
          </p:cNvSpPr>
          <p:nvPr/>
        </p:nvSpPr>
        <p:spPr>
          <a:xfrm xmlns:a="http://schemas.openxmlformats.org/drawingml/2006/main">
            <a:off x="762000" y="2600325"/>
            <a:ext cx="5905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650" b="0">
                <a:solidFill>
                  <a:srgbClr val="111827"/>
                </a:solidFill>
                <a:latin typeface="Arial"/>
                <a:ea typeface="Arial"/>
                <a:cs typeface="Arial"/>
              </a:defRPr>
            </a:pPr>
            <a:r>
              <a:rPr sz="1650" b="0">
                <a:solidFill>
                  <a:srgbClr val="111827"/>
                </a:solidFill>
                <a:latin typeface="Arial"/>
                <a:ea typeface="Arial"/>
                <a:cs typeface="Arial"/>
              </a:rPr>
              <a:t>E1: lower XGBoost error. E3/E4: safeguards pass.</a:t>
            </a:r>
          </a:p>
          <a:p xmlns:a="http://schemas.openxmlformats.org/drawingml/2006/main">
            <a:pPr>
              <a:defRPr sz="1650" b="0">
                <a:solidFill>
                  <a:srgbClr val="111827"/>
                </a:solidFill>
                <a:latin typeface="Arial"/>
                <a:ea typeface="Arial"/>
                <a:cs typeface="Arial"/>
              </a:defRPr>
            </a:pPr>
            <a:r>
              <a:rPr sz="1650" b="0">
                <a:solidFill>
                  <a:srgbClr val="111827"/>
                </a:solidFill>
                <a:latin typeface="Arial"/>
                <a:ea typeface="Arial"/>
                <a:cs typeface="Arial"/>
              </a:rPr>
              <a:t>Keep models, rules, and location checks.</a:t>
            </a:r>
          </a:p>
        </p:txBody>
      </p:sp>
      <p:sp>
        <p:nvSpPr>
          <p:cNvPr id="9" name="">
            <a:extLst xmlns:a="http://schemas.openxmlformats.org/drawingml/2006/main">
              <a:ext uri="{FF2B5EF4-FFF2-40B4-BE49-F238E27FC236}">
                <a16:creationId xmlns:a16="http://schemas.microsoft.com/office/drawing/2014/main" id="{DFDE77A8-3D7D-49C6-938A-76630EBBAAAD}"/>
              </a:ext>
            </a:extLst>
          </p:cNvPr>
          <p:cNvSpPr>
            <a:spLocks xmlns:a="http://schemas.openxmlformats.org/drawingml/2006/main" noGrp="1"/>
          </p:cNvSpPr>
          <p:nvPr/>
        </p:nvSpPr>
        <p:spPr>
          <a:xfrm xmlns:a="http://schemas.openxmlformats.org/drawingml/2006/main">
            <a:off x="762000" y="3171825"/>
            <a:ext cx="5762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275" b="0">
                <a:solidFill>
                  <a:srgbClr val="6B7280"/>
                </a:solidFill>
                <a:latin typeface="Arial"/>
                <a:ea typeface="Arial"/>
                <a:cs typeface="Arial"/>
              </a:defRPr>
            </a:pPr>
            <a:r>
              <a:rPr sz="1275" b="0">
                <a:solidFill>
                  <a:srgbClr val="6B7280"/>
                </a:solidFill>
                <a:latin typeface="Arial"/>
                <a:ea typeface="Arial"/>
                <a:cs typeface="Arial"/>
              </a:rPr>
              <a:t>CHANGE (MODIFY)</a:t>
            </a:r>
          </a:p>
        </p:txBody>
      </p:sp>
      <p:sp>
        <p:nvSpPr>
          <p:cNvPr id="10" name="">
            <a:extLst xmlns:a="http://schemas.openxmlformats.org/drawingml/2006/main">
              <a:ext uri="{FF2B5EF4-FFF2-40B4-BE49-F238E27FC236}">
                <a16:creationId xmlns:a16="http://schemas.microsoft.com/office/drawing/2014/main" id="{4CF1C17D-7FD2-41D5-AB42-0684D5BD21E5}"/>
              </a:ext>
            </a:extLst>
          </p:cNvPr>
          <p:cNvSpPr>
            <a:spLocks xmlns:a="http://schemas.openxmlformats.org/drawingml/2006/main" noGrp="1"/>
          </p:cNvSpPr>
          <p:nvPr/>
        </p:nvSpPr>
        <p:spPr>
          <a:xfrm xmlns:a="http://schemas.openxmlformats.org/drawingml/2006/main">
            <a:off x="762000" y="3429000"/>
            <a:ext cx="5810250"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8A738F6-3669-49D7-9DCC-6BFED673CB7A}"/>
              </a:ext>
            </a:extLst>
          </p:cNvPr>
          <p:cNvSpPr>
            <a:spLocks xmlns:a="http://schemas.openxmlformats.org/drawingml/2006/main" noGrp="1"/>
          </p:cNvSpPr>
          <p:nvPr/>
        </p:nvSpPr>
        <p:spPr>
          <a:xfrm xmlns:a="http://schemas.openxmlformats.org/drawingml/2006/main">
            <a:off x="762000" y="3552825"/>
            <a:ext cx="5905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650" b="0">
                <a:solidFill>
                  <a:srgbClr val="111827"/>
                </a:solidFill>
                <a:latin typeface="Arial"/>
                <a:ea typeface="Arial"/>
                <a:cs typeface="Arial"/>
              </a:defRPr>
            </a:pPr>
            <a:r>
              <a:rPr sz="1650" b="0">
                <a:solidFill>
                  <a:srgbClr val="111827"/>
                </a:solidFill>
                <a:latin typeface="Arial"/>
                <a:ea typeface="Arial"/>
                <a:cs typeface="Arial"/>
              </a:rPr>
              <a:t>E2: biased neighbors. E5: ranges miss 90%.</a:t>
            </a:r>
          </a:p>
          <a:p xmlns:a="http://schemas.openxmlformats.org/drawingml/2006/main">
            <a:pPr>
              <a:defRPr sz="1650" b="0">
                <a:solidFill>
                  <a:srgbClr val="111827"/>
                </a:solidFill>
                <a:latin typeface="Arial"/>
                <a:ea typeface="Arial"/>
                <a:cs typeface="Arial"/>
              </a:defRPr>
            </a:pPr>
            <a:r>
              <a:rPr sz="1650" b="0">
                <a:solidFill>
                  <a:srgbClr val="111827"/>
                </a:solidFill>
                <a:latin typeface="Arial"/>
                <a:ea typeface="Arial"/>
                <a:cs typeface="Arial"/>
              </a:rPr>
              <a:t>Improve gaps/ranges and add area balances.</a:t>
            </a:r>
          </a:p>
        </p:txBody>
      </p:sp>
      <p:sp>
        <p:nvSpPr>
          <p:cNvPr id="12" name="">
            <a:extLst xmlns:a="http://schemas.openxmlformats.org/drawingml/2006/main">
              <a:ext uri="{FF2B5EF4-FFF2-40B4-BE49-F238E27FC236}">
                <a16:creationId xmlns:a16="http://schemas.microsoft.com/office/drawing/2014/main" id="{DAE686BD-55C5-4E1C-B71A-32E73531B1C8}"/>
              </a:ext>
            </a:extLst>
          </p:cNvPr>
          <p:cNvSpPr>
            <a:spLocks xmlns:a="http://schemas.openxmlformats.org/drawingml/2006/main" noGrp="1"/>
          </p:cNvSpPr>
          <p:nvPr/>
        </p:nvSpPr>
        <p:spPr>
          <a:xfrm xmlns:a="http://schemas.openxmlformats.org/drawingml/2006/main">
            <a:off x="762000" y="4171950"/>
            <a:ext cx="5762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275" b="0">
                <a:solidFill>
                  <a:srgbClr val="6B7280"/>
                </a:solidFill>
                <a:latin typeface="Arial"/>
                <a:ea typeface="Arial"/>
                <a:cs typeface="Arial"/>
              </a:defRPr>
            </a:pPr>
            <a:r>
              <a:rPr sz="1275" b="0">
                <a:solidFill>
                  <a:srgbClr val="6B7280"/>
                </a:solidFill>
                <a:latin typeface="Arial"/>
                <a:ea typeface="Arial"/>
                <a:cs typeface="Arial"/>
              </a:rPr>
              <a:t>REJECT</a:t>
            </a:r>
          </a:p>
        </p:txBody>
      </p:sp>
      <p:sp>
        <p:nvSpPr>
          <p:cNvPr id="13" name="">
            <a:extLst xmlns:a="http://schemas.openxmlformats.org/drawingml/2006/main">
              <a:ext uri="{FF2B5EF4-FFF2-40B4-BE49-F238E27FC236}">
                <a16:creationId xmlns:a16="http://schemas.microsoft.com/office/drawing/2014/main" id="{F0D3DDFE-9FB3-49AB-BD8F-3068DA639D7B}"/>
              </a:ext>
            </a:extLst>
          </p:cNvPr>
          <p:cNvSpPr>
            <a:spLocks xmlns:a="http://schemas.openxmlformats.org/drawingml/2006/main" noGrp="1"/>
          </p:cNvSpPr>
          <p:nvPr/>
        </p:nvSpPr>
        <p:spPr>
          <a:xfrm xmlns:a="http://schemas.openxmlformats.org/drawingml/2006/main">
            <a:off x="762000" y="4419600"/>
            <a:ext cx="5810250"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954F798-9AFA-4BE2-A1F0-13954321FA1B}"/>
              </a:ext>
            </a:extLst>
          </p:cNvPr>
          <p:cNvSpPr>
            <a:spLocks xmlns:a="http://schemas.openxmlformats.org/drawingml/2006/main" noGrp="1"/>
          </p:cNvSpPr>
          <p:nvPr/>
        </p:nvSpPr>
        <p:spPr>
          <a:xfrm xmlns:a="http://schemas.openxmlformats.org/drawingml/2006/main">
            <a:off x="762000" y="4543425"/>
            <a:ext cx="5905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650" b="0">
                <a:solidFill>
                  <a:srgbClr val="111827"/>
                </a:solidFill>
                <a:latin typeface="Arial"/>
                <a:ea typeface="Arial"/>
                <a:cs typeface="Arial"/>
              </a:defRPr>
            </a:pPr>
            <a:r>
              <a:rPr sz="1650" b="0">
                <a:solidFill>
                  <a:srgbClr val="111827"/>
                </a:solidFill>
                <a:latin typeface="Arial"/>
                <a:ea typeface="Arial"/>
                <a:cs typeface="Arial"/>
              </a:rPr>
              <a:t>E5: R2 is fit, not confidence.</a:t>
            </a:r>
          </a:p>
          <a:p xmlns:a="http://schemas.openxmlformats.org/drawingml/2006/main">
            <a:pPr>
              <a:defRPr sz="1650" b="0">
                <a:solidFill>
                  <a:srgbClr val="111827"/>
                </a:solidFill>
                <a:latin typeface="Arial"/>
                <a:ea typeface="Arial"/>
                <a:cs typeface="Arial"/>
              </a:defRPr>
            </a:pPr>
            <a:r>
              <a:rPr sz="1650" b="0">
                <a:solidFill>
                  <a:srgbClr val="111827"/>
                </a:solidFill>
                <a:latin typeface="Arial"/>
                <a:ea typeface="Arial"/>
                <a:cs typeface="Arial"/>
              </a:rPr>
              <a:t>Cooling use is not regional ecosystem impact.</a:t>
            </a:r>
          </a:p>
        </p:txBody>
      </p:sp>
      <p:sp>
        <p:nvSpPr>
          <p:cNvPr id="15" name="">
            <a:extLst xmlns:a="http://schemas.openxmlformats.org/drawingml/2006/main">
              <a:ext uri="{FF2B5EF4-FFF2-40B4-BE49-F238E27FC236}">
                <a16:creationId xmlns:a16="http://schemas.microsoft.com/office/drawing/2014/main" id="{970B6952-D60D-4E8E-83C0-389EB8D7CA06}"/>
              </a:ext>
            </a:extLst>
          </p:cNvPr>
          <p:cNvSpPr>
            <a:spLocks xmlns:a="http://schemas.openxmlformats.org/drawingml/2006/main" noGrp="1"/>
          </p:cNvSpPr>
          <p:nvPr/>
        </p:nvSpPr>
        <p:spPr>
          <a:xfrm xmlns:a="http://schemas.openxmlformats.org/drawingml/2006/main">
            <a:off x="762000" y="5133975"/>
            <a:ext cx="5762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275" b="0">
                <a:solidFill>
                  <a:srgbClr val="6B7280"/>
                </a:solidFill>
                <a:latin typeface="Arial"/>
                <a:ea typeface="Arial"/>
                <a:cs typeface="Arial"/>
              </a:defRPr>
            </a:pPr>
            <a:r>
              <a:rPr sz="1275" b="0">
                <a:solidFill>
                  <a:srgbClr val="6B7280"/>
                </a:solidFill>
                <a:latin typeface="Arial"/>
                <a:ea typeface="Arial"/>
                <a:cs typeface="Arial"/>
              </a:rPr>
              <a:t>DEFER</a:t>
            </a:r>
          </a:p>
        </p:txBody>
      </p:sp>
      <p:sp>
        <p:nvSpPr>
          <p:cNvPr id="16" name="">
            <a:extLst xmlns:a="http://schemas.openxmlformats.org/drawingml/2006/main">
              <a:ext uri="{FF2B5EF4-FFF2-40B4-BE49-F238E27FC236}">
                <a16:creationId xmlns:a16="http://schemas.microsoft.com/office/drawing/2014/main" id="{4A9D27A1-3CD4-417F-9C4B-9B3EF23C8B4E}"/>
              </a:ext>
            </a:extLst>
          </p:cNvPr>
          <p:cNvSpPr>
            <a:spLocks xmlns:a="http://schemas.openxmlformats.org/drawingml/2006/main" noGrp="1"/>
          </p:cNvSpPr>
          <p:nvPr/>
        </p:nvSpPr>
        <p:spPr>
          <a:xfrm xmlns:a="http://schemas.openxmlformats.org/drawingml/2006/main">
            <a:off x="762000" y="5381625"/>
            <a:ext cx="5810250"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6B1C13E-660F-4DCB-98A7-7F8B761DA567}"/>
              </a:ext>
            </a:extLst>
          </p:cNvPr>
          <p:cNvSpPr>
            <a:spLocks xmlns:a="http://schemas.openxmlformats.org/drawingml/2006/main" noGrp="1"/>
          </p:cNvSpPr>
          <p:nvPr/>
        </p:nvSpPr>
        <p:spPr>
          <a:xfrm xmlns:a="http://schemas.openxmlformats.org/drawingml/2006/main">
            <a:off x="762000" y="5505450"/>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650" b="0">
                <a:solidFill>
                  <a:srgbClr val="111827"/>
                </a:solidFill>
                <a:latin typeface="Arial"/>
                <a:ea typeface="Arial"/>
                <a:cs typeface="Arial"/>
              </a:defRPr>
            </a:pPr>
            <a:r>
              <a:rPr sz="1650" b="0">
                <a:solidFill>
                  <a:srgbClr val="111827"/>
                </a:solidFill>
                <a:latin typeface="Arial"/>
                <a:ea typeface="Arial"/>
                <a:cs typeface="Arial"/>
              </a:rPr>
              <a:t>No neural/LLM benchmark or regional labels yet.</a:t>
            </a:r>
          </a:p>
        </p:txBody>
      </p:sp>
      <p:sp>
        <p:nvSpPr>
          <p:cNvPr id="18" name="">
            <a:extLst xmlns:a="http://schemas.openxmlformats.org/drawingml/2006/main">
              <a:ext uri="{FF2B5EF4-FFF2-40B4-BE49-F238E27FC236}">
                <a16:creationId xmlns:a16="http://schemas.microsoft.com/office/drawing/2014/main" id="{7AC6AB5B-A2E4-4A0A-AF39-465BCC362DC8}"/>
              </a:ext>
            </a:extLst>
          </p:cNvPr>
          <p:cNvSpPr>
            <a:spLocks xmlns:a="http://schemas.openxmlformats.org/drawingml/2006/main" noGrp="1"/>
          </p:cNvSpPr>
          <p:nvPr/>
        </p:nvSpPr>
        <p:spPr>
          <a:xfrm xmlns:a="http://schemas.openxmlformats.org/drawingml/2006/main">
            <a:off x="762000" y="5905500"/>
            <a:ext cx="10763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0">
                <a:solidFill>
                  <a:srgbClr val="111827"/>
                </a:solidFill>
                <a:latin typeface="Arial"/>
                <a:ea typeface="Arial"/>
                <a:cs typeface="Arial"/>
              </a:defRPr>
            </a:pPr>
            <a:r>
              <a:rPr sz="1800" b="0">
                <a:solidFill>
                  <a:srgbClr val="111827"/>
                </a:solidFill>
                <a:latin typeface="Arial"/>
                <a:ea typeface="Arial"/>
                <a:cs typeface="Arial"/>
              </a:rPr>
              <a:t>Can we validate seasonal reserve and watershed impacts in an unseen area?</a:t>
            </a:r>
          </a:p>
        </p:txBody>
      </p:sp>
      <p:sp>
        <p:nvSpPr>
          <p:cNvPr id="19" name="">
            <a:extLst xmlns:a="http://schemas.openxmlformats.org/drawingml/2006/main">
              <a:ext uri="{FF2B5EF4-FFF2-40B4-BE49-F238E27FC236}">
                <a16:creationId xmlns:a16="http://schemas.microsoft.com/office/drawing/2014/main" id="{3811D772-3A24-4C59-B8CF-C5E05D800A0D}"/>
              </a:ext>
            </a:extLst>
          </p:cNvPr>
          <p:cNvSpPr>
            <a:spLocks xmlns:a="http://schemas.openxmlformats.org/drawingml/2006/main" noGrp="1"/>
          </p:cNvSpPr>
          <p:nvPr/>
        </p:nvSpPr>
        <p:spPr>
          <a:xfrm xmlns:a="http://schemas.openxmlformats.org/drawingml/2006/main">
            <a:off x="7953375" y="5124450"/>
            <a:ext cx="3476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275" b="0">
                <a:solidFill>
                  <a:srgbClr val="6B7280"/>
                </a:solidFill>
                <a:latin typeface="Arial"/>
                <a:ea typeface="Arial"/>
                <a:cs typeface="Arial"/>
              </a:defRPr>
            </a:pPr>
            <a:r>
              <a:rPr sz="1275" b="0">
                <a:solidFill>
                  <a:srgbClr val="6B7280"/>
                </a:solidFill>
                <a:latin typeface="Arial"/>
                <a:ea typeface="Arial"/>
                <a:cs typeface="Arial"/>
              </a:rPr>
              <a:t>Shaun: code + area integration</a:t>
            </a:r>
          </a:p>
          <a:p xmlns:a="http://schemas.openxmlformats.org/drawingml/2006/main">
            <a:pPr>
              <a:defRPr sz="1275" b="0">
                <a:solidFill>
                  <a:srgbClr val="6B7280"/>
                </a:solidFill>
                <a:latin typeface="Arial"/>
                <a:ea typeface="Arial"/>
                <a:cs typeface="Arial"/>
              </a:defRPr>
            </a:pPr>
            <a:r>
              <a:rPr sz="1275" b="0">
                <a:solidFill>
                  <a:srgbClr val="6B7280"/>
                </a:solidFill>
                <a:latin typeface="Arial"/>
                <a:ea typeface="Arial"/>
                <a:cs typeface="Arial"/>
              </a:rPr>
              <a:t>Troy: data + grounding</a:t>
            </a:r>
          </a:p>
          <a:p xmlns:a="http://schemas.openxmlformats.org/drawingml/2006/main">
            <a:pPr>
              <a:defRPr sz="1275" b="0">
                <a:solidFill>
                  <a:srgbClr val="6B7280"/>
                </a:solidFill>
                <a:latin typeface="Arial"/>
                <a:ea typeface="Arial"/>
                <a:cs typeface="Arial"/>
              </a:defRPr>
            </a:pPr>
            <a:r>
              <a:rPr sz="1275" b="0">
                <a:solidFill>
                  <a:srgbClr val="6B7280"/>
                </a:solidFill>
                <a:latin typeface="Arial"/>
                <a:ea typeface="Arial"/>
                <a:cs typeface="Arial"/>
              </a:rPr>
              <a:t>Scott: evaluation + evidence</a:t>
            </a:r>
          </a:p>
        </p:txBody>
      </p:sp>
    </p:spTree>
    <p:extLst>
      <p:ext uri="{BB962C8B-B14F-4D97-AF65-F5344CB8AC3E}">
        <p14:creationId xmlns:p14="http://schemas.microsoft.com/office/powerpoint/2010/main" val="91825560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2026-10-08T15:51:36.7240000Z</dcterms:created>
  <dcterms:modified xsi:type="dcterms:W3CDTF">2026-10-08T15:51:36.7240000Z</dcterms:modified>
</coreProperties>
</file>