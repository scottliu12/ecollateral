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a2918bbc649ad" /><Relationship Type="http://schemas.openxmlformats.org/officeDocument/2006/relationships/extended-properties" Target="/docProps/app.xml" Id="R1faa38af521f40ad" /><Relationship Type="http://schemas.openxmlformats.org/officeDocument/2006/relationships/officeDocument" Target="/ppt/presentation.xml" Id="R368d2ccf828c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356f434544542"/>
  </p:sldMasterIdLst>
  <p:notesMasterIdLst>
    <p:notesMasterId xmlns:r="http://schemas.openxmlformats.org/officeDocument/2006/relationships" r:id="R6ae82ba1e22d4153"/>
  </p:notesMasterIdLst>
  <p:sldIdLst>
    <p:sldId xmlns:r="http://schemas.openxmlformats.org/officeDocument/2006/relationships" id="256" r:id="R81661f1bc8b749b0"/>
    <p:sldId xmlns:r="http://schemas.openxmlformats.org/officeDocument/2006/relationships" id="257" r:id="Rd5862e65a7004a7d"/>
    <p:sldId xmlns:r="http://schemas.openxmlformats.org/officeDocument/2006/relationships" id="258" r:id="R32fc346783034ccf"/>
    <p:sldId xmlns:r="http://schemas.openxmlformats.org/officeDocument/2006/relationships" id="259" r:id="R1838da2740ca48f0"/>
    <p:sldId xmlns:r="http://schemas.openxmlformats.org/officeDocument/2006/relationships" id="260" r:id="R8cd0a00a92a1433a"/>
    <p:sldId xmlns:r="http://schemas.openxmlformats.org/officeDocument/2006/relationships" id="261" r:id="R82e3a7e49fbc4b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6189e2a3e4eb8" /><Relationship Type="http://schemas.openxmlformats.org/officeDocument/2006/relationships/slideMaster" Target="/ppt/slideMasters/slideMaster1.xml" Id="R2a8356f434544542" /><Relationship Type="http://schemas.openxmlformats.org/officeDocument/2006/relationships/notesMaster" Target="/ppt/notesMasters/notesMaster1.xml" Id="R6ae82ba1e22d4153" /><Relationship Type="http://schemas.openxmlformats.org/officeDocument/2006/relationships/presProps" Target="/ppt/presProps.xml" Id="R4e5b171084e94c9c" /><Relationship Type="http://schemas.openxmlformats.org/officeDocument/2006/relationships/tableStyles" Target="/ppt/tableStyles.xml" Id="R5e69ad35ab474eb1" /><Relationship Type="http://schemas.openxmlformats.org/officeDocument/2006/relationships/slide" Target="/ppt/slides/slide1.xml" Id="R81661f1bc8b749b0" /><Relationship Type="http://schemas.openxmlformats.org/officeDocument/2006/relationships/slide" Target="/ppt/slides/slide2.xml" Id="Rd5862e65a7004a7d" /><Relationship Type="http://schemas.openxmlformats.org/officeDocument/2006/relationships/slide" Target="/ppt/slides/slide3.xml" Id="R32fc346783034ccf" /><Relationship Type="http://schemas.openxmlformats.org/officeDocument/2006/relationships/slide" Target="/ppt/slides/slide4.xml" Id="R1838da2740ca48f0" /><Relationship Type="http://schemas.openxmlformats.org/officeDocument/2006/relationships/slide" Target="/ppt/slides/slide5.xml" Id="R8cd0a00a92a1433a" /><Relationship Type="http://schemas.openxmlformats.org/officeDocument/2006/relationships/slide" Target="/ppt/slides/slide6.xml" Id="R82e3a7e49fbc4b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96cee0ff96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9c5fd7366421c" /><Relationship Type="http://schemas.openxmlformats.org/officeDocument/2006/relationships/notesMaster" Target="/ppt/notesMasters/notesMaster1.xml" Id="R19154a8a166e46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44d4b8c0b24310" /><Relationship Type="http://schemas.openxmlformats.org/officeDocument/2006/relationships/notesMaster" Target="/ppt/notesMasters/notesMaster1.xml" Id="R5a513329b0b4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6b8df017e4b68" /><Relationship Type="http://schemas.openxmlformats.org/officeDocument/2006/relationships/notesMaster" Target="/ppt/notesMasters/notesMaster1.xml" Id="Rc1c08466b30841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cbb0a12f3f4075" /><Relationship Type="http://schemas.openxmlformats.org/officeDocument/2006/relationships/notesMaster" Target="/ppt/notesMasters/notesMaster1.xml" Id="Re208beaa6a6442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6b542bbf134bae" /><Relationship Type="http://schemas.openxmlformats.org/officeDocument/2006/relationships/notesMaster" Target="/ppt/notesMasters/notesMaster1.xml" Id="Rc8378fa380c540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da7964c6304aec" /><Relationship Type="http://schemas.openxmlformats.org/officeDocument/2006/relationships/notesMaster" Target="/ppt/notesMasters/notesMaster1.xml" Id="Rd5e485b44e9f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Shaun, 30 seconds. Source: docs/a2/dossier.md section 1; docs/a2/evidence/forecast.json. Synthetic labels and fictional permits. Public ingestion is a parser smoke test. The current collateral stress field is an on-site consumption proxy. Assigned day 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Shaun, 30 seconds. Sources: src/models/regression.py, src/rules/thermodynamic.py, src/grounding/store.py, src/grounding/generator.py; docs/a2/evidence E3/E4 JSON. Rules also use capacity and ambient features. Fault injection -1/1e6 MGD clips to 0/0.446484 MGD for 40 MW, 30 C dry, 20 C wet. Four fictional retrieval cases pass. No LLM arithmetic or legal compliance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Shaun, 45 seconds. Source: docs/a2/evidence/regression-comparison.csv and benchmark.json. 1,600 synthetic rows per type, six years, seed 42. Selected tower R2 .99808, direct .99728. No field generalization claim. Model selection and interval sizing reuse calibration partition.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Troy, 40 seconds. Main data source: missingness-summary.csv. Bar values are exact variance multiplied by 1e8. Random gaps, fixed trained model, seed 42. Biased diagnostic: +100 MGD donors, 40% gaps, 20 repeats, predictor=.01*flow, spatial coverage .603305785, linear .985950413. Not a fitted-model failure rate. Interpolation is retrospective; sensitivity bands are not forecast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Troy, 35 seconds. Sources: interval-coverage.csv; src/models/regression.py. Tower 294/333, direct 293/333, nominal .9. Selection and radius share calibration set. Chronological dependence complicates exchangeability. These finite samples do not establish statistical significance. R2 is not confidence; air zero target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Scott, 60 seconds. Source: docs/a2/dossier.md sections 7-8, evidence-summary.csv, team-contributions.md. No neural/LLM comparison run. Shaun majority coding is confirmed; Troy/Scott supporting responsibilities are assigned, not certified completed. Next measured-label study needs facility holdouts, verified station maps, real permit relevance, MAE/RMSE/R2/coverage/width. Course date, deadline, office hours and instructor access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9c4342e274f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aec83155154518" /><Relationship Type="http://schemas.openxmlformats.org/officeDocument/2006/relationships/slideLayout" Target="/ppt/slideLayouts/slideLayout1.xml" Id="R793cc338b9a848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cc338b9a848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d193aed44de6" /><Relationship Type="http://schemas.openxmlformats.org/officeDocument/2006/relationships/notesSlide" Target="/ppt/notesSlides/notesSlide1.xml" Id="R0711c6a4912a4d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581459c284e82" /><Relationship Type="http://schemas.openxmlformats.org/officeDocument/2006/relationships/notesSlide" Target="/ppt/notesSlides/notesSlide2.xml" Id="Rc8874c5b65d0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aeea0b4884879" /><Relationship Type="http://schemas.openxmlformats.org/officeDocument/2006/relationships/chart" Target="/ppt/slides/charts/chart1.xml" Id="Rc75981fa259f44a4" /><Relationship Type="http://schemas.openxmlformats.org/officeDocument/2006/relationships/notesSlide" Target="/ppt/notesSlides/notesSlide3.xml" Id="Rad13411a915a43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cf419b40e4cae" /><Relationship Type="http://schemas.openxmlformats.org/officeDocument/2006/relationships/chart" Target="/ppt/slides/charts/chart2.xml" Id="Rc55868dfeb2747e7" /><Relationship Type="http://schemas.openxmlformats.org/officeDocument/2006/relationships/notesSlide" Target="/ppt/notesSlides/notesSlide4.xml" Id="R9afc1f359d2849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4d35d3afa43b1" /><Relationship Type="http://schemas.openxmlformats.org/officeDocument/2006/relationships/chart" Target="/ppt/slides/charts/chart3.xml" Id="R1785d9c3c09740a3" /><Relationship Type="http://schemas.openxmlformats.org/officeDocument/2006/relationships/notesSlide" Target="/ppt/notesSlides/notesSlide5.xml" Id="R122fe929036240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ac20932a498b" /><Relationship Type="http://schemas.openxmlformats.org/officeDocument/2006/relationships/notesSlide" Target="/ppt/notesSlides/notesSlide6.xml" Id="Rba47a077e26342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RandomForest</c:v>
          </c:tx>
          <c:spPr>
            <a:solidFill xmlns:a="http://schemas.openxmlformats.org/drawingml/2006/main">
              <a:srgbClr val="9BAEB9"/>
            </a:solidFill>
          </c:spPr>
          <c:cat>
            <c:strRef>
              <c:f>'Chart Data'!$A$2:$A$3</c:f>
              <c:strCache>
                <c:ptCount val="2"/>
                <c:pt idx="0">
                  <c:v>Cooling tower</c:v>
                </c:pt>
                <c:pt idx="1">
                  <c:v>Direct evaporative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0.00488969303</c:v>
                </c:pt>
                <c:pt idx="1">
                  <c:v>0.00384193269</c:v>
                </c:pt>
              </c:numCache>
            </c:numRef>
          </c:val>
        </c:ser>
        <c:ser>
          <c:idx val="1"/>
          <c:order val="1"/>
          <c:tx>
            <c:v>XGBoost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Data'!$C$2:$C$3</c:f>
              <c:strCache>
                <c:ptCount val="2"/>
                <c:pt idx="0">
                  <c:v>Cooling tower</c:v>
                </c:pt>
                <c:pt idx="1">
                  <c:v>Direct evaporative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0.003668214892</c:v>
                </c:pt>
                <c:pt idx="1">
                  <c:v>0.003191320083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0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42D42"/>
                    </a:solidFill>
                    <a:latin typeface="Arial"/>
                    <a:ea typeface="Arial"/>
                    <a:cs typeface="Arial"/>
                  </a:rPr>
                  <a:t>Mean absolute error (MGD)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D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D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Spatial nearest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Data'!$A$2:$A$4</c:f>
              <c:strCache>
                <c:ptCount val="3"/>
                <c:pt idx="0">
                  <c:v>10% gaps</c:v>
                </c:pt>
                <c:pt idx="1">
                  <c:v>25% gaps</c:v>
                </c:pt>
                <c:pt idx="2">
                  <c:v>40% gaps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0.3294740911</c:v>
                </c:pt>
                <c:pt idx="1">
                  <c:v>0.6313760632</c:v>
                </c:pt>
                <c:pt idx="2">
                  <c:v>0.9053629338</c:v>
                </c:pt>
              </c:numCache>
            </c:numRef>
          </c:val>
        </c:ser>
        <c:ser>
          <c:idx val="1"/>
          <c:order val="1"/>
          <c:tx>
            <c:v>Linear time</c:v>
          </c:tx>
          <c:spPr>
            <a:solidFill xmlns:a="http://schemas.openxmlformats.org/drawingml/2006/main">
              <a:srgbClr val="9BAEB9"/>
            </a:solidFill>
          </c:spPr>
          <c:cat>
            <c:strRef>
              <c:f>'Chart Data'!$C$2:$C$4</c:f>
              <c:strCache>
                <c:ptCount val="3"/>
                <c:pt idx="0">
                  <c:v>10% gaps</c:v>
                </c:pt>
                <c:pt idx="1">
                  <c:v>25% gaps</c:v>
                </c:pt>
                <c:pt idx="2">
                  <c:v>40% gaps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0.600125973</c:v>
                </c:pt>
                <c:pt idx="1">
                  <c:v>2.212085729</c:v>
                </c:pt>
                <c:pt idx="2">
                  <c:v>4.092290509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42D42"/>
                    </a:solidFill>
                    <a:latin typeface="Arial"/>
                    <a:ea typeface="Arial"/>
                    <a:cs typeface="Arial"/>
                  </a:rPr>
                  <a:t>Variance (10^-8 MGD2)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D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D4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167D8D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9BAEB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Tower XGB</c:v>
                </c:pt>
                <c:pt idx="1">
                  <c:v>Direct XGB</c:v>
                </c:pt>
                <c:pt idx="2">
                  <c:v>Nominal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0.8828828829</c:v>
                </c:pt>
                <c:pt idx="1">
                  <c:v>0.8798798799</c:v>
                </c:pt>
                <c:pt idx="2">
                  <c:v>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42D42"/>
                    </a:solidFill>
                    <a:latin typeface="Arial"/>
                    <a:ea typeface="Arial"/>
                    <a:cs typeface="Arial"/>
                  </a:rPr>
                  <a:t>Labels inside interval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D4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63376-A92F-4DC0-81CC-F24BD0A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7BC9F-23DC-4785-84C4-DB989A1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How much water does a cooling scenario consume?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DF6E4-7324-4738-9AC3-4DDABEF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Snapshot: October 7, 2026 | Synthetic labels; field validation pending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1152D-70B6-4FDB-9A2F-A7BB52B9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150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BCE69-DEBA-4F90-B5A8-BBFBA2C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For researchers and planners comparing proposed data centers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73C1F-58F8-45C2-8FD5-E9BA2872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0648A-EAD8-456B-B474-2106389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13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Capacity (MW)</a:t>
            </a:r>
          </a:p>
          <a:p xmlns:a="http://schemas.openxmlformats.org/drawingml/2006/main">
            <a:pPr>
              <a:defRPr sz="25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Cooling type</a:t>
            </a:r>
          </a:p>
          <a:p xmlns:a="http://schemas.openxmlformats.org/drawingml/2006/main">
            <a:pPr>
              <a:defRPr sz="25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Watershed +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00CA8-7914-42D5-B757-C3A1CC43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19C8C-A143-495E-9403-00B9F7E6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Consumption (MGD) + bounds</a:t>
            </a:r>
          </a:p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Interval + quality warnings</a:t>
            </a:r>
          </a:p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Geographic permit quotations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65647-0511-4EB5-BD50-8738C42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Working local prototype | Shaun, Troy, Scott</a:t>
            </a:r>
          </a:p>
        </p:txBody>
      </p:sp>
    </p:spTree>
    <p:extLst>
      <p:ext uri="{BB962C8B-B14F-4D97-AF65-F5344CB8AC3E}">
        <p14:creationId xmlns:p14="http://schemas.microsoft.com/office/powerpoint/2010/main" val="1632564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5DCC60-A8F0-4DA2-9CE5-B74BD27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CCDE9-408B-452D-A1E0-B014CB5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Meaning lives in features, rules, vectors,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BF3D4-5551-4BBB-9033-F22661D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E3/E4: constraint-failure-cases.json; retrieval-cases.json | Diagram shows current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65D1A-028B-4064-91F8-B4437025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150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E0E73-39A8-4AC8-BE13-59EC1E21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Request: MW, cooling type, HUC8, month; optional facility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34F79-40F0-44D9-8B93-428774E9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1683D-8A79-45A7-8368-62DD9A5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Public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276B2-2477-41C0-B269-FE894CCF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USGS / NOAA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values +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13BBC-5FA1-422E-92A9-D7AAE8C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5742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735BC-59EF-44BA-AE28-B78178A1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Six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06995-359D-4DC3-9B4B-3A95BA6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MW, C, MGD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PDSI + season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DEC60-C531-44AE-A6E3-D4C704D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5742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A569E-3E29-4E42-BAEE-E7D7ADCE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Regressor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A1179-4F71-46C4-B66D-5301A4BF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432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RF / XGBoost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learned trees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17948-B730-492B-93D9-07FD832D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493B6-59C2-443B-AE9E-A3520AE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Thermal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99714-5C8C-4A7D-A8FA-C275DD02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clip + flag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capacity/ambient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7A775-167A-400C-8225-29DB4AB4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5742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E6251-43BD-488C-A6F3-5959E1E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8125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C38AF-AFEB-4F5E-BB2E-BA49807C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4320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MGD + interval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bounds + flags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07879-210E-4C33-90F2-9EFCBD5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45F8F-583D-4DE3-B99E-E948936A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Permit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9F77C-9145-4E09-905D-7DC0D74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source + section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exact excerpt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E7D94-56BB-49AC-99C9-4A68C694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11A51-EC63-4242-A83E-4CE18E6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8CD77-6976-4AE8-B8EF-E3DBC4D8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HUC or radius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identifiers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07279-5919-4CF6-BDAD-9C629E92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3857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D2226-24E6-472F-9032-7FED169C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6240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TF-IDF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3B2EE-3FE0-4F84-BCF2-8199678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2435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FAISS ranking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lexical vectors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501BB-1A27-495B-979C-3D79903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D3062-47AB-406E-87DE-64D72D2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Geo filter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31BF72-6075-407A-9D85-F37AC6E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scope match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before top-k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230A0-B57F-4E06-8517-3344F1CC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38575"/>
            <a:ext cx="1857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167D8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48176A-5AAA-4734-899E-548D54E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62400"/>
            <a:ext cx="1685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Quotations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19007-A504-47C6-AF92-8C301516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24350"/>
            <a:ext cx="1685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source + section</a:t>
            </a:r>
          </a:p>
          <a:p xmlns:a="http://schemas.openxmlformats.org/drawingml/2006/main">
            <a:pPr>
              <a:defRPr sz="15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extractive text</a:t>
            </a:r>
          </a:p>
        </p:txBody>
      </p:sp>
      <p:cxnSp>
        <p:nvCxnSpPr>
          <p:cNvPr id="8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7650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14875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5325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91625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476500" y="4391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714875" y="4391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953250" y="4391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191625" y="4391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33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501313" y="33623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8D"/>
            </a:solidFill>
            <a:tailEnd type="arrow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CE05B1-9FEE-41D3-81C4-BFCD52D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Offline: synthetic consumption labels -&gt; chronological train / calibration / test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10977E-9169-47A1-B57F-BE6289E2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86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Bounds flag injected errors; four geographic retrieval cases pass.</a:t>
            </a:r>
          </a:p>
        </p:txBody>
      </p:sp>
    </p:spTree>
    <p:extLst>
      <p:ext uri="{BB962C8B-B14F-4D97-AF65-F5344CB8AC3E}">
        <p14:creationId xmlns:p14="http://schemas.microsoft.com/office/powerpoint/2010/main" val="1690788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AC35C-C4D8-4C16-906A-4611034E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74BF9-398F-44F8-89D9-9C17A133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XGBoost reduced error on the synthetic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64F7B-C380-4328-945E-63B1541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E1: regression-comparison.csv | 333 test rows per evaporative type | MAE in MGD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CBFD-998D-4A6E-AC72-AFA8BB93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150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5981fa259f44a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DA105-B6C7-43F0-9837-DF2B65E7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05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Adopt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A2A18-8501-445A-9A72-E1A4A6C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3219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Select by calibration RMSE.</a:t>
            </a:r>
          </a:p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Keep RF as the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00261-3C5B-45F5-99E8-6FE6BFB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67225"/>
            <a:ext cx="3219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Measured facility labels</a:t>
            </a:r>
          </a:p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remain the main gap.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9E280-5593-44C7-8D9F-AD2B1FA2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Chronological 60/20/20 dates | Dry air cooling: zero target, undefined R2</a:t>
            </a:r>
          </a:p>
        </p:txBody>
      </p:sp>
    </p:spTree>
    <p:extLst>
      <p:ext uri="{BB962C8B-B14F-4D97-AF65-F5344CB8AC3E}">
        <p14:creationId xmlns:p14="http://schemas.microsoft.com/office/powerpoint/2010/main" val="990821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7472D-5C58-4E92-8AC2-4EC51E9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8DD30-81D4-4EB4-8E3F-C5BEFF6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Correlated donors made drought gaps easy to fill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74D5-32D1-42B7-87B0-E0503C7C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E2: missingness-summary.csv; biased-donor-diagnostic.csv | Main test: fitted model, synthetic hydrology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2EE63-8D52-41FB-98E8-C422210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150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5868dfeb2747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65422-F52C-4221-AAC2-7D8CD81C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286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100% within tolerance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9CC82-00E8-4CC3-8D06-6082BCDD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0375"/>
            <a:ext cx="3286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+/-0.05 MGD</a:t>
            </a:r>
          </a:p>
          <a:p xmlns:a="http://schemas.openxmlformats.org/drawingml/2006/main">
            <a:pPr>
              <a:defRPr sz="202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50 repeats; 121 drought 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53BA3-609B-46B6-8BCE-60D6347D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1007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D62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622B"/>
                </a:solidFill>
                <a:latin typeface="Arial"/>
                <a:ea typeface="Arial"/>
                <a:cs typeface="Arial"/>
              </a:rPr>
              <a:t>Biased-donor diagnostic:</a:t>
            </a:r>
          </a:p>
          <a:p xmlns:a="http://schemas.openxmlformats.org/drawingml/2006/main">
            <a:pPr>
              <a:defRPr sz="2175" b="1">
                <a:solidFill>
                  <a:srgbClr val="BD62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D622B"/>
                </a:solidFill>
                <a:latin typeface="Arial"/>
                <a:ea typeface="Arial"/>
                <a:cs typeface="Arial"/>
              </a:rPr>
              <a:t>spatial coverage 60.3%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FFCF9-F3C4-413A-B936-30701A1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Modify: validate donors and shared outages; diagnostic uses a separate simple predictor.</a:t>
            </a:r>
          </a:p>
        </p:txBody>
      </p:sp>
    </p:spTree>
    <p:extLst>
      <p:ext uri="{BB962C8B-B14F-4D97-AF65-F5344CB8AC3E}">
        <p14:creationId xmlns:p14="http://schemas.microsoft.com/office/powerpoint/2010/main" val="602921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47C0F-EC55-4BE1-8AA7-6FEAFBC2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60F7-62FF-466F-A372-5F87C45B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High R2 did not establish 90% interval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7227-300C-4301-8225-ADE02D8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E5: interval-coverage.csv; benchmark.json | Synthetic held-out samples, 333 per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84F7-C70E-4A55-A666-5B3E8F2B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150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85d9c3c09740a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A977-0F81-4BF5-A4A7-AE0EAC2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D62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D622B"/>
                </a:solidFill>
                <a:latin typeface="Arial"/>
                <a:ea typeface="Arial"/>
                <a:cs typeface="Arial"/>
              </a:rPr>
              <a:t>88.3% / 88.0%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BB4FA-0E72-4E54-81AC-8FF164E6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3286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Tower R2 = 0.998</a:t>
            </a:r>
          </a:p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Coverage misses the</a:t>
            </a:r>
          </a:p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observed 90%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79844-48FE-4A71-B3D7-5A661FE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Modify: separate tuning</a:t>
            </a:r>
          </a:p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and interval calibration.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E7AC5-8516-40F8-A5F5-C38CC78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1090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Finite samples; no significance test or independently validated coverage guarantee.</a:t>
            </a:r>
          </a:p>
        </p:txBody>
      </p:sp>
    </p:spTree>
    <p:extLst>
      <p:ext uri="{BB962C8B-B14F-4D97-AF65-F5344CB8AC3E}">
        <p14:creationId xmlns:p14="http://schemas.microsoft.com/office/powerpoint/2010/main" val="1592249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2CA0E-3DD2-4F6B-876C-CB9CBCD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ECOllateral / CSCI 4150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8B1B3-D313-4F7B-AB40-1855EDF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Next: test measured consumption at an unseen facility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50E8B-B418-4E81-8F3F-0E488AC5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Decisions: E1-E5 | Proposed responsibilities: Shaun / Troy / Scott | Presentation day pending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6378F-8284-4EDB-BD63-945AB8A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150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20B9-F31D-4E81-8702-00744BD8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Adopt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13D4F-794F-48D8-812C-38BDE460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9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Tree baselines, independent rules, geography-aware quotations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9793D-EAF8-4F10-9772-782027CF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D62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D622B"/>
                </a:solidFill>
                <a:latin typeface="Arial"/>
                <a:ea typeface="Arial"/>
                <a:cs typeface="Arial"/>
              </a:rPr>
              <a:t>Modify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8FAE8-D672-423F-A5CA-851BFCEB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9557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Donor validation, shared outages, independent interval calibration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3B6E-9D71-455E-BC0E-7470C2FF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Reject / Defer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E9ECC-75EF-4863-939D-C1D7F1C8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814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Reject R2-as-confidence; defer neural and generative LLM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1882E-FE29-41D4-AB44-FA9D971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6247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Can the constrained model generalize during drought with adequate coverage?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E722B-9FAC-4DF6-97AD-75CECC4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53075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Shaun: code + calibration    Troy: data + drought    Scott: permits + evidence</a:t>
            </a:r>
          </a:p>
        </p:txBody>
      </p:sp>
    </p:spTree>
    <p:extLst>
      <p:ext uri="{BB962C8B-B14F-4D97-AF65-F5344CB8AC3E}">
        <p14:creationId xmlns:p14="http://schemas.microsoft.com/office/powerpoint/2010/main" val="576537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2026-10-08T03:50:13.9640000Z</dcterms:created>
  <dcterms:modified xsi:type="dcterms:W3CDTF">2026-10-08T03:50:13.9640000Z</dcterms:modified>
</coreProperties>
</file>