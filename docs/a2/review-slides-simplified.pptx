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bd62cefe0b8452e" /><Relationship Type="http://schemas.openxmlformats.org/officeDocument/2006/relationships/extended-properties" Target="/docProps/app.xml" Id="R641035ce896446a6" /><Relationship Type="http://schemas.openxmlformats.org/officeDocument/2006/relationships/officeDocument" Target="/ppt/presentation.xml" Id="R43c16a24a5ef4b57" /></Relationships>
</file>

<file path=ppt/presentation.xml><?xml version="1.0" encoding="utf-8"?>
<p:presentation xmlns:p="http://schemas.openxmlformats.org/presentationml/2006/main">
  <p:sldMasterIdLst>
    <p:sldMasterId xmlns:r="http://schemas.openxmlformats.org/officeDocument/2006/relationships" id="2147483648" r:id="R539233bcbc9d4aea"/>
  </p:sldMasterIdLst>
  <p:notesMasterIdLst>
    <p:notesMasterId xmlns:r="http://schemas.openxmlformats.org/officeDocument/2006/relationships" r:id="R228caf06a9504cde"/>
  </p:notesMasterIdLst>
  <p:sldIdLst>
    <p:sldId xmlns:r="http://schemas.openxmlformats.org/officeDocument/2006/relationships" id="256" r:id="R50cbe7f12d464241"/>
    <p:sldId xmlns:r="http://schemas.openxmlformats.org/officeDocument/2006/relationships" id="257" r:id="Rea7c1eac02f448b7"/>
    <p:sldId xmlns:r="http://schemas.openxmlformats.org/officeDocument/2006/relationships" id="258" r:id="R1880096fe1f543f9"/>
    <p:sldId xmlns:r="http://schemas.openxmlformats.org/officeDocument/2006/relationships" id="259" r:id="R25b956174a224ec3"/>
    <p:sldId xmlns:r="http://schemas.openxmlformats.org/officeDocument/2006/relationships" id="260" r:id="R657290c31d14482b"/>
    <p:sldId xmlns:r="http://schemas.openxmlformats.org/officeDocument/2006/relationships" id="261" r:id="Re4f35d773e8a4e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7ce8eb86ab46f5" /><Relationship Type="http://schemas.openxmlformats.org/officeDocument/2006/relationships/slideMaster" Target="/ppt/slideMasters/slideMaster1.xml" Id="R539233bcbc9d4aea" /><Relationship Type="http://schemas.openxmlformats.org/officeDocument/2006/relationships/notesMaster" Target="/ppt/notesMasters/notesMaster1.xml" Id="R228caf06a9504cde" /><Relationship Type="http://schemas.openxmlformats.org/officeDocument/2006/relationships/presProps" Target="/ppt/presProps.xml" Id="R2c9fbff94a1f4dbb" /><Relationship Type="http://schemas.openxmlformats.org/officeDocument/2006/relationships/tableStyles" Target="/ppt/tableStyles.xml" Id="Rc498e9cbfd9a468b" /><Relationship Type="http://schemas.openxmlformats.org/officeDocument/2006/relationships/slide" Target="/ppt/slides/slide1.xml" Id="R50cbe7f12d464241" /><Relationship Type="http://schemas.openxmlformats.org/officeDocument/2006/relationships/slide" Target="/ppt/slides/slide2.xml" Id="Rea7c1eac02f448b7" /><Relationship Type="http://schemas.openxmlformats.org/officeDocument/2006/relationships/slide" Target="/ppt/slides/slide3.xml" Id="R1880096fe1f543f9" /><Relationship Type="http://schemas.openxmlformats.org/officeDocument/2006/relationships/slide" Target="/ppt/slides/slide4.xml" Id="R25b956174a224ec3" /><Relationship Type="http://schemas.openxmlformats.org/officeDocument/2006/relationships/slide" Target="/ppt/slides/slide5.xml" Id="R657290c31d14482b" /><Relationship Type="http://schemas.openxmlformats.org/officeDocument/2006/relationships/slide" Target="/ppt/slides/slide6.xml" Id="Re4f35d773e8a4e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a559d0367743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a27dc679e14caf" /><Relationship Type="http://schemas.openxmlformats.org/officeDocument/2006/relationships/notesMaster" Target="/ppt/notesMasters/notesMaster1.xml" Id="Rca7c5871088b46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31ece1d172401d" /><Relationship Type="http://schemas.openxmlformats.org/officeDocument/2006/relationships/notesMaster" Target="/ppt/notesMasters/notesMaster1.xml" Id="R67690aadaa3c4c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4c79d35d464d1b" /><Relationship Type="http://schemas.openxmlformats.org/officeDocument/2006/relationships/notesMaster" Target="/ppt/notesMasters/notesMaster1.xml" Id="R2c76832cc0cd48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630c8b2403422f" /><Relationship Type="http://schemas.openxmlformats.org/officeDocument/2006/relationships/notesMaster" Target="/ppt/notesMasters/notesMaster1.xml" Id="Rce0aa836fcb64d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a3b3b578884a1a" /><Relationship Type="http://schemas.openxmlformats.org/officeDocument/2006/relationships/notesMaster" Target="/ppt/notesMasters/notesMaster1.xml" Id="Ra38fe288180244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e27990e1614310" /><Relationship Type="http://schemas.openxmlformats.org/officeDocument/2006/relationships/notesMaster" Target="/ppt/notesMasters/notesMaster1.xml" Id="Rbc835f8e758449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The broader goal is regional water assessment. The current output is daily on-site cooling consumption. It does not yet include other demands, returns, reserves, or river needs.</a:t>
            </a:r>
          </a:p>
          <a:p xmlns:a="http://schemas.openxmlformats.org/drawingml/2006/main">
            <a:r>
              <a:t>Source: docs/a2/source/dossier.md; README.md.</a:t>
            </a:r>
          </a:p>
          <a:p xmlns:a="http://schemas.openxmlformats.org/drawingml/2006/main">
            <a:r>
              <a:t>The four-minute spoken script is in docs/a2/presentation-script.md.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Enter power, cooling type, place, and month. The six model inputs are IT MW, dry/wet-bulb temperatures, streamflow, drought index, and season. The learned target is cooling consumption. TF-IDF word scores represent permit text; source IDs and location are metadata. Physical rules bound the number.</a:t>
            </a:r>
          </a:p>
          <a:p xmlns:a="http://schemas.openxmlformats.org/drawingml/2006/main">
            <a:r>
              <a:t>E3: forced -1 and 1,000,000 MGD outputs move to 0 and 0.446484 MGD in the 40 MW example. E4: four location cases pass.</a:t>
            </a:r>
          </a:p>
          <a:p xmlns:a="http://schemas.openxmlformats.org/drawingml/2006/main">
            <a:r>
              <a:t>Sources: src/models/regression.py; src/rules/thermodynamic.py; src/grounding/store.py; docs/a2/evidence/constraint-failure-cases.json; retrieval-cases.json.</a:t>
            </a:r>
          </a:p>
          <a:p xmlns:a="http://schemas.openxmlformats.org/drawingml/2006/main">
            <a:r>
              <a:t>Semantic representations and inspectable checks: see docs/a2/source/dossier.md and evidence/constraint-failure-cases.json, evidence/retrieval-cases.json. Six features: facility_mw, dry_bulb_c, wet_bulb_c, historical_streamflow_mgd, pdsi, month. Cooling method selects the model; location filters permits.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45 seconds. 1,600 generated rows per cooling type, seed 42. Oldest 60% of whole dates train, next 20% choose by RMSE and set ranges, newest 20% test. The two water-based types each have 333 test rows. Imputation learns from training rows only. Chart values are the saved bounded MAE multiplied by 1,000,000. Dry cooling has a zero target and is omitted.</a:t>
            </a:r>
          </a:p>
          <a:p xmlns:a="http://schemas.openxmlformats.org/drawingml/2006/main">
            <a:r>
              <a:t>Source: docs/a2/evidence/regression-comparison.csv; benchmark.json.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40 seconds. Main study: 365 generated dates, 121 drought dates, 10/25/40% missing, 50 repeats, identical masks for both methods, fixed fitted model. All drought changes and central 90% bands stayed within +/-0.05 MGD.</a:t>
            </a:r>
          </a:p>
          <a:p xmlns:a="http://schemas.openxmlformats.org/drawingml/2006/main">
            <a:r>
              <a:t>The chart shows a separate diagnostic: nearby stations +100 MGD, 40% gaps, 20 repeats, predictor=0.01*flow. Tolerance coverage is 60.33% and 98.60%. Both fail the stricter all-date band check. Filling between dates uses later readings. These bars are sensitivity, not fitted-model accuracy.</a:t>
            </a:r>
          </a:p>
          <a:p xmlns:a="http://schemas.openxmlformats.org/drawingml/2006/main">
            <a:r>
              <a:t>Sources: docs/a2/evidence/missingness-summary.csv; biased-donor-diagnostic.csv.</a:t>
            </a:r>
          </a:p>
          <a:p xmlns:a="http://schemas.openxmlformats.org/drawingml/2006/main">
            <a:r>
              <a:t>E2 masks drought readings, not river flow. The 60% versus 99% comparison is the separate biased-donor formula diagnostic, not the fitted model. Interpolation uses later observations and suits historical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35 seconds. Nominal coverage 90%; tower 294/333=88.29%, direct evaporation 293/333=87.99%. Both miss the observed goal. The calibration group was reused for model choice and range sizing. Use separate groups and evaluate coverage and width with measured data. No significance test was run. Time dependence also limits the interval assumptions.</a:t>
            </a:r>
          </a:p>
          <a:p xmlns:a="http://schemas.openxmlformats.org/drawingml/2006/main">
            <a:r>
              <a:t>Sources: docs/a2/evidence/interval-coverage.csv; benchmark.json; docs/implementation-notes.md.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Scott, 60 seconds. Keep the models and safeguards (E1, E3, E4). Improve gap tests and ranges (E2, E5). Cooling consumption alone does not describe area-wide water health. Broader work needs supply, other demands, returns, and river needs. Neural/LLM comparisons remain planned. Shaun leads coding; Troy and Scott have assigned data and evaluation roles.</a:t>
            </a:r>
          </a:p>
          <a:p xmlns:a="http://schemas.openxmlformats.org/drawingml/2006/main">
            <a:r>
              <a:t>Sources: docs/a2/evidence-summary.csv; team-contributions.md; source/dossier.md.</a:t>
            </a:r>
          </a:p>
          <a:p xmlns:a="http://schemas.openxmlformats.org/drawingml/2006/main">
            <a:r>
              <a:t>E1: adopt XGBoost based on lower synthetic MAE. E3: adopt bounds with raw values/warnings. E4: adopt geographic retrieval with real-permit testing pending. E2: modify donor checks; E5: separate selection and calibration. Reject fit as an accuracy guarantee; defer neural/LLM comparisons until measured targets and permit evaluation data support a fair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6d48e84f254f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52a0701469478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b8027c73124b6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53aa98eddb24f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66dc1128b74a1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e2145a0f59749f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207F2F-A75F-49FE-8C24-41A0621862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9C7B10-5AF5-43A9-B6A4-D5C5D81D8B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0A2031-E6A3-4863-BE9C-98C8C2AF64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FFE6F1-2648-44BD-B224-D358BF93E7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102820-C555-468E-9FBA-4EC3B3004A6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E6302B-E9B6-416B-9ECE-7D9D983F7F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8EEB98-5AF4-4192-A73F-4986FCFF9D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41A9AF-FFDB-4CC0-ABF7-6D73C6D9120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281F9E-95CC-4D02-84A6-FDD5B97EEF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BF6AF88-077B-42F7-BDDA-8526C5142F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1d32ce0bd34dcf" /><Relationship Type="http://schemas.openxmlformats.org/officeDocument/2006/relationships/slideLayout" Target="/ppt/slideLayouts/slideLayout1.xml" Id="Rc12f8cd8fa24475f" /><Relationship Type="http://schemas.openxmlformats.org/officeDocument/2006/relationships/slideLayout" Target="/ppt/slideLayouts/slideLayout2.xml" Id="Rad2fc7f6ee834a6d" /><Relationship Type="http://schemas.openxmlformats.org/officeDocument/2006/relationships/slideLayout" Target="/ppt/slideLayouts/slideLayout3.xml" Id="Ra6c1aeed5ec24991" /><Relationship Type="http://schemas.openxmlformats.org/officeDocument/2006/relationships/slideLayout" Target="/ppt/slideLayouts/slideLayout4.xml" Id="Raaa8cf8cbc194620" /><Relationship Type="http://schemas.openxmlformats.org/officeDocument/2006/relationships/slideLayout" Target="/ppt/slideLayouts/slideLayout5.xml" Id="R7fa4cc9dce564d99" /><Relationship Type="http://schemas.openxmlformats.org/officeDocument/2006/relationships/slideLayout" Target="/ppt/slideLayouts/slideLayout6.xml" Id="R243b83edc1ca4b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f8cd8fa24475f"/>
    <p:sldLayoutId xmlns:r="http://schemas.openxmlformats.org/officeDocument/2006/relationships" id="2147483650" r:id="Rad2fc7f6ee834a6d"/>
    <p:sldLayoutId xmlns:r="http://schemas.openxmlformats.org/officeDocument/2006/relationships" id="2147483651" r:id="Ra6c1aeed5ec24991"/>
    <p:sldLayoutId xmlns:r="http://schemas.openxmlformats.org/officeDocument/2006/relationships" id="2147483652" r:id="Raaa8cf8cbc194620"/>
    <p:sldLayoutId xmlns:r="http://schemas.openxmlformats.org/officeDocument/2006/relationships" id="2147483653" r:id="R7fa4cc9dce564d99"/>
    <p:sldLayoutId xmlns:r="http://schemas.openxmlformats.org/officeDocument/2006/relationships" id="2147483654" r:id="R243b83edc1ca4b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01812f5af0468a" /><Relationship Type="http://schemas.openxmlformats.org/officeDocument/2006/relationships/notesSlide" Target="/ppt/notesSlides/notesSlide1.xml" Id="Rdb4891f2e8b041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7d982e12834532" /><Relationship Type="http://schemas.openxmlformats.org/officeDocument/2006/relationships/notesSlide" Target="/ppt/notesSlides/notesSlide2.xml" Id="R6f1c7fab630b4f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cad610955b948c5" /><Relationship Type="http://schemas.openxmlformats.org/officeDocument/2006/relationships/chart" Target="/ppt/slides/charts/chart1.xml" Id="R8c2d02ee6cc44f4b" /><Relationship Type="http://schemas.openxmlformats.org/officeDocument/2006/relationships/notesSlide" Target="/ppt/notesSlides/notesSlide3.xml" Id="Rb2b2d326878841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626b17201c480a" /><Relationship Type="http://schemas.openxmlformats.org/officeDocument/2006/relationships/chart" Target="/ppt/slides/charts/chart2.xml" Id="Rb2e30c592bce4d31" /><Relationship Type="http://schemas.openxmlformats.org/officeDocument/2006/relationships/notesSlide" Target="/ppt/notesSlides/notesSlide4.xml" Id="R995350c14f884c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e3f98b224404917" /><Relationship Type="http://schemas.openxmlformats.org/officeDocument/2006/relationships/chart" Target="/ppt/slides/charts/chart3.xml" Id="R3363875fc54c4f10" /><Relationship Type="http://schemas.openxmlformats.org/officeDocument/2006/relationships/notesSlide" Target="/ppt/notesSlides/notesSlide5.xml" Id="R5a0a743db94448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2dfc9e1dd424902" /><Relationship Type="http://schemas.openxmlformats.org/officeDocument/2006/relationships/notesSlide" Target="/ppt/notesSlides/notesSlide6.xml" Id="R27dbe0eeec364dc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RandomForest</c:v>
          </c:tx>
          <c:spPr>
            <a:solidFill xmlns:a="http://schemas.openxmlformats.org/drawingml/2006/main">
              <a:srgbClr val="A6ADB4"/>
            </a:solidFill>
          </c:spPr>
          <c:invertIfNegative val="0"/>
          <c:cat>
            <c:strRef>
              <c:f>'Chart Data'!$A$2:$A$3</c:f>
              <c:strCache>
                <c:ptCount val="2"/>
                <c:pt idx="0">
                  <c:v>Cooling tower</c:v>
                </c:pt>
                <c:pt idx="1">
                  <c:v>Direct evaporation</c:v>
                </c:pt>
              </c:strCache>
            </c:strRef>
          </c:cat>
          <c:val>
            <c:numRef>
              <c:f>'Chart Data'!$B$2:$B$3</c:f>
              <c:numCache>
                <c:formatCode>#,##0</c:formatCode>
                <c:ptCount val="2"/>
                <c:pt idx="0">
                  <c:v>4889.69303</c:v>
                </c:pt>
                <c:pt idx="1">
                  <c:v>3841.93269</c:v>
                </c:pt>
              </c:numCache>
            </c:numRef>
          </c:val>
        </c:ser>
        <c:ser>
          <c:idx val="1"/>
          <c:order val="1"/>
          <c:tx>
            <c:v>XGBoost</c:v>
          </c:tx>
          <c:spPr>
            <a:solidFill xmlns:a="http://schemas.openxmlformats.org/drawingml/2006/main">
              <a:srgbClr val="3976A8"/>
            </a:solidFill>
          </c:spPr>
          <c:invertIfNegative val="0"/>
          <c:cat>
            <c:strRef>
              <c:f>'Chart Data'!$C$2:$C$3</c:f>
              <c:strCache>
                <c:ptCount val="2"/>
                <c:pt idx="0">
                  <c:v>Cooling tower</c:v>
                </c:pt>
                <c:pt idx="1">
                  <c:v>Direct evaporation</c:v>
                </c:pt>
              </c:strCache>
            </c:strRef>
          </c:cat>
          <c:val>
            <c:numRef>
              <c:f>'Chart Data'!$D$2:$D$3</c:f>
              <c:numCache>
                <c:formatCode>#,##0</c:formatCode>
                <c:ptCount val="2"/>
                <c:pt idx="0">
                  <c:v>3668.214892</c:v>
                </c:pt>
                <c:pt idx="1">
                  <c:v>3191.320083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6000"/>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200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Changes within limit</c:v>
          </c:tx>
          <c:spPr>
            <a:solidFill xmlns:a="http://schemas.openxmlformats.org/drawingml/2006/main">
              <a:srgbClr val="3976A8"/>
            </a:solidFill>
          </c:spPr>
          <c:invertIfNegative val="0"/>
          <c:dPt>
            <c:idx val="0"/>
            <c:invertIfNegative val="0"/>
            <c:spPr>
              <a:solidFill xmlns:a="http://schemas.openxmlformats.org/drawingml/2006/main">
                <a:srgbClr val="A6ADB4"/>
              </a:solidFill>
            </c:spPr>
          </c:dPt>
          <c:cat>
            <c:strRef>
              <c:f>'Chart Data'!$A$2:$A$3</c:f>
              <c:strCache>
                <c:ptCount val="2"/>
                <c:pt idx="0">
                  <c:v>Nearby station</c:v>
                </c:pt>
                <c:pt idx="1">
                  <c:v>Between dates</c:v>
                </c:pt>
              </c:strCache>
            </c:strRef>
          </c:cat>
          <c:val>
            <c:numRef>
              <c:f>'Chart Data'!$B$2:$B$3</c:f>
              <c:numCache>
                <c:formatCode>0%</c:formatCode>
                <c:ptCount val="2"/>
                <c:pt idx="0">
                  <c:v>0.6033057851</c:v>
                </c:pt>
                <c:pt idx="1">
                  <c:v>0.9859504132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1.1"/>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Test answers inside range</c:v>
          </c:tx>
          <c:spPr>
            <a:solidFill xmlns:a="http://schemas.openxmlformats.org/drawingml/2006/main">
              <a:srgbClr val="3976A8"/>
            </a:solidFill>
          </c:spPr>
          <c:invertIfNegative val="0"/>
          <c:dPt>
            <c:idx val="2"/>
            <c:invertIfNegative val="0"/>
            <c:spPr>
              <a:solidFill xmlns:a="http://schemas.openxmlformats.org/drawingml/2006/main">
                <a:srgbClr val="A6ADB4"/>
              </a:solidFill>
            </c:spPr>
          </c:dPt>
          <c:cat>
            <c:strRef>
              <c:f>'Chart Data'!$A$2:$A$4</c:f>
              <c:strCache>
                <c:ptCount val="3"/>
                <c:pt idx="0">
                  <c:v>Tower</c:v>
                </c:pt>
                <c:pt idx="1">
                  <c:v>Direct evaporation</c:v>
                </c:pt>
                <c:pt idx="2">
                  <c:v>Goal</c:v>
                </c:pt>
              </c:strCache>
            </c:strRef>
          </c:cat>
          <c:val>
            <c:numRef>
              <c:f>'Chart Data'!$B$2:$B$4</c:f>
              <c:numCache>
                <c:formatCode>0%</c:formatCode>
                <c:ptCount val="3"/>
                <c:pt idx="0">
                  <c:v>0.8828828829</c:v>
                </c:pt>
                <c:pt idx="1">
                  <c:v>0.8798798799</c:v>
                </c:pt>
                <c:pt idx="2">
                  <c:v>0.9</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1.1"/>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2DE62C-CCB0-457B-A758-C374861D054C}"/>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Local water and new development</a:t>
            </a:r>
          </a:p>
        </p:txBody>
      </p:sp>
      <p:sp>
        <p:nvSpPr>
          <p:cNvPr id="2" name="">
            <a:extLst xmlns:a="http://schemas.openxmlformats.org/drawingml/2006/main">
              <a:ext uri="{FF2B5EF4-FFF2-40B4-BE49-F238E27FC236}">
                <a16:creationId xmlns:a16="http://schemas.microsoft.com/office/drawing/2014/main" id="{D5A278A7-F77A-4B17-8172-BBF44A610875}"/>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ECOllateral / CSCI 4150 A2 / Shaun, Troy, Scott</a:t>
            </a:r>
          </a:p>
        </p:txBody>
      </p:sp>
      <p:sp>
        <p:nvSpPr>
          <p:cNvPr id="3" name="">
            <a:extLst xmlns:a="http://schemas.openxmlformats.org/drawingml/2006/main">
              <a:ext uri="{FF2B5EF4-FFF2-40B4-BE49-F238E27FC236}">
                <a16:creationId xmlns:a16="http://schemas.microsoft.com/office/drawing/2014/main" id="{99ED27DB-A24A-4227-86AE-28C315DF92B8}"/>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2E95826F-466D-425C-BEEB-37F7C702C46D}"/>
              </a:ext>
            </a:extLst>
          </p:cNvPr>
          <p:cNvSpPr>
            <a:spLocks xmlns:a="http://schemas.openxmlformats.org/drawingml/2006/main" noGrp="1"/>
          </p:cNvSpPr>
          <p:nvPr/>
        </p:nvSpPr>
        <p:spPr>
          <a:xfrm xmlns:a="http://schemas.openxmlformats.org/drawingml/2006/main">
            <a:off x="609600" y="15716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0">
                <a:solidFill>
                  <a:srgbClr val="171717"/>
                </a:solidFill>
                <a:latin typeface="Arial"/>
                <a:ea typeface="Arial"/>
                <a:cs typeface="Arial"/>
              </a:defRPr>
            </a:defPPr>
            <a:lvl1pPr>
              <a:buNone/>
              <a:defRPr sz="2400" b="0">
                <a:solidFill>
                  <a:srgbClr val="171717"/>
                </a:solidFill>
                <a:latin typeface="Arial"/>
                <a:ea typeface="Arial"/>
                <a:cs typeface="Arial"/>
              </a:defRPr>
            </a:lvl1pPr>
            <a:lvl2pPr>
              <a:buNone/>
              <a:defRPr sz="2400" b="0">
                <a:solidFill>
                  <a:srgbClr val="171717"/>
                </a:solidFill>
                <a:latin typeface="Arial"/>
                <a:ea typeface="Arial"/>
                <a:cs typeface="Arial"/>
              </a:defRPr>
            </a:lvl2pPr>
            <a:lvl3pPr>
              <a:buNone/>
              <a:defRPr sz="2400" b="0">
                <a:solidFill>
                  <a:srgbClr val="171717"/>
                </a:solidFill>
                <a:latin typeface="Arial"/>
                <a:ea typeface="Arial"/>
                <a:cs typeface="Arial"/>
              </a:defRPr>
            </a:lvl3pPr>
            <a:lvl4pPr>
              <a:buNone/>
              <a:defRPr sz="2400" b="0">
                <a:solidFill>
                  <a:srgbClr val="171717"/>
                </a:solidFill>
                <a:latin typeface="Arial"/>
                <a:ea typeface="Arial"/>
                <a:cs typeface="Arial"/>
              </a:defRPr>
            </a:lvl4pPr>
            <a:lvl5pPr>
              <a:buNone/>
              <a:defRPr sz="2400" b="0">
                <a:solidFill>
                  <a:srgbClr val="171717"/>
                </a:solidFill>
                <a:latin typeface="Arial"/>
                <a:ea typeface="Arial"/>
                <a:cs typeface="Arial"/>
              </a:defRPr>
            </a:lvl5pPr>
            <a:lvl6pPr>
              <a:buNone/>
              <a:defRPr sz="2400" b="0">
                <a:solidFill>
                  <a:srgbClr val="171717"/>
                </a:solidFill>
                <a:latin typeface="Arial"/>
                <a:ea typeface="Arial"/>
                <a:cs typeface="Arial"/>
              </a:defRPr>
            </a:lvl6pPr>
            <a:lvl7pPr>
              <a:buNone/>
              <a:defRPr sz="2400" b="0">
                <a:solidFill>
                  <a:srgbClr val="171717"/>
                </a:solidFill>
                <a:latin typeface="Arial"/>
                <a:ea typeface="Arial"/>
                <a:cs typeface="Arial"/>
              </a:defRPr>
            </a:lvl7pPr>
            <a:lvl8pPr>
              <a:buNone/>
              <a:defRPr sz="2400" b="0">
                <a:solidFill>
                  <a:srgbClr val="171717"/>
                </a:solidFill>
                <a:latin typeface="Arial"/>
                <a:ea typeface="Arial"/>
                <a:cs typeface="Arial"/>
              </a:defRPr>
            </a:lvl8pPr>
            <a:lvl9pPr>
              <a:buNone/>
              <a:defRPr sz="2400" b="0">
                <a:solidFill>
                  <a:srgbClr val="171717"/>
                </a:solidFill>
                <a:latin typeface="Arial"/>
                <a:ea typeface="Arial"/>
                <a:cs typeface="Arial"/>
              </a:defRPr>
            </a:lvl9pPr>
          </a:lstStyle>
          <a:p xmlns:a="http://schemas.openxmlformats.org/drawingml/2006/main">
            <a:pPr>
              <a:buNone/>
              <a:defRPr sz="2400" b="0">
                <a:solidFill>
                  <a:srgbClr val="171717"/>
                </a:solidFill>
                <a:latin typeface="Arial"/>
                <a:ea typeface="Arial"/>
                <a:cs typeface="Arial"/>
              </a:defRPr>
            </a:pPr>
            <a:r>
              <a:rPr sz="2400" b="0">
                <a:solidFill>
                  <a:srgbClr val="171717"/>
                </a:solidFill>
                <a:latin typeface="Arial"/>
                <a:ea typeface="Arial"/>
                <a:cs typeface="Arial"/>
              </a:rPr>
              <a:t>How could a new building affect local water supplies and rivers?</a:t>
            </a:r>
          </a:p>
        </p:txBody>
      </p:sp>
      <p:sp>
        <p:nvSpPr>
          <p:cNvPr id="5" name="">
            <a:extLst xmlns:a="http://schemas.openxmlformats.org/drawingml/2006/main">
              <a:ext uri="{FF2B5EF4-FFF2-40B4-BE49-F238E27FC236}">
                <a16:creationId xmlns:a16="http://schemas.microsoft.com/office/drawing/2014/main" id="{3E119899-182F-42C3-8C1C-E783138A821D}"/>
              </a:ext>
            </a:extLst>
          </p:cNvPr>
          <p:cNvSpPr>
            <a:spLocks xmlns:a="http://schemas.openxmlformats.org/drawingml/2006/main" noGrp="1"/>
          </p:cNvSpPr>
          <p:nvPr/>
        </p:nvSpPr>
        <p:spPr>
          <a:xfrm xmlns:a="http://schemas.openxmlformats.org/drawingml/2006/main">
            <a:off x="609600" y="2714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buNone/>
              <a:defRPr sz="2400" b="1">
                <a:solidFill>
                  <a:srgbClr val="171717"/>
                </a:solidFill>
                <a:latin typeface="Arial"/>
                <a:ea typeface="Arial"/>
                <a:cs typeface="Arial"/>
              </a:defRPr>
            </a:lvl1pPr>
            <a:lvl2pPr>
              <a:buNone/>
              <a:defRPr sz="2400" b="1">
                <a:solidFill>
                  <a:srgbClr val="171717"/>
                </a:solidFill>
                <a:latin typeface="Arial"/>
                <a:ea typeface="Arial"/>
                <a:cs typeface="Arial"/>
              </a:defRPr>
            </a:lvl2pPr>
            <a:lvl3pPr>
              <a:buNone/>
              <a:defRPr sz="2400" b="1">
                <a:solidFill>
                  <a:srgbClr val="171717"/>
                </a:solidFill>
                <a:latin typeface="Arial"/>
                <a:ea typeface="Arial"/>
                <a:cs typeface="Arial"/>
              </a:defRPr>
            </a:lvl3pPr>
            <a:lvl4pPr>
              <a:buNone/>
              <a:defRPr sz="2400" b="1">
                <a:solidFill>
                  <a:srgbClr val="171717"/>
                </a:solidFill>
                <a:latin typeface="Arial"/>
                <a:ea typeface="Arial"/>
                <a:cs typeface="Arial"/>
              </a:defRPr>
            </a:lvl4pPr>
            <a:lvl5pPr>
              <a:buNone/>
              <a:defRPr sz="2400" b="1">
                <a:solidFill>
                  <a:srgbClr val="171717"/>
                </a:solidFill>
                <a:latin typeface="Arial"/>
                <a:ea typeface="Arial"/>
                <a:cs typeface="Arial"/>
              </a:defRPr>
            </a:lvl5pPr>
            <a:lvl6pPr>
              <a:buNone/>
              <a:defRPr sz="2400" b="1">
                <a:solidFill>
                  <a:srgbClr val="171717"/>
                </a:solidFill>
                <a:latin typeface="Arial"/>
                <a:ea typeface="Arial"/>
                <a:cs typeface="Arial"/>
              </a:defRPr>
            </a:lvl6pPr>
            <a:lvl7pPr>
              <a:buNone/>
              <a:defRPr sz="2400" b="1">
                <a:solidFill>
                  <a:srgbClr val="171717"/>
                </a:solidFill>
                <a:latin typeface="Arial"/>
                <a:ea typeface="Arial"/>
                <a:cs typeface="Arial"/>
              </a:defRPr>
            </a:lvl7pPr>
            <a:lvl8pPr>
              <a:buNone/>
              <a:defRPr sz="2400" b="1">
                <a:solidFill>
                  <a:srgbClr val="171717"/>
                </a:solidFill>
                <a:latin typeface="Arial"/>
                <a:ea typeface="Arial"/>
                <a:cs typeface="Arial"/>
              </a:defRPr>
            </a:lvl8pPr>
            <a:lvl9pPr>
              <a:buNone/>
              <a:defRPr sz="2400" b="1">
                <a:solidFill>
                  <a:srgbClr val="171717"/>
                </a:solidFill>
                <a:latin typeface="Arial"/>
                <a:ea typeface="Arial"/>
                <a:cs typeface="Arial"/>
              </a:defRPr>
            </a:lvl9pPr>
          </a:lstStyle>
          <a:p xmlns:a="http://schemas.openxmlformats.org/drawingml/2006/main">
            <a:pPr>
              <a:buNone/>
              <a:defRPr sz="2400" b="1">
                <a:solidFill>
                  <a:srgbClr val="171717"/>
                </a:solidFill>
                <a:latin typeface="Arial"/>
                <a:ea typeface="Arial"/>
                <a:cs typeface="Arial"/>
              </a:defRPr>
            </a:pPr>
            <a:r>
              <a:rPr sz="2400" b="1">
                <a:solidFill>
                  <a:srgbClr val="171717"/>
                </a:solidFill>
                <a:latin typeface="Arial"/>
                <a:ea typeface="Arial"/>
                <a:cs typeface="Arial"/>
              </a:rPr>
              <a:t>Our current tool estimates water used to cool equipment.</a:t>
            </a:r>
          </a:p>
        </p:txBody>
      </p:sp>
      <p:sp>
        <p:nvSpPr>
          <p:cNvPr id="6" name="">
            <a:extLst xmlns:a="http://schemas.openxmlformats.org/drawingml/2006/main">
              <a:ext uri="{FF2B5EF4-FFF2-40B4-BE49-F238E27FC236}">
                <a16:creationId xmlns:a16="http://schemas.microsoft.com/office/drawing/2014/main" id="{628D6AE3-EFCA-430C-8DF9-EDBD917E7371}"/>
              </a:ext>
            </a:extLst>
          </p:cNvPr>
          <p:cNvSpPr>
            <a:spLocks xmlns:a="http://schemas.openxmlformats.org/drawingml/2006/main" noGrp="1"/>
          </p:cNvSpPr>
          <p:nvPr/>
        </p:nvSpPr>
        <p:spPr>
          <a:xfrm xmlns:a="http://schemas.openxmlformats.org/drawingml/2006/main">
            <a:off x="609600" y="35718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For town planners, researchers, and water providers.</a:t>
            </a:r>
          </a:p>
        </p:txBody>
      </p:sp>
      <p:sp>
        <p:nvSpPr>
          <p:cNvPr id="7" name="">
            <a:extLst xmlns:a="http://schemas.openxmlformats.org/drawingml/2006/main">
              <a:ext uri="{FF2B5EF4-FFF2-40B4-BE49-F238E27FC236}">
                <a16:creationId xmlns:a16="http://schemas.microsoft.com/office/drawing/2014/main" id="{20817DCD-67BD-48BD-A1DA-AD158BF42047}"/>
              </a:ext>
            </a:extLst>
          </p:cNvPr>
          <p:cNvSpPr>
            <a:spLocks xmlns:a="http://schemas.openxmlformats.org/drawingml/2006/main" noGrp="1"/>
          </p:cNvSpPr>
          <p:nvPr/>
        </p:nvSpPr>
        <p:spPr>
          <a:xfrm xmlns:a="http://schemas.openxmlformats.org/drawingml/2006/main">
            <a:off x="609600" y="461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Current test data: generated examples.</a:t>
            </a:r>
          </a:p>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Next: test measured water use at actual sites.</a:t>
            </a:r>
          </a:p>
        </p:txBody>
      </p:sp>
    </p:spTree>
    <p:extLst>
      <p:ext uri="{BB962C8B-B14F-4D97-AF65-F5344CB8AC3E}">
        <p14:creationId xmlns:p14="http://schemas.microsoft.com/office/powerpoint/2010/main" val="2372222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8C2659D-C767-48D1-9252-A567475895D8}"/>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How the program works</a:t>
            </a:r>
          </a:p>
        </p:txBody>
      </p:sp>
      <p:sp>
        <p:nvSpPr>
          <p:cNvPr id="2" name="">
            <a:extLst xmlns:a="http://schemas.openxmlformats.org/drawingml/2006/main">
              <a:ext uri="{FF2B5EF4-FFF2-40B4-BE49-F238E27FC236}">
                <a16:creationId xmlns:a16="http://schemas.microsoft.com/office/drawing/2014/main" id="{88986E18-2172-49A5-817F-E86523075F04}"/>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System map / E3: impossible estimates flagged / E4: 4 fictional location tests passed</a:t>
            </a:r>
          </a:p>
        </p:txBody>
      </p:sp>
      <p:sp>
        <p:nvSpPr>
          <p:cNvPr id="3" name="">
            <a:extLst xmlns:a="http://schemas.openxmlformats.org/drawingml/2006/main">
              <a:ext uri="{FF2B5EF4-FFF2-40B4-BE49-F238E27FC236}">
                <a16:creationId xmlns:a16="http://schemas.microsoft.com/office/drawing/2014/main" id="{C818DC84-B6F1-439B-972D-07B4AD2FC54B}"/>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C134D4EC-4A52-48C8-B30F-5ED48268768A}"/>
              </a:ext>
            </a:extLst>
          </p:cNvPr>
          <p:cNvSpPr>
            <a:spLocks xmlns:a="http://schemas.openxmlformats.org/drawingml/2006/main" noGrp="1"/>
          </p:cNvSpPr>
          <p:nvPr/>
        </p:nvSpPr>
        <p:spPr>
          <a:xfrm xmlns:a="http://schemas.openxmlformats.org/drawingml/2006/main">
            <a:off x="6096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buNone/>
              <a:defRPr sz="2400" b="1">
                <a:solidFill>
                  <a:srgbClr val="171717"/>
                </a:solidFill>
                <a:latin typeface="Arial"/>
                <a:ea typeface="Arial"/>
                <a:cs typeface="Arial"/>
              </a:defRPr>
            </a:lvl1pPr>
            <a:lvl2pPr>
              <a:buNone/>
              <a:defRPr sz="2400" b="1">
                <a:solidFill>
                  <a:srgbClr val="171717"/>
                </a:solidFill>
                <a:latin typeface="Arial"/>
                <a:ea typeface="Arial"/>
                <a:cs typeface="Arial"/>
              </a:defRPr>
            </a:lvl2pPr>
            <a:lvl3pPr>
              <a:buNone/>
              <a:defRPr sz="2400" b="1">
                <a:solidFill>
                  <a:srgbClr val="171717"/>
                </a:solidFill>
                <a:latin typeface="Arial"/>
                <a:ea typeface="Arial"/>
                <a:cs typeface="Arial"/>
              </a:defRPr>
            </a:lvl3pPr>
            <a:lvl4pPr>
              <a:buNone/>
              <a:defRPr sz="2400" b="1">
                <a:solidFill>
                  <a:srgbClr val="171717"/>
                </a:solidFill>
                <a:latin typeface="Arial"/>
                <a:ea typeface="Arial"/>
                <a:cs typeface="Arial"/>
              </a:defRPr>
            </a:lvl4pPr>
            <a:lvl5pPr>
              <a:buNone/>
              <a:defRPr sz="2400" b="1">
                <a:solidFill>
                  <a:srgbClr val="171717"/>
                </a:solidFill>
                <a:latin typeface="Arial"/>
                <a:ea typeface="Arial"/>
                <a:cs typeface="Arial"/>
              </a:defRPr>
            </a:lvl5pPr>
            <a:lvl6pPr>
              <a:buNone/>
              <a:defRPr sz="2400" b="1">
                <a:solidFill>
                  <a:srgbClr val="171717"/>
                </a:solidFill>
                <a:latin typeface="Arial"/>
                <a:ea typeface="Arial"/>
                <a:cs typeface="Arial"/>
              </a:defRPr>
            </a:lvl6pPr>
            <a:lvl7pPr>
              <a:buNone/>
              <a:defRPr sz="2400" b="1">
                <a:solidFill>
                  <a:srgbClr val="171717"/>
                </a:solidFill>
                <a:latin typeface="Arial"/>
                <a:ea typeface="Arial"/>
                <a:cs typeface="Arial"/>
              </a:defRPr>
            </a:lvl7pPr>
            <a:lvl8pPr>
              <a:buNone/>
              <a:defRPr sz="2400" b="1">
                <a:solidFill>
                  <a:srgbClr val="171717"/>
                </a:solidFill>
                <a:latin typeface="Arial"/>
                <a:ea typeface="Arial"/>
                <a:cs typeface="Arial"/>
              </a:defRPr>
            </a:lvl8pPr>
            <a:lvl9pPr>
              <a:buNone/>
              <a:defRPr sz="2400" b="1">
                <a:solidFill>
                  <a:srgbClr val="171717"/>
                </a:solidFill>
                <a:latin typeface="Arial"/>
                <a:ea typeface="Arial"/>
                <a:cs typeface="Arial"/>
              </a:defRPr>
            </a:lvl9pPr>
          </a:lstStyle>
          <a:p xmlns:a="http://schemas.openxmlformats.org/drawingml/2006/main">
            <a:pPr>
              <a:buNone/>
              <a:defRPr sz="2400" b="1">
                <a:solidFill>
                  <a:srgbClr val="171717"/>
                </a:solidFill>
                <a:latin typeface="Arial"/>
                <a:ea typeface="Arial"/>
                <a:cs typeface="Arial"/>
              </a:defRPr>
            </a:pPr>
            <a:r>
              <a:rPr sz="2400" b="1">
                <a:solidFill>
                  <a:srgbClr val="171717"/>
                </a:solidFill>
                <a:latin typeface="Arial"/>
                <a:ea typeface="Arial"/>
                <a:cs typeface="Arial"/>
              </a:rPr>
              <a:t>1. Inputs</a:t>
            </a:r>
          </a:p>
        </p:txBody>
      </p:sp>
      <p:sp>
        <p:nvSpPr>
          <p:cNvPr id="5" name="">
            <a:extLst xmlns:a="http://schemas.openxmlformats.org/drawingml/2006/main">
              <a:ext uri="{FF2B5EF4-FFF2-40B4-BE49-F238E27FC236}">
                <a16:creationId xmlns:a16="http://schemas.microsoft.com/office/drawing/2014/main" id="{9680EF2F-6219-4E0E-9A14-027A5383C1BB}"/>
              </a:ext>
            </a:extLst>
          </p:cNvPr>
          <p:cNvSpPr>
            <a:spLocks xmlns:a="http://schemas.openxmlformats.org/drawingml/2006/main" noGrp="1"/>
          </p:cNvSpPr>
          <p:nvPr/>
        </p:nvSpPr>
        <p:spPr>
          <a:xfrm xmlns:a="http://schemas.openxmlformats.org/drawingml/2006/main">
            <a:off x="6096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1875" b="0">
                <a:solidFill>
                  <a:srgbClr val="171717"/>
                </a:solidFill>
                <a:latin typeface="Arial"/>
                <a:ea typeface="Arial"/>
                <a:cs typeface="Arial"/>
              </a:defRPr>
            </a:lvl1pPr>
            <a:lvl2pPr>
              <a:buNone/>
              <a:defRPr sz="1875" b="0">
                <a:solidFill>
                  <a:srgbClr val="171717"/>
                </a:solidFill>
                <a:latin typeface="Arial"/>
                <a:ea typeface="Arial"/>
                <a:cs typeface="Arial"/>
              </a:defRPr>
            </a:lvl2pPr>
            <a:lvl3pPr>
              <a:buNone/>
              <a:defRPr sz="1875" b="0">
                <a:solidFill>
                  <a:srgbClr val="171717"/>
                </a:solidFill>
                <a:latin typeface="Arial"/>
                <a:ea typeface="Arial"/>
                <a:cs typeface="Arial"/>
              </a:defRPr>
            </a:lvl3pPr>
            <a:lvl4pPr>
              <a:buNone/>
              <a:defRPr sz="1875" b="0">
                <a:solidFill>
                  <a:srgbClr val="171717"/>
                </a:solidFill>
                <a:latin typeface="Arial"/>
                <a:ea typeface="Arial"/>
                <a:cs typeface="Arial"/>
              </a:defRPr>
            </a:lvl4pPr>
            <a:lvl5pPr>
              <a:buNone/>
              <a:defRPr sz="1875" b="0">
                <a:solidFill>
                  <a:srgbClr val="171717"/>
                </a:solidFill>
                <a:latin typeface="Arial"/>
                <a:ea typeface="Arial"/>
                <a:cs typeface="Arial"/>
              </a:defRPr>
            </a:lvl5pPr>
            <a:lvl6pPr>
              <a:buNone/>
              <a:defRPr sz="1875" b="0">
                <a:solidFill>
                  <a:srgbClr val="171717"/>
                </a:solidFill>
                <a:latin typeface="Arial"/>
                <a:ea typeface="Arial"/>
                <a:cs typeface="Arial"/>
              </a:defRPr>
            </a:lvl6pPr>
            <a:lvl7pPr>
              <a:buNone/>
              <a:defRPr sz="1875" b="0">
                <a:solidFill>
                  <a:srgbClr val="171717"/>
                </a:solidFill>
                <a:latin typeface="Arial"/>
                <a:ea typeface="Arial"/>
                <a:cs typeface="Arial"/>
              </a:defRPr>
            </a:lvl7pPr>
            <a:lvl8pPr>
              <a:buNone/>
              <a:defRPr sz="1875" b="0">
                <a:solidFill>
                  <a:srgbClr val="171717"/>
                </a:solidFill>
                <a:latin typeface="Arial"/>
                <a:ea typeface="Arial"/>
                <a:cs typeface="Arial"/>
              </a:defRPr>
            </a:lvl8pPr>
            <a:lvl9pPr>
              <a:buNone/>
              <a:defRPr sz="1875"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Six numeric features</a:t>
            </a:r>
          </a:p>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Method + location</a:t>
            </a:r>
          </a:p>
        </p:txBody>
      </p:sp>
      <p:sp>
        <p:nvSpPr>
          <p:cNvPr id="6" name="">
            <a:extLst xmlns:a="http://schemas.openxmlformats.org/drawingml/2006/main">
              <a:ext uri="{FF2B5EF4-FFF2-40B4-BE49-F238E27FC236}">
                <a16:creationId xmlns:a16="http://schemas.microsoft.com/office/drawing/2014/main" id="{51CD76C7-71DB-440C-BFEC-268EDDE979A5}"/>
              </a:ext>
            </a:extLst>
          </p:cNvPr>
          <p:cNvSpPr>
            <a:spLocks xmlns:a="http://schemas.openxmlformats.org/drawingml/2006/main" noGrp="1"/>
          </p:cNvSpPr>
          <p:nvPr/>
        </p:nvSpPr>
        <p:spPr>
          <a:xfrm xmlns:a="http://schemas.openxmlformats.org/drawingml/2006/main">
            <a:off x="33909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buNone/>
              <a:defRPr sz="2400" b="1">
                <a:solidFill>
                  <a:srgbClr val="171717"/>
                </a:solidFill>
                <a:latin typeface="Arial"/>
                <a:ea typeface="Arial"/>
                <a:cs typeface="Arial"/>
              </a:defRPr>
            </a:lvl1pPr>
            <a:lvl2pPr>
              <a:buNone/>
              <a:defRPr sz="2400" b="1">
                <a:solidFill>
                  <a:srgbClr val="171717"/>
                </a:solidFill>
                <a:latin typeface="Arial"/>
                <a:ea typeface="Arial"/>
                <a:cs typeface="Arial"/>
              </a:defRPr>
            </a:lvl2pPr>
            <a:lvl3pPr>
              <a:buNone/>
              <a:defRPr sz="2400" b="1">
                <a:solidFill>
                  <a:srgbClr val="171717"/>
                </a:solidFill>
                <a:latin typeface="Arial"/>
                <a:ea typeface="Arial"/>
                <a:cs typeface="Arial"/>
              </a:defRPr>
            </a:lvl3pPr>
            <a:lvl4pPr>
              <a:buNone/>
              <a:defRPr sz="2400" b="1">
                <a:solidFill>
                  <a:srgbClr val="171717"/>
                </a:solidFill>
                <a:latin typeface="Arial"/>
                <a:ea typeface="Arial"/>
                <a:cs typeface="Arial"/>
              </a:defRPr>
            </a:lvl4pPr>
            <a:lvl5pPr>
              <a:buNone/>
              <a:defRPr sz="2400" b="1">
                <a:solidFill>
                  <a:srgbClr val="171717"/>
                </a:solidFill>
                <a:latin typeface="Arial"/>
                <a:ea typeface="Arial"/>
                <a:cs typeface="Arial"/>
              </a:defRPr>
            </a:lvl5pPr>
            <a:lvl6pPr>
              <a:buNone/>
              <a:defRPr sz="2400" b="1">
                <a:solidFill>
                  <a:srgbClr val="171717"/>
                </a:solidFill>
                <a:latin typeface="Arial"/>
                <a:ea typeface="Arial"/>
                <a:cs typeface="Arial"/>
              </a:defRPr>
            </a:lvl6pPr>
            <a:lvl7pPr>
              <a:buNone/>
              <a:defRPr sz="2400" b="1">
                <a:solidFill>
                  <a:srgbClr val="171717"/>
                </a:solidFill>
                <a:latin typeface="Arial"/>
                <a:ea typeface="Arial"/>
                <a:cs typeface="Arial"/>
              </a:defRPr>
            </a:lvl7pPr>
            <a:lvl8pPr>
              <a:buNone/>
              <a:defRPr sz="2400" b="1">
                <a:solidFill>
                  <a:srgbClr val="171717"/>
                </a:solidFill>
                <a:latin typeface="Arial"/>
                <a:ea typeface="Arial"/>
                <a:cs typeface="Arial"/>
              </a:defRPr>
            </a:lvl8pPr>
            <a:lvl9pPr>
              <a:buNone/>
              <a:defRPr sz="2400" b="1">
                <a:solidFill>
                  <a:srgbClr val="171717"/>
                </a:solidFill>
                <a:latin typeface="Arial"/>
                <a:ea typeface="Arial"/>
                <a:cs typeface="Arial"/>
              </a:defRPr>
            </a:lvl9pPr>
          </a:lstStyle>
          <a:p xmlns:a="http://schemas.openxmlformats.org/drawingml/2006/main">
            <a:pPr>
              <a:buNone/>
              <a:defRPr sz="2400" b="1">
                <a:solidFill>
                  <a:srgbClr val="171717"/>
                </a:solidFill>
                <a:latin typeface="Arial"/>
                <a:ea typeface="Arial"/>
                <a:cs typeface="Arial"/>
              </a:defRPr>
            </a:pPr>
            <a:r>
              <a:rPr sz="2400" b="1">
                <a:solidFill>
                  <a:srgbClr val="171717"/>
                </a:solidFill>
                <a:latin typeface="Arial"/>
                <a:ea typeface="Arial"/>
                <a:cs typeface="Arial"/>
              </a:rPr>
              <a:t>2. Estimate</a:t>
            </a:r>
          </a:p>
        </p:txBody>
      </p:sp>
      <p:sp>
        <p:nvSpPr>
          <p:cNvPr id="7" name="">
            <a:extLst xmlns:a="http://schemas.openxmlformats.org/drawingml/2006/main">
              <a:ext uri="{FF2B5EF4-FFF2-40B4-BE49-F238E27FC236}">
                <a16:creationId xmlns:a16="http://schemas.microsoft.com/office/drawing/2014/main" id="{85113589-0CC2-448D-A0E9-3F531AE687C9}"/>
              </a:ext>
            </a:extLst>
          </p:cNvPr>
          <p:cNvSpPr>
            <a:spLocks xmlns:a="http://schemas.openxmlformats.org/drawingml/2006/main" noGrp="1"/>
          </p:cNvSpPr>
          <p:nvPr/>
        </p:nvSpPr>
        <p:spPr>
          <a:xfrm xmlns:a="http://schemas.openxmlformats.org/drawingml/2006/main">
            <a:off x="33909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1875" b="0">
                <a:solidFill>
                  <a:srgbClr val="171717"/>
                </a:solidFill>
                <a:latin typeface="Arial"/>
                <a:ea typeface="Arial"/>
                <a:cs typeface="Arial"/>
              </a:defRPr>
            </a:lvl1pPr>
            <a:lvl2pPr>
              <a:buNone/>
              <a:defRPr sz="1875" b="0">
                <a:solidFill>
                  <a:srgbClr val="171717"/>
                </a:solidFill>
                <a:latin typeface="Arial"/>
                <a:ea typeface="Arial"/>
                <a:cs typeface="Arial"/>
              </a:defRPr>
            </a:lvl2pPr>
            <a:lvl3pPr>
              <a:buNone/>
              <a:defRPr sz="1875" b="0">
                <a:solidFill>
                  <a:srgbClr val="171717"/>
                </a:solidFill>
                <a:latin typeface="Arial"/>
                <a:ea typeface="Arial"/>
                <a:cs typeface="Arial"/>
              </a:defRPr>
            </a:lvl3pPr>
            <a:lvl4pPr>
              <a:buNone/>
              <a:defRPr sz="1875" b="0">
                <a:solidFill>
                  <a:srgbClr val="171717"/>
                </a:solidFill>
                <a:latin typeface="Arial"/>
                <a:ea typeface="Arial"/>
                <a:cs typeface="Arial"/>
              </a:defRPr>
            </a:lvl4pPr>
            <a:lvl5pPr>
              <a:buNone/>
              <a:defRPr sz="1875" b="0">
                <a:solidFill>
                  <a:srgbClr val="171717"/>
                </a:solidFill>
                <a:latin typeface="Arial"/>
                <a:ea typeface="Arial"/>
                <a:cs typeface="Arial"/>
              </a:defRPr>
            </a:lvl5pPr>
            <a:lvl6pPr>
              <a:buNone/>
              <a:defRPr sz="1875" b="0">
                <a:solidFill>
                  <a:srgbClr val="171717"/>
                </a:solidFill>
                <a:latin typeface="Arial"/>
                <a:ea typeface="Arial"/>
                <a:cs typeface="Arial"/>
              </a:defRPr>
            </a:lvl6pPr>
            <a:lvl7pPr>
              <a:buNone/>
              <a:defRPr sz="1875" b="0">
                <a:solidFill>
                  <a:srgbClr val="171717"/>
                </a:solidFill>
                <a:latin typeface="Arial"/>
                <a:ea typeface="Arial"/>
                <a:cs typeface="Arial"/>
              </a:defRPr>
            </a:lvl7pPr>
            <a:lvl8pPr>
              <a:buNone/>
              <a:defRPr sz="1875" b="0">
                <a:solidFill>
                  <a:srgbClr val="171717"/>
                </a:solidFill>
                <a:latin typeface="Arial"/>
                <a:ea typeface="Arial"/>
                <a:cs typeface="Arial"/>
              </a:defRPr>
            </a:lvl8pPr>
            <a:lvl9pPr>
              <a:buNone/>
              <a:defRPr sz="1875"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XGBoost learned trees</a:t>
            </a:r>
          </a:p>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Daily water use (MGD)</a:t>
            </a:r>
          </a:p>
        </p:txBody>
      </p:sp>
      <p:sp>
        <p:nvSpPr>
          <p:cNvPr id="8" name="">
            <a:extLst xmlns:a="http://schemas.openxmlformats.org/drawingml/2006/main">
              <a:ext uri="{FF2B5EF4-FFF2-40B4-BE49-F238E27FC236}">
                <a16:creationId xmlns:a16="http://schemas.microsoft.com/office/drawing/2014/main" id="{61999E67-808D-4287-9828-269EF1F3BA66}"/>
              </a:ext>
            </a:extLst>
          </p:cNvPr>
          <p:cNvSpPr>
            <a:spLocks xmlns:a="http://schemas.openxmlformats.org/drawingml/2006/main" noGrp="1"/>
          </p:cNvSpPr>
          <p:nvPr/>
        </p:nvSpPr>
        <p:spPr>
          <a:xfrm xmlns:a="http://schemas.openxmlformats.org/drawingml/2006/main">
            <a:off x="61722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buNone/>
              <a:defRPr sz="2400" b="1">
                <a:solidFill>
                  <a:srgbClr val="171717"/>
                </a:solidFill>
                <a:latin typeface="Arial"/>
                <a:ea typeface="Arial"/>
                <a:cs typeface="Arial"/>
              </a:defRPr>
            </a:lvl1pPr>
            <a:lvl2pPr>
              <a:buNone/>
              <a:defRPr sz="2400" b="1">
                <a:solidFill>
                  <a:srgbClr val="171717"/>
                </a:solidFill>
                <a:latin typeface="Arial"/>
                <a:ea typeface="Arial"/>
                <a:cs typeface="Arial"/>
              </a:defRPr>
            </a:lvl2pPr>
            <a:lvl3pPr>
              <a:buNone/>
              <a:defRPr sz="2400" b="1">
                <a:solidFill>
                  <a:srgbClr val="171717"/>
                </a:solidFill>
                <a:latin typeface="Arial"/>
                <a:ea typeface="Arial"/>
                <a:cs typeface="Arial"/>
              </a:defRPr>
            </a:lvl3pPr>
            <a:lvl4pPr>
              <a:buNone/>
              <a:defRPr sz="2400" b="1">
                <a:solidFill>
                  <a:srgbClr val="171717"/>
                </a:solidFill>
                <a:latin typeface="Arial"/>
                <a:ea typeface="Arial"/>
                <a:cs typeface="Arial"/>
              </a:defRPr>
            </a:lvl4pPr>
            <a:lvl5pPr>
              <a:buNone/>
              <a:defRPr sz="2400" b="1">
                <a:solidFill>
                  <a:srgbClr val="171717"/>
                </a:solidFill>
                <a:latin typeface="Arial"/>
                <a:ea typeface="Arial"/>
                <a:cs typeface="Arial"/>
              </a:defRPr>
            </a:lvl5pPr>
            <a:lvl6pPr>
              <a:buNone/>
              <a:defRPr sz="2400" b="1">
                <a:solidFill>
                  <a:srgbClr val="171717"/>
                </a:solidFill>
                <a:latin typeface="Arial"/>
                <a:ea typeface="Arial"/>
                <a:cs typeface="Arial"/>
              </a:defRPr>
            </a:lvl6pPr>
            <a:lvl7pPr>
              <a:buNone/>
              <a:defRPr sz="2400" b="1">
                <a:solidFill>
                  <a:srgbClr val="171717"/>
                </a:solidFill>
                <a:latin typeface="Arial"/>
                <a:ea typeface="Arial"/>
                <a:cs typeface="Arial"/>
              </a:defRPr>
            </a:lvl7pPr>
            <a:lvl8pPr>
              <a:buNone/>
              <a:defRPr sz="2400" b="1">
                <a:solidFill>
                  <a:srgbClr val="171717"/>
                </a:solidFill>
                <a:latin typeface="Arial"/>
                <a:ea typeface="Arial"/>
                <a:cs typeface="Arial"/>
              </a:defRPr>
            </a:lvl8pPr>
            <a:lvl9pPr>
              <a:buNone/>
              <a:defRPr sz="2400" b="1">
                <a:solidFill>
                  <a:srgbClr val="171717"/>
                </a:solidFill>
                <a:latin typeface="Arial"/>
                <a:ea typeface="Arial"/>
                <a:cs typeface="Arial"/>
              </a:defRPr>
            </a:lvl9pPr>
          </a:lstStyle>
          <a:p xmlns:a="http://schemas.openxmlformats.org/drawingml/2006/main">
            <a:pPr>
              <a:buNone/>
              <a:defRPr sz="2400" b="1">
                <a:solidFill>
                  <a:srgbClr val="171717"/>
                </a:solidFill>
                <a:latin typeface="Arial"/>
                <a:ea typeface="Arial"/>
                <a:cs typeface="Arial"/>
              </a:defRPr>
            </a:pPr>
            <a:r>
              <a:rPr sz="2400" b="1">
                <a:solidFill>
                  <a:srgbClr val="171717"/>
                </a:solidFill>
                <a:latin typeface="Arial"/>
                <a:ea typeface="Arial"/>
                <a:cs typeface="Arial"/>
              </a:rPr>
              <a:t>3. Check</a:t>
            </a:r>
          </a:p>
        </p:txBody>
      </p:sp>
      <p:sp>
        <p:nvSpPr>
          <p:cNvPr id="9" name="">
            <a:extLst xmlns:a="http://schemas.openxmlformats.org/drawingml/2006/main">
              <a:ext uri="{FF2B5EF4-FFF2-40B4-BE49-F238E27FC236}">
                <a16:creationId xmlns:a16="http://schemas.microsoft.com/office/drawing/2014/main" id="{EED6A29C-340E-47E1-92F5-009956A6950E}"/>
              </a:ext>
            </a:extLst>
          </p:cNvPr>
          <p:cNvSpPr>
            <a:spLocks xmlns:a="http://schemas.openxmlformats.org/drawingml/2006/main" noGrp="1"/>
          </p:cNvSpPr>
          <p:nvPr/>
        </p:nvSpPr>
        <p:spPr>
          <a:xfrm xmlns:a="http://schemas.openxmlformats.org/drawingml/2006/main">
            <a:off x="61722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1875" b="0">
                <a:solidFill>
                  <a:srgbClr val="171717"/>
                </a:solidFill>
                <a:latin typeface="Arial"/>
                <a:ea typeface="Arial"/>
                <a:cs typeface="Arial"/>
              </a:defRPr>
            </a:lvl1pPr>
            <a:lvl2pPr>
              <a:buNone/>
              <a:defRPr sz="1875" b="0">
                <a:solidFill>
                  <a:srgbClr val="171717"/>
                </a:solidFill>
                <a:latin typeface="Arial"/>
                <a:ea typeface="Arial"/>
                <a:cs typeface="Arial"/>
              </a:defRPr>
            </a:lvl2pPr>
            <a:lvl3pPr>
              <a:buNone/>
              <a:defRPr sz="1875" b="0">
                <a:solidFill>
                  <a:srgbClr val="171717"/>
                </a:solidFill>
                <a:latin typeface="Arial"/>
                <a:ea typeface="Arial"/>
                <a:cs typeface="Arial"/>
              </a:defRPr>
            </a:lvl3pPr>
            <a:lvl4pPr>
              <a:buNone/>
              <a:defRPr sz="1875" b="0">
                <a:solidFill>
                  <a:srgbClr val="171717"/>
                </a:solidFill>
                <a:latin typeface="Arial"/>
                <a:ea typeface="Arial"/>
                <a:cs typeface="Arial"/>
              </a:defRPr>
            </a:lvl4pPr>
            <a:lvl5pPr>
              <a:buNone/>
              <a:defRPr sz="1875" b="0">
                <a:solidFill>
                  <a:srgbClr val="171717"/>
                </a:solidFill>
                <a:latin typeface="Arial"/>
                <a:ea typeface="Arial"/>
                <a:cs typeface="Arial"/>
              </a:defRPr>
            </a:lvl5pPr>
            <a:lvl6pPr>
              <a:buNone/>
              <a:defRPr sz="1875" b="0">
                <a:solidFill>
                  <a:srgbClr val="171717"/>
                </a:solidFill>
                <a:latin typeface="Arial"/>
                <a:ea typeface="Arial"/>
                <a:cs typeface="Arial"/>
              </a:defRPr>
            </a:lvl6pPr>
            <a:lvl7pPr>
              <a:buNone/>
              <a:defRPr sz="1875" b="0">
                <a:solidFill>
                  <a:srgbClr val="171717"/>
                </a:solidFill>
                <a:latin typeface="Arial"/>
                <a:ea typeface="Arial"/>
                <a:cs typeface="Arial"/>
              </a:defRPr>
            </a:lvl7pPr>
            <a:lvl8pPr>
              <a:buNone/>
              <a:defRPr sz="1875" b="0">
                <a:solidFill>
                  <a:srgbClr val="171717"/>
                </a:solidFill>
                <a:latin typeface="Arial"/>
                <a:ea typeface="Arial"/>
                <a:cs typeface="Arial"/>
              </a:defRPr>
            </a:lvl8pPr>
            <a:lvl9pPr>
              <a:buNone/>
              <a:defRPr sz="1875"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Symbolic energy rules</a:t>
            </a:r>
          </a:p>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Constrain + flag (E3)</a:t>
            </a:r>
          </a:p>
        </p:txBody>
      </p:sp>
      <p:sp>
        <p:nvSpPr>
          <p:cNvPr id="10" name="">
            <a:extLst xmlns:a="http://schemas.openxmlformats.org/drawingml/2006/main">
              <a:ext uri="{FF2B5EF4-FFF2-40B4-BE49-F238E27FC236}">
                <a16:creationId xmlns:a16="http://schemas.microsoft.com/office/drawing/2014/main" id="{55E08AD3-7CB5-48B8-B734-B3BF022A7441}"/>
              </a:ext>
            </a:extLst>
          </p:cNvPr>
          <p:cNvSpPr>
            <a:spLocks xmlns:a="http://schemas.openxmlformats.org/drawingml/2006/main" noGrp="1"/>
          </p:cNvSpPr>
          <p:nvPr/>
        </p:nvSpPr>
        <p:spPr>
          <a:xfrm xmlns:a="http://schemas.openxmlformats.org/drawingml/2006/main">
            <a:off x="89535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buNone/>
              <a:defRPr sz="2400" b="1">
                <a:solidFill>
                  <a:srgbClr val="171717"/>
                </a:solidFill>
                <a:latin typeface="Arial"/>
                <a:ea typeface="Arial"/>
                <a:cs typeface="Arial"/>
              </a:defRPr>
            </a:lvl1pPr>
            <a:lvl2pPr>
              <a:buNone/>
              <a:defRPr sz="2400" b="1">
                <a:solidFill>
                  <a:srgbClr val="171717"/>
                </a:solidFill>
                <a:latin typeface="Arial"/>
                <a:ea typeface="Arial"/>
                <a:cs typeface="Arial"/>
              </a:defRPr>
            </a:lvl2pPr>
            <a:lvl3pPr>
              <a:buNone/>
              <a:defRPr sz="2400" b="1">
                <a:solidFill>
                  <a:srgbClr val="171717"/>
                </a:solidFill>
                <a:latin typeface="Arial"/>
                <a:ea typeface="Arial"/>
                <a:cs typeface="Arial"/>
              </a:defRPr>
            </a:lvl3pPr>
            <a:lvl4pPr>
              <a:buNone/>
              <a:defRPr sz="2400" b="1">
                <a:solidFill>
                  <a:srgbClr val="171717"/>
                </a:solidFill>
                <a:latin typeface="Arial"/>
                <a:ea typeface="Arial"/>
                <a:cs typeface="Arial"/>
              </a:defRPr>
            </a:lvl4pPr>
            <a:lvl5pPr>
              <a:buNone/>
              <a:defRPr sz="2400" b="1">
                <a:solidFill>
                  <a:srgbClr val="171717"/>
                </a:solidFill>
                <a:latin typeface="Arial"/>
                <a:ea typeface="Arial"/>
                <a:cs typeface="Arial"/>
              </a:defRPr>
            </a:lvl5pPr>
            <a:lvl6pPr>
              <a:buNone/>
              <a:defRPr sz="2400" b="1">
                <a:solidFill>
                  <a:srgbClr val="171717"/>
                </a:solidFill>
                <a:latin typeface="Arial"/>
                <a:ea typeface="Arial"/>
                <a:cs typeface="Arial"/>
              </a:defRPr>
            </a:lvl6pPr>
            <a:lvl7pPr>
              <a:buNone/>
              <a:defRPr sz="2400" b="1">
                <a:solidFill>
                  <a:srgbClr val="171717"/>
                </a:solidFill>
                <a:latin typeface="Arial"/>
                <a:ea typeface="Arial"/>
                <a:cs typeface="Arial"/>
              </a:defRPr>
            </a:lvl7pPr>
            <a:lvl8pPr>
              <a:buNone/>
              <a:defRPr sz="2400" b="1">
                <a:solidFill>
                  <a:srgbClr val="171717"/>
                </a:solidFill>
                <a:latin typeface="Arial"/>
                <a:ea typeface="Arial"/>
                <a:cs typeface="Arial"/>
              </a:defRPr>
            </a:lvl8pPr>
            <a:lvl9pPr>
              <a:buNone/>
              <a:defRPr sz="2400" b="1">
                <a:solidFill>
                  <a:srgbClr val="171717"/>
                </a:solidFill>
                <a:latin typeface="Arial"/>
                <a:ea typeface="Arial"/>
                <a:cs typeface="Arial"/>
              </a:defRPr>
            </a:lvl9pPr>
          </a:lstStyle>
          <a:p xmlns:a="http://schemas.openxmlformats.org/drawingml/2006/main">
            <a:pPr>
              <a:buNone/>
              <a:defRPr sz="2400" b="1">
                <a:solidFill>
                  <a:srgbClr val="171717"/>
                </a:solidFill>
                <a:latin typeface="Arial"/>
                <a:ea typeface="Arial"/>
                <a:cs typeface="Arial"/>
              </a:defRPr>
            </a:pPr>
            <a:r>
              <a:rPr sz="2400" b="1">
                <a:solidFill>
                  <a:srgbClr val="171717"/>
                </a:solidFill>
                <a:latin typeface="Arial"/>
                <a:ea typeface="Arial"/>
                <a:cs typeface="Arial"/>
              </a:rPr>
              <a:t>4. Result</a:t>
            </a:r>
          </a:p>
        </p:txBody>
      </p:sp>
      <p:sp>
        <p:nvSpPr>
          <p:cNvPr id="11" name="">
            <a:extLst xmlns:a="http://schemas.openxmlformats.org/drawingml/2006/main">
              <a:ext uri="{FF2B5EF4-FFF2-40B4-BE49-F238E27FC236}">
                <a16:creationId xmlns:a16="http://schemas.microsoft.com/office/drawing/2014/main" id="{E43D4D19-8E22-4BCC-A748-0AF66650CBE2}"/>
              </a:ext>
            </a:extLst>
          </p:cNvPr>
          <p:cNvSpPr>
            <a:spLocks xmlns:a="http://schemas.openxmlformats.org/drawingml/2006/main" noGrp="1"/>
          </p:cNvSpPr>
          <p:nvPr/>
        </p:nvSpPr>
        <p:spPr>
          <a:xfrm xmlns:a="http://schemas.openxmlformats.org/drawingml/2006/main">
            <a:off x="89535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1875" b="0">
                <a:solidFill>
                  <a:srgbClr val="171717"/>
                </a:solidFill>
                <a:latin typeface="Arial"/>
                <a:ea typeface="Arial"/>
                <a:cs typeface="Arial"/>
              </a:defRPr>
            </a:lvl1pPr>
            <a:lvl2pPr>
              <a:buNone/>
              <a:defRPr sz="1875" b="0">
                <a:solidFill>
                  <a:srgbClr val="171717"/>
                </a:solidFill>
                <a:latin typeface="Arial"/>
                <a:ea typeface="Arial"/>
                <a:cs typeface="Arial"/>
              </a:defRPr>
            </a:lvl2pPr>
            <a:lvl3pPr>
              <a:buNone/>
              <a:defRPr sz="1875" b="0">
                <a:solidFill>
                  <a:srgbClr val="171717"/>
                </a:solidFill>
                <a:latin typeface="Arial"/>
                <a:ea typeface="Arial"/>
                <a:cs typeface="Arial"/>
              </a:defRPr>
            </a:lvl3pPr>
            <a:lvl4pPr>
              <a:buNone/>
              <a:defRPr sz="1875" b="0">
                <a:solidFill>
                  <a:srgbClr val="171717"/>
                </a:solidFill>
                <a:latin typeface="Arial"/>
                <a:ea typeface="Arial"/>
                <a:cs typeface="Arial"/>
              </a:defRPr>
            </a:lvl4pPr>
            <a:lvl5pPr>
              <a:buNone/>
              <a:defRPr sz="1875" b="0">
                <a:solidFill>
                  <a:srgbClr val="171717"/>
                </a:solidFill>
                <a:latin typeface="Arial"/>
                <a:ea typeface="Arial"/>
                <a:cs typeface="Arial"/>
              </a:defRPr>
            </a:lvl5pPr>
            <a:lvl6pPr>
              <a:buNone/>
              <a:defRPr sz="1875" b="0">
                <a:solidFill>
                  <a:srgbClr val="171717"/>
                </a:solidFill>
                <a:latin typeface="Arial"/>
                <a:ea typeface="Arial"/>
                <a:cs typeface="Arial"/>
              </a:defRPr>
            </a:lvl6pPr>
            <a:lvl7pPr>
              <a:buNone/>
              <a:defRPr sz="1875" b="0">
                <a:solidFill>
                  <a:srgbClr val="171717"/>
                </a:solidFill>
                <a:latin typeface="Arial"/>
                <a:ea typeface="Arial"/>
                <a:cs typeface="Arial"/>
              </a:defRPr>
            </a:lvl7pPr>
            <a:lvl8pPr>
              <a:buNone/>
              <a:defRPr sz="1875" b="0">
                <a:solidFill>
                  <a:srgbClr val="171717"/>
                </a:solidFill>
                <a:latin typeface="Arial"/>
                <a:ea typeface="Arial"/>
                <a:cs typeface="Arial"/>
              </a:defRPr>
            </a:lvl8pPr>
            <a:lvl9pPr>
              <a:buNone/>
              <a:defRPr sz="1875"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Gallons/day + range</a:t>
            </a:r>
          </a:p>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Warnings + sources</a:t>
            </a:r>
          </a:p>
        </p:txBody>
      </p:sp>
      <p:sp>
        <p:nvSpPr>
          <p:cNvPr id="12" name="">
            <a:extLst xmlns:a="http://schemas.openxmlformats.org/drawingml/2006/main">
              <a:ext uri="{FF2B5EF4-FFF2-40B4-BE49-F238E27FC236}">
                <a16:creationId xmlns:a16="http://schemas.microsoft.com/office/drawing/2014/main" id="{2FE26E91-4A81-4A4D-9BA1-C931C05D96F8}"/>
              </a:ext>
            </a:extLst>
          </p:cNvPr>
          <p:cNvSpPr>
            <a:spLocks xmlns:a="http://schemas.openxmlformats.org/drawingml/2006/main" noGrp="1"/>
          </p:cNvSpPr>
          <p:nvPr/>
        </p:nvSpPr>
        <p:spPr>
          <a:xfrm xmlns:a="http://schemas.openxmlformats.org/drawingml/2006/main">
            <a:off x="609600" y="40957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Features: MW, air/wet-bulb temperature, river flow, PDSI drought, month.</a:t>
            </a:r>
          </a:p>
        </p:txBody>
      </p:sp>
      <p:sp>
        <p:nvSpPr>
          <p:cNvPr id="13" name="">
            <a:extLst xmlns:a="http://schemas.openxmlformats.org/drawingml/2006/main">
              <a:ext uri="{FF2B5EF4-FFF2-40B4-BE49-F238E27FC236}">
                <a16:creationId xmlns:a16="http://schemas.microsoft.com/office/drawing/2014/main" id="{601FA4A1-3BE6-4C10-9ED3-CB4E61BFF19D}"/>
              </a:ext>
            </a:extLst>
          </p:cNvPr>
          <p:cNvSpPr>
            <a:spLocks xmlns:a="http://schemas.openxmlformats.org/drawingml/2006/main" noGrp="1"/>
          </p:cNvSpPr>
          <p:nvPr/>
        </p:nvSpPr>
        <p:spPr>
          <a:xfrm xmlns:a="http://schemas.openxmlformats.org/drawingml/2006/main">
            <a:off x="609600" y="47148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1875" b="0">
                <a:solidFill>
                  <a:srgbClr val="171717"/>
                </a:solidFill>
                <a:latin typeface="Arial"/>
                <a:ea typeface="Arial"/>
                <a:cs typeface="Arial"/>
              </a:defRPr>
            </a:pPr>
            <a:r>
              <a:rPr sz="1875" b="0">
                <a:solidFill>
                  <a:srgbClr val="171717"/>
                </a:solidFill>
                <a:latin typeface="Arial"/>
                <a:ea typeface="Arial"/>
                <a:cs typeface="Arial"/>
              </a:rPr>
              <a:t>Permit path: text -&gt; TF-IDF vectors + HUC/location filter -&gt; exact quotes (E4).</a:t>
            </a:r>
          </a:p>
        </p:txBody>
      </p:sp>
      <p:sp>
        <p:nvSpPr>
          <p:cNvPr id="15" name="">
            <a:extLst xmlns:a="http://schemas.openxmlformats.org/drawingml/2006/main">
              <a:ext uri="{FF2B5EF4-FFF2-40B4-BE49-F238E27FC236}">
                <a16:creationId xmlns:a16="http://schemas.microsoft.com/office/drawing/2014/main" id="{EA9F03A0-50D3-436D-A400-73F6AC0B2460}"/>
              </a:ext>
            </a:extLst>
          </p:cNvPr>
          <p:cNvSpPr>
            <a:spLocks xmlns:a="http://schemas.openxmlformats.org/drawingml/2006/main" noGrp="1"/>
          </p:cNvSpPr>
          <p:nvPr/>
        </p:nvSpPr>
        <p:spPr>
          <a:xfrm xmlns:a="http://schemas.openxmlformats.org/drawingml/2006/main">
            <a:off x="609600" y="5381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a:solidFill>
                  <a:srgbClr val="171717"/>
                </a:solidFill>
                <a:latin typeface="Arial"/>
                <a:ea typeface="Arial"/>
                <a:cs typeface="Arial"/>
              </a:defRPr>
            </a:defPPr>
            <a:lvl1pPr>
              <a:defRPr sz="1800">
                <a:solidFill>
                  <a:srgbClr val="171717"/>
                </a:solidFill>
                <a:latin typeface="Arial"/>
                <a:ea typeface="Arial"/>
                <a:cs typeface="Arial"/>
              </a:defRPr>
            </a:lvl1pPr>
            <a:lvl2pPr>
              <a:defRPr sz="1800">
                <a:solidFill>
                  <a:srgbClr val="171717"/>
                </a:solidFill>
                <a:latin typeface="Arial"/>
                <a:ea typeface="Arial"/>
                <a:cs typeface="Arial"/>
              </a:defRPr>
            </a:lvl2pPr>
            <a:lvl3pPr>
              <a:defRPr sz="1800">
                <a:solidFill>
                  <a:srgbClr val="171717"/>
                </a:solidFill>
                <a:latin typeface="Arial"/>
                <a:ea typeface="Arial"/>
                <a:cs typeface="Arial"/>
              </a:defRPr>
            </a:lvl3pPr>
            <a:lvl4pPr>
              <a:defRPr sz="1800">
                <a:solidFill>
                  <a:srgbClr val="171717"/>
                </a:solidFill>
                <a:latin typeface="Arial"/>
                <a:ea typeface="Arial"/>
                <a:cs typeface="Arial"/>
              </a:defRPr>
            </a:lvl4pPr>
            <a:lvl5pPr>
              <a:defRPr sz="1800">
                <a:solidFill>
                  <a:srgbClr val="171717"/>
                </a:solidFill>
                <a:latin typeface="Arial"/>
                <a:ea typeface="Arial"/>
                <a:cs typeface="Arial"/>
              </a:defRPr>
            </a:lvl5pPr>
            <a:lvl6pPr>
              <a:defRPr sz="1800">
                <a:solidFill>
                  <a:srgbClr val="171717"/>
                </a:solidFill>
                <a:latin typeface="Arial"/>
                <a:ea typeface="Arial"/>
                <a:cs typeface="Arial"/>
              </a:defRPr>
            </a:lvl6pPr>
            <a:lvl7pPr>
              <a:defRPr sz="1800">
                <a:solidFill>
                  <a:srgbClr val="171717"/>
                </a:solidFill>
                <a:latin typeface="Arial"/>
                <a:ea typeface="Arial"/>
                <a:cs typeface="Arial"/>
              </a:defRPr>
            </a:lvl7pPr>
            <a:lvl8pPr>
              <a:defRPr sz="1800">
                <a:solidFill>
                  <a:srgbClr val="171717"/>
                </a:solidFill>
                <a:latin typeface="Arial"/>
                <a:ea typeface="Arial"/>
                <a:cs typeface="Arial"/>
              </a:defRPr>
            </a:lvl8pPr>
            <a:lvl9pPr>
              <a:defRPr sz="1800">
                <a:solidFill>
                  <a:srgbClr val="171717"/>
                </a:solidFill>
                <a:latin typeface="Arial"/>
                <a:ea typeface="Arial"/>
                <a:cs typeface="Arial"/>
              </a:defRPr>
            </a:lvl9pPr>
          </a:lstStyle>
          <a:p xmlns:a="http://schemas.openxmlformats.org/drawingml/2006/main">
            <a:pPr>
              <a:defRPr sz="1800">
                <a:solidFill>
                  <a:srgbClr val="171717"/>
                </a:solidFill>
                <a:latin typeface="Arial"/>
                <a:ea typeface="Arial"/>
                <a:cs typeface="Arial"/>
              </a:defRPr>
            </a:pPr>
            <a:r>
              <a:rPr sz="1800">
                <a:solidFill>
                  <a:srgbClr val="171717"/>
                </a:solidFill>
                <a:latin typeface="Arial"/>
                <a:ea typeface="Arial"/>
                <a:cs typeface="Arial"/>
              </a:rPr>
              <a:t>E3: -1 MGD -&gt; 0 + warning. E4: wrong watershed -&gt; no permit passage.</a:t>
            </a:r>
          </a:p>
        </p:txBody>
      </p:sp>
    </p:spTree>
    <p:extLst>
      <p:ext uri="{BB962C8B-B14F-4D97-AF65-F5344CB8AC3E}">
        <p14:creationId xmlns:p14="http://schemas.microsoft.com/office/powerpoint/2010/main" val="1875466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3BF732-B930-4154-BC39-9A56F905081E}"/>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Test 1: Which model makes smaller errors?</a:t>
            </a:r>
          </a:p>
        </p:txBody>
      </p:sp>
      <p:sp>
        <p:nvSpPr>
          <p:cNvPr id="2" name="">
            <a:extLst xmlns:a="http://schemas.openxmlformats.org/drawingml/2006/main">
              <a:ext uri="{FF2B5EF4-FFF2-40B4-BE49-F238E27FC236}">
                <a16:creationId xmlns:a16="http://schemas.microsoft.com/office/drawing/2014/main" id="{CF043473-23FA-41CE-AFE6-C334B1267936}"/>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E1 / regression-comparison.csv / 333 test examples per cooling method</a:t>
            </a:r>
          </a:p>
        </p:txBody>
      </p:sp>
      <p:sp>
        <p:nvSpPr>
          <p:cNvPr id="3" name="">
            <a:extLst xmlns:a="http://schemas.openxmlformats.org/drawingml/2006/main">
              <a:ext uri="{FF2B5EF4-FFF2-40B4-BE49-F238E27FC236}">
                <a16:creationId xmlns:a16="http://schemas.microsoft.com/office/drawing/2014/main" id="{A64984B9-261D-4A0F-9722-1E912086BDCD}"/>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6528231E-64F6-4505-97C2-68BED4822A83}"/>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Average error in gallons per day. Lower is better.</a:t>
            </a:r>
          </a:p>
        </p:txBody>
      </p:sp>
      <p:graphicFrame>
        <p:nvGraphicFramePr>
          <p:cNvPr id="5" name="Chart">
            <a:extLst xmlns:a="http://schemas.openxmlformats.org/drawingml/2006/main">
              <a:ext uri="{FF2B5EF4-FFF2-40B4-BE49-F238E27FC236}">
                <a16:creationId xmlns:a16="http://schemas.microsoft.com/office/drawing/2014/main" id="{4EAE0968-DBF4-4458-A58A-7CF1ADC634CE}"/>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8c2d02ee6cc44f4b"/>
          </a:graphicData>
        </a:graphic>
      </p:graphicFrame>
      <p:sp>
        <p:nvSpPr>
          <p:cNvPr id="6" name="">
            <a:extLst xmlns:a="http://schemas.openxmlformats.org/drawingml/2006/main">
              <a:ext uri="{FF2B5EF4-FFF2-40B4-BE49-F238E27FC236}">
                <a16:creationId xmlns:a16="http://schemas.microsoft.com/office/drawing/2014/main" id="{9DF60636-2A80-4569-A92D-2A314390AA5E}"/>
              </a:ext>
            </a:extLst>
          </p:cNvPr>
          <p:cNvSpPr>
            <a:spLocks xmlns:a="http://schemas.openxmlformats.org/drawingml/2006/main" noGrp="1"/>
          </p:cNvSpPr>
          <p:nvPr/>
        </p:nvSpPr>
        <p:spPr>
          <a:xfrm xmlns:a="http://schemas.openxmlformats.org/drawingml/2006/main">
            <a:off x="8524875" y="2333625"/>
            <a:ext cx="3000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75" b="0">
                <a:solidFill>
                  <a:srgbClr val="171717"/>
                </a:solidFill>
                <a:latin typeface="Arial"/>
                <a:ea typeface="Arial"/>
                <a:cs typeface="Arial"/>
              </a:defRPr>
            </a:defPPr>
            <a:lvl1pPr>
              <a:buNone/>
              <a:defRPr sz="2175" b="0">
                <a:solidFill>
                  <a:srgbClr val="171717"/>
                </a:solidFill>
                <a:latin typeface="Arial"/>
                <a:ea typeface="Arial"/>
                <a:cs typeface="Arial"/>
              </a:defRPr>
            </a:lvl1pPr>
            <a:lvl2pPr>
              <a:buNone/>
              <a:defRPr sz="2175" b="0">
                <a:solidFill>
                  <a:srgbClr val="171717"/>
                </a:solidFill>
                <a:latin typeface="Arial"/>
                <a:ea typeface="Arial"/>
                <a:cs typeface="Arial"/>
              </a:defRPr>
            </a:lvl2pPr>
            <a:lvl3pPr>
              <a:buNone/>
              <a:defRPr sz="2175" b="0">
                <a:solidFill>
                  <a:srgbClr val="171717"/>
                </a:solidFill>
                <a:latin typeface="Arial"/>
                <a:ea typeface="Arial"/>
                <a:cs typeface="Arial"/>
              </a:defRPr>
            </a:lvl3pPr>
            <a:lvl4pPr>
              <a:buNone/>
              <a:defRPr sz="2175" b="0">
                <a:solidFill>
                  <a:srgbClr val="171717"/>
                </a:solidFill>
                <a:latin typeface="Arial"/>
                <a:ea typeface="Arial"/>
                <a:cs typeface="Arial"/>
              </a:defRPr>
            </a:lvl4pPr>
            <a:lvl5pPr>
              <a:buNone/>
              <a:defRPr sz="2175" b="0">
                <a:solidFill>
                  <a:srgbClr val="171717"/>
                </a:solidFill>
                <a:latin typeface="Arial"/>
                <a:ea typeface="Arial"/>
                <a:cs typeface="Arial"/>
              </a:defRPr>
            </a:lvl5pPr>
            <a:lvl6pPr>
              <a:buNone/>
              <a:defRPr sz="2175" b="0">
                <a:solidFill>
                  <a:srgbClr val="171717"/>
                </a:solidFill>
                <a:latin typeface="Arial"/>
                <a:ea typeface="Arial"/>
                <a:cs typeface="Arial"/>
              </a:defRPr>
            </a:lvl6pPr>
            <a:lvl7pPr>
              <a:buNone/>
              <a:defRPr sz="2175" b="0">
                <a:solidFill>
                  <a:srgbClr val="171717"/>
                </a:solidFill>
                <a:latin typeface="Arial"/>
                <a:ea typeface="Arial"/>
                <a:cs typeface="Arial"/>
              </a:defRPr>
            </a:lvl7pPr>
            <a:lvl8pPr>
              <a:buNone/>
              <a:defRPr sz="2175" b="0">
                <a:solidFill>
                  <a:srgbClr val="171717"/>
                </a:solidFill>
                <a:latin typeface="Arial"/>
                <a:ea typeface="Arial"/>
                <a:cs typeface="Arial"/>
              </a:defRPr>
            </a:lvl8pPr>
            <a:lvl9pPr>
              <a:buNone/>
              <a:defRPr sz="2175" b="0">
                <a:solidFill>
                  <a:srgbClr val="171717"/>
                </a:solidFill>
                <a:latin typeface="Arial"/>
                <a:ea typeface="Arial"/>
                <a:cs typeface="Arial"/>
              </a:defRPr>
            </a:lvl9pPr>
          </a:lstStyle>
          <a:p xmlns:a="http://schemas.openxmlformats.org/drawingml/2006/main">
            <a:pPr>
              <a:buNone/>
              <a:defRPr sz="2175" b="0">
                <a:solidFill>
                  <a:srgbClr val="171717"/>
                </a:solidFill>
                <a:latin typeface="Arial"/>
                <a:ea typeface="Arial"/>
                <a:cs typeface="Arial"/>
              </a:defRPr>
            </a:pPr>
            <a:r>
              <a:rPr sz="2175" b="0">
                <a:solidFill>
                  <a:srgbClr val="171717"/>
                </a:solidFill>
                <a:latin typeface="Arial"/>
                <a:ea typeface="Arial"/>
                <a:cs typeface="Arial"/>
              </a:rPr>
              <a:t>Both models learn</a:t>
            </a:r>
          </a:p>
          <a:p xmlns:a="http://schemas.openxmlformats.org/drawingml/2006/main">
            <a:pPr>
              <a:buNone/>
              <a:defRPr sz="2175" b="0">
                <a:solidFill>
                  <a:srgbClr val="171717"/>
                </a:solidFill>
                <a:latin typeface="Arial"/>
                <a:ea typeface="Arial"/>
                <a:cs typeface="Arial"/>
              </a:defRPr>
            </a:pPr>
            <a:r>
              <a:rPr sz="2175" b="0">
                <a:solidFill>
                  <a:srgbClr val="171717"/>
                </a:solidFill>
                <a:latin typeface="Arial"/>
                <a:ea typeface="Arial"/>
                <a:cs typeface="Arial"/>
              </a:rPr>
              <a:t>from examples.</a:t>
            </a:r>
          </a:p>
        </p:txBody>
      </p:sp>
      <p:sp>
        <p:nvSpPr>
          <p:cNvPr id="7" name="">
            <a:extLst xmlns:a="http://schemas.openxmlformats.org/drawingml/2006/main">
              <a:ext uri="{FF2B5EF4-FFF2-40B4-BE49-F238E27FC236}">
                <a16:creationId xmlns:a16="http://schemas.microsoft.com/office/drawing/2014/main" id="{1C9D7DE9-CCE9-48DB-8BE4-6998751D35A4}"/>
              </a:ext>
            </a:extLst>
          </p:cNvPr>
          <p:cNvSpPr>
            <a:spLocks xmlns:a="http://schemas.openxmlformats.org/drawingml/2006/main" noGrp="1"/>
          </p:cNvSpPr>
          <p:nvPr/>
        </p:nvSpPr>
        <p:spPr>
          <a:xfrm xmlns:a="http://schemas.openxmlformats.org/drawingml/2006/main">
            <a:off x="8524875" y="3810000"/>
            <a:ext cx="3000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buNone/>
              <a:defRPr sz="2250" b="1">
                <a:solidFill>
                  <a:srgbClr val="171717"/>
                </a:solidFill>
                <a:latin typeface="Arial"/>
                <a:ea typeface="Arial"/>
                <a:cs typeface="Arial"/>
              </a:defRPr>
            </a:lvl1pPr>
            <a:lvl2pPr>
              <a:buNone/>
              <a:defRPr sz="2250" b="1">
                <a:solidFill>
                  <a:srgbClr val="171717"/>
                </a:solidFill>
                <a:latin typeface="Arial"/>
                <a:ea typeface="Arial"/>
                <a:cs typeface="Arial"/>
              </a:defRPr>
            </a:lvl2pPr>
            <a:lvl3pPr>
              <a:buNone/>
              <a:defRPr sz="2250" b="1">
                <a:solidFill>
                  <a:srgbClr val="171717"/>
                </a:solidFill>
                <a:latin typeface="Arial"/>
                <a:ea typeface="Arial"/>
                <a:cs typeface="Arial"/>
              </a:defRPr>
            </a:lvl3pPr>
            <a:lvl4pPr>
              <a:buNone/>
              <a:defRPr sz="2250" b="1">
                <a:solidFill>
                  <a:srgbClr val="171717"/>
                </a:solidFill>
                <a:latin typeface="Arial"/>
                <a:ea typeface="Arial"/>
                <a:cs typeface="Arial"/>
              </a:defRPr>
            </a:lvl4pPr>
            <a:lvl5pPr>
              <a:buNone/>
              <a:defRPr sz="2250" b="1">
                <a:solidFill>
                  <a:srgbClr val="171717"/>
                </a:solidFill>
                <a:latin typeface="Arial"/>
                <a:ea typeface="Arial"/>
                <a:cs typeface="Arial"/>
              </a:defRPr>
            </a:lvl5pPr>
            <a:lvl6pPr>
              <a:buNone/>
              <a:defRPr sz="2250" b="1">
                <a:solidFill>
                  <a:srgbClr val="171717"/>
                </a:solidFill>
                <a:latin typeface="Arial"/>
                <a:ea typeface="Arial"/>
                <a:cs typeface="Arial"/>
              </a:defRPr>
            </a:lvl6pPr>
            <a:lvl7pPr>
              <a:buNone/>
              <a:defRPr sz="2250" b="1">
                <a:solidFill>
                  <a:srgbClr val="171717"/>
                </a:solidFill>
                <a:latin typeface="Arial"/>
                <a:ea typeface="Arial"/>
                <a:cs typeface="Arial"/>
              </a:defRPr>
            </a:lvl7pPr>
            <a:lvl8pPr>
              <a:buNone/>
              <a:defRPr sz="2250" b="1">
                <a:solidFill>
                  <a:srgbClr val="171717"/>
                </a:solidFill>
                <a:latin typeface="Arial"/>
                <a:ea typeface="Arial"/>
                <a:cs typeface="Arial"/>
              </a:defRPr>
            </a:lvl8pPr>
            <a:lvl9pPr>
              <a:buNone/>
              <a:defRPr sz="2250" b="1">
                <a:solidFill>
                  <a:srgbClr val="171717"/>
                </a:solidFill>
                <a:latin typeface="Arial"/>
                <a:ea typeface="Arial"/>
                <a:cs typeface="Arial"/>
              </a:defRPr>
            </a:lvl9pPr>
          </a:lstStyle>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XGBoost made</a:t>
            </a:r>
          </a:p>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smaller errors</a:t>
            </a:r>
          </a:p>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in this test.</a:t>
            </a:r>
          </a:p>
        </p:txBody>
      </p:sp>
    </p:spTree>
    <p:extLst>
      <p:ext uri="{BB962C8B-B14F-4D97-AF65-F5344CB8AC3E}">
        <p14:creationId xmlns:p14="http://schemas.microsoft.com/office/powerpoint/2010/main" val="145263274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74BD81-5E55-4D95-BEE2-7520C0E1BE4E}"/>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Test 2: What if drought readings are missing?</a:t>
            </a:r>
          </a:p>
        </p:txBody>
      </p:sp>
      <p:sp>
        <p:nvSpPr>
          <p:cNvPr id="2" name="">
            <a:extLst xmlns:a="http://schemas.openxmlformats.org/drawingml/2006/main">
              <a:ext uri="{FF2B5EF4-FFF2-40B4-BE49-F238E27FC236}">
                <a16:creationId xmlns:a16="http://schemas.microsoft.com/office/drawing/2014/main" id="{14777EB4-B77D-4BE0-BEBC-E78EFF42E61B}"/>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E2 / biased-donor-diagnostic.csv / Separate simple formula, 40% gaps, 20 repeats</a:t>
            </a:r>
          </a:p>
        </p:txBody>
      </p:sp>
      <p:sp>
        <p:nvSpPr>
          <p:cNvPr id="3" name="">
            <a:extLst xmlns:a="http://schemas.openxmlformats.org/drawingml/2006/main">
              <a:ext uri="{FF2B5EF4-FFF2-40B4-BE49-F238E27FC236}">
                <a16:creationId xmlns:a16="http://schemas.microsoft.com/office/drawing/2014/main" id="{11235C9D-CFFC-44E2-926D-9C42D0E19A63}"/>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80C288E8-96BD-4FA4-831C-E627B414000F}"/>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Bad nearby readings: share of changes within the allowed limit</a:t>
            </a:r>
          </a:p>
        </p:txBody>
      </p:sp>
      <p:graphicFrame>
        <p:nvGraphicFramePr>
          <p:cNvPr id="5" name="Chart">
            <a:extLst xmlns:a="http://schemas.openxmlformats.org/drawingml/2006/main">
              <a:ext uri="{FF2B5EF4-FFF2-40B4-BE49-F238E27FC236}">
                <a16:creationId xmlns:a16="http://schemas.microsoft.com/office/drawing/2014/main" id="{1D7D8C70-23E5-4E59-8ECA-147CBDFCB455}"/>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b2e30c592bce4d31"/>
          </a:graphicData>
        </a:graphic>
      </p:graphicFrame>
      <p:sp>
        <p:nvSpPr>
          <p:cNvPr id="6" name="">
            <a:extLst xmlns:a="http://schemas.openxmlformats.org/drawingml/2006/main">
              <a:ext uri="{FF2B5EF4-FFF2-40B4-BE49-F238E27FC236}">
                <a16:creationId xmlns:a16="http://schemas.microsoft.com/office/drawing/2014/main" id="{96F36447-0432-470A-AAA1-FADD6FA9BD22}"/>
              </a:ext>
            </a:extLst>
          </p:cNvPr>
          <p:cNvSpPr>
            <a:spLocks xmlns:a="http://schemas.openxmlformats.org/drawingml/2006/main" noGrp="1"/>
          </p:cNvSpPr>
          <p:nvPr/>
        </p:nvSpPr>
        <p:spPr>
          <a:xfrm xmlns:a="http://schemas.openxmlformats.org/drawingml/2006/main">
            <a:off x="8524875" y="209550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Within 50,000</a:t>
            </a:r>
          </a:p>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gallons/day of the</a:t>
            </a:r>
          </a:p>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no-gap result.</a:t>
            </a:r>
          </a:p>
        </p:txBody>
      </p:sp>
      <p:sp>
        <p:nvSpPr>
          <p:cNvPr id="7" name="">
            <a:extLst xmlns:a="http://schemas.openxmlformats.org/drawingml/2006/main">
              <a:ext uri="{FF2B5EF4-FFF2-40B4-BE49-F238E27FC236}">
                <a16:creationId xmlns:a16="http://schemas.microsoft.com/office/drawing/2014/main" id="{1E7C9806-2939-4F4D-B38F-140A61EF83AA}"/>
              </a:ext>
            </a:extLst>
          </p:cNvPr>
          <p:cNvSpPr>
            <a:spLocks xmlns:a="http://schemas.openxmlformats.org/drawingml/2006/main" noGrp="1"/>
          </p:cNvSpPr>
          <p:nvPr/>
        </p:nvSpPr>
        <p:spPr>
          <a:xfrm xmlns:a="http://schemas.openxmlformats.org/drawingml/2006/main">
            <a:off x="8524875" y="3857625"/>
            <a:ext cx="3000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75" b="1">
                <a:solidFill>
                  <a:srgbClr val="171717"/>
                </a:solidFill>
                <a:latin typeface="Arial"/>
                <a:ea typeface="Arial"/>
                <a:cs typeface="Arial"/>
              </a:defRPr>
            </a:defPPr>
            <a:lvl1pPr>
              <a:buNone/>
              <a:defRPr sz="2175" b="1">
                <a:solidFill>
                  <a:srgbClr val="171717"/>
                </a:solidFill>
                <a:latin typeface="Arial"/>
                <a:ea typeface="Arial"/>
                <a:cs typeface="Arial"/>
              </a:defRPr>
            </a:lvl1pPr>
            <a:lvl2pPr>
              <a:buNone/>
              <a:defRPr sz="2175" b="1">
                <a:solidFill>
                  <a:srgbClr val="171717"/>
                </a:solidFill>
                <a:latin typeface="Arial"/>
                <a:ea typeface="Arial"/>
                <a:cs typeface="Arial"/>
              </a:defRPr>
            </a:lvl2pPr>
            <a:lvl3pPr>
              <a:buNone/>
              <a:defRPr sz="2175" b="1">
                <a:solidFill>
                  <a:srgbClr val="171717"/>
                </a:solidFill>
                <a:latin typeface="Arial"/>
                <a:ea typeface="Arial"/>
                <a:cs typeface="Arial"/>
              </a:defRPr>
            </a:lvl3pPr>
            <a:lvl4pPr>
              <a:buNone/>
              <a:defRPr sz="2175" b="1">
                <a:solidFill>
                  <a:srgbClr val="171717"/>
                </a:solidFill>
                <a:latin typeface="Arial"/>
                <a:ea typeface="Arial"/>
                <a:cs typeface="Arial"/>
              </a:defRPr>
            </a:lvl4pPr>
            <a:lvl5pPr>
              <a:buNone/>
              <a:defRPr sz="2175" b="1">
                <a:solidFill>
                  <a:srgbClr val="171717"/>
                </a:solidFill>
                <a:latin typeface="Arial"/>
                <a:ea typeface="Arial"/>
                <a:cs typeface="Arial"/>
              </a:defRPr>
            </a:lvl5pPr>
            <a:lvl6pPr>
              <a:buNone/>
              <a:defRPr sz="2175" b="1">
                <a:solidFill>
                  <a:srgbClr val="171717"/>
                </a:solidFill>
                <a:latin typeface="Arial"/>
                <a:ea typeface="Arial"/>
                <a:cs typeface="Arial"/>
              </a:defRPr>
            </a:lvl6pPr>
            <a:lvl7pPr>
              <a:buNone/>
              <a:defRPr sz="2175" b="1">
                <a:solidFill>
                  <a:srgbClr val="171717"/>
                </a:solidFill>
                <a:latin typeface="Arial"/>
                <a:ea typeface="Arial"/>
                <a:cs typeface="Arial"/>
              </a:defRPr>
            </a:lvl7pPr>
            <a:lvl8pPr>
              <a:buNone/>
              <a:defRPr sz="2175" b="1">
                <a:solidFill>
                  <a:srgbClr val="171717"/>
                </a:solidFill>
                <a:latin typeface="Arial"/>
                <a:ea typeface="Arial"/>
                <a:cs typeface="Arial"/>
              </a:defRPr>
            </a:lvl8pPr>
            <a:lvl9pPr>
              <a:buNone/>
              <a:defRPr sz="2175" b="1">
                <a:solidFill>
                  <a:srgbClr val="171717"/>
                </a:solidFill>
                <a:latin typeface="Arial"/>
                <a:ea typeface="Arial"/>
                <a:cs typeface="Arial"/>
              </a:defRPr>
            </a:lvl9pPr>
          </a:lstStyle>
          <a:p xmlns:a="http://schemas.openxmlformats.org/drawingml/2006/main">
            <a:pPr>
              <a:buNone/>
              <a:defRPr sz="2175" b="1">
                <a:solidFill>
                  <a:srgbClr val="171717"/>
                </a:solidFill>
                <a:latin typeface="Arial"/>
                <a:ea typeface="Arial"/>
                <a:cs typeface="Arial"/>
              </a:defRPr>
            </a:pPr>
            <a:r>
              <a:rPr sz="2175" b="1">
                <a:solidFill>
                  <a:srgbClr val="171717"/>
                </a:solidFill>
                <a:latin typeface="Arial"/>
                <a:ea typeface="Arial"/>
                <a:cs typeface="Arial"/>
              </a:rPr>
              <a:t>Nearby readings</a:t>
            </a:r>
          </a:p>
          <a:p xmlns:a="http://schemas.openxmlformats.org/drawingml/2006/main">
            <a:pPr>
              <a:buNone/>
              <a:defRPr sz="2175" b="1">
                <a:solidFill>
                  <a:srgbClr val="171717"/>
                </a:solidFill>
                <a:latin typeface="Arial"/>
                <a:ea typeface="Arial"/>
                <a:cs typeface="Arial"/>
              </a:defRPr>
            </a:pPr>
            <a:r>
              <a:rPr sz="2175" b="1">
                <a:solidFill>
                  <a:srgbClr val="171717"/>
                </a:solidFill>
                <a:latin typeface="Arial"/>
                <a:ea typeface="Arial"/>
                <a:cs typeface="Arial"/>
              </a:rPr>
              <a:t>need to represent</a:t>
            </a:r>
          </a:p>
          <a:p xmlns:a="http://schemas.openxmlformats.org/drawingml/2006/main">
            <a:pPr>
              <a:buNone/>
              <a:defRPr sz="2175" b="1">
                <a:solidFill>
                  <a:srgbClr val="171717"/>
                </a:solidFill>
                <a:latin typeface="Arial"/>
                <a:ea typeface="Arial"/>
                <a:cs typeface="Arial"/>
              </a:defRPr>
            </a:pPr>
            <a:r>
              <a:rPr sz="2175" b="1">
                <a:solidFill>
                  <a:srgbClr val="171717"/>
                </a:solidFill>
                <a:latin typeface="Arial"/>
                <a:ea typeface="Arial"/>
                <a:cs typeface="Arial"/>
              </a:rPr>
              <a:t>the same conditions.</a:t>
            </a:r>
          </a:p>
        </p:txBody>
      </p:sp>
      <p:sp>
        <p:nvSpPr>
          <p:cNvPr id="8" name="">
            <a:extLst xmlns:a="http://schemas.openxmlformats.org/drawingml/2006/main">
              <a:ext uri="{FF2B5EF4-FFF2-40B4-BE49-F238E27FC236}">
                <a16:creationId xmlns:a16="http://schemas.microsoft.com/office/drawing/2014/main" id="{3D261E26-283C-43D6-AF31-5A7B9CB05459}"/>
              </a:ext>
            </a:extLst>
          </p:cNvPr>
          <p:cNvSpPr>
            <a:spLocks xmlns:a="http://schemas.openxmlformats.org/drawingml/2006/main" noGrp="1"/>
          </p:cNvSpPr>
          <p:nvPr/>
        </p:nvSpPr>
        <p:spPr>
          <a:xfrm xmlns:a="http://schemas.openxmlformats.org/drawingml/2006/main">
            <a:off x="609600" y="56959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171717"/>
                </a:solidFill>
                <a:latin typeface="Arial"/>
                <a:ea typeface="Arial"/>
                <a:cs typeface="Arial"/>
              </a:defRPr>
            </a:defPPr>
            <a:lvl1pPr>
              <a:buNone/>
              <a:defRPr sz="1950" b="0">
                <a:solidFill>
                  <a:srgbClr val="171717"/>
                </a:solidFill>
                <a:latin typeface="Arial"/>
                <a:ea typeface="Arial"/>
                <a:cs typeface="Arial"/>
              </a:defRPr>
            </a:lvl1pPr>
            <a:lvl2pPr>
              <a:buNone/>
              <a:defRPr sz="1950" b="0">
                <a:solidFill>
                  <a:srgbClr val="171717"/>
                </a:solidFill>
                <a:latin typeface="Arial"/>
                <a:ea typeface="Arial"/>
                <a:cs typeface="Arial"/>
              </a:defRPr>
            </a:lvl2pPr>
            <a:lvl3pPr>
              <a:buNone/>
              <a:defRPr sz="1950" b="0">
                <a:solidFill>
                  <a:srgbClr val="171717"/>
                </a:solidFill>
                <a:latin typeface="Arial"/>
                <a:ea typeface="Arial"/>
                <a:cs typeface="Arial"/>
              </a:defRPr>
            </a:lvl3pPr>
            <a:lvl4pPr>
              <a:buNone/>
              <a:defRPr sz="1950" b="0">
                <a:solidFill>
                  <a:srgbClr val="171717"/>
                </a:solidFill>
                <a:latin typeface="Arial"/>
                <a:ea typeface="Arial"/>
                <a:cs typeface="Arial"/>
              </a:defRPr>
            </a:lvl4pPr>
            <a:lvl5pPr>
              <a:buNone/>
              <a:defRPr sz="1950" b="0">
                <a:solidFill>
                  <a:srgbClr val="171717"/>
                </a:solidFill>
                <a:latin typeface="Arial"/>
                <a:ea typeface="Arial"/>
                <a:cs typeface="Arial"/>
              </a:defRPr>
            </a:lvl5pPr>
            <a:lvl6pPr>
              <a:buNone/>
              <a:defRPr sz="1950" b="0">
                <a:solidFill>
                  <a:srgbClr val="171717"/>
                </a:solidFill>
                <a:latin typeface="Arial"/>
                <a:ea typeface="Arial"/>
                <a:cs typeface="Arial"/>
              </a:defRPr>
            </a:lvl6pPr>
            <a:lvl7pPr>
              <a:buNone/>
              <a:defRPr sz="1950" b="0">
                <a:solidFill>
                  <a:srgbClr val="171717"/>
                </a:solidFill>
                <a:latin typeface="Arial"/>
                <a:ea typeface="Arial"/>
                <a:cs typeface="Arial"/>
              </a:defRPr>
            </a:lvl7pPr>
            <a:lvl8pPr>
              <a:buNone/>
              <a:defRPr sz="1950" b="0">
                <a:solidFill>
                  <a:srgbClr val="171717"/>
                </a:solidFill>
                <a:latin typeface="Arial"/>
                <a:ea typeface="Arial"/>
                <a:cs typeface="Arial"/>
              </a:defRPr>
            </a:lvl8pPr>
            <a:lvl9pPr>
              <a:buNone/>
              <a:defRPr sz="1950" b="0">
                <a:solidFill>
                  <a:srgbClr val="171717"/>
                </a:solidFill>
                <a:latin typeface="Arial"/>
                <a:ea typeface="Arial"/>
                <a:cs typeface="Arial"/>
              </a:defRPr>
            </a:lvl9pPr>
          </a:lstStyle>
          <a:p xmlns:a="http://schemas.openxmlformats.org/drawingml/2006/main">
            <a:pPr>
              <a:buNone/>
              <a:defRPr sz="1950" b="0">
                <a:solidFill>
                  <a:srgbClr val="171717"/>
                </a:solidFill>
                <a:latin typeface="Arial"/>
                <a:ea typeface="Arial"/>
                <a:cs typeface="Arial"/>
              </a:defRPr>
            </a:pPr>
            <a:r>
              <a:rPr sz="1950" b="0">
                <a:solidFill>
                  <a:srgbClr val="171717"/>
                </a:solidFill>
                <a:latin typeface="Arial"/>
                <a:ea typeface="Arial"/>
                <a:cs typeface="Arial"/>
              </a:rPr>
              <a:t>Between-date filling needs later readings; use it for historical gaps.</a:t>
            </a:r>
          </a:p>
        </p:txBody>
      </p:sp>
    </p:spTree>
    <p:extLst>
      <p:ext uri="{BB962C8B-B14F-4D97-AF65-F5344CB8AC3E}">
        <p14:creationId xmlns:p14="http://schemas.microsoft.com/office/powerpoint/2010/main" val="4855023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92414-0238-4622-A631-E5894DC74827}"/>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Test 3: Did the prediction range work?</a:t>
            </a:r>
          </a:p>
        </p:txBody>
      </p:sp>
      <p:sp>
        <p:nvSpPr>
          <p:cNvPr id="2" name="">
            <a:extLst xmlns:a="http://schemas.openxmlformats.org/drawingml/2006/main">
              <a:ext uri="{FF2B5EF4-FFF2-40B4-BE49-F238E27FC236}">
                <a16:creationId xmlns:a16="http://schemas.microsoft.com/office/drawing/2014/main" id="{23A9A6D7-8F3B-4E2D-83FF-B189416BF0E3}"/>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E5 / interval-coverage.csv / Tower: 294 of 333 / Direct evaporation: 293 of 333</a:t>
            </a:r>
          </a:p>
        </p:txBody>
      </p:sp>
      <p:sp>
        <p:nvSpPr>
          <p:cNvPr id="3" name="">
            <a:extLst xmlns:a="http://schemas.openxmlformats.org/drawingml/2006/main">
              <a:ext uri="{FF2B5EF4-FFF2-40B4-BE49-F238E27FC236}">
                <a16:creationId xmlns:a16="http://schemas.microsoft.com/office/drawing/2014/main" id="{46D8DB1E-5F3A-46D3-836F-F7A2A380A656}"/>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EDBAC062-8696-418F-8CDC-3B9D394C501B}"/>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Share of test answers inside the low-to-high range</a:t>
            </a:r>
          </a:p>
        </p:txBody>
      </p:sp>
      <p:graphicFrame>
        <p:nvGraphicFramePr>
          <p:cNvPr id="5" name="Chart">
            <a:extLst xmlns:a="http://schemas.openxmlformats.org/drawingml/2006/main">
              <a:ext uri="{FF2B5EF4-FFF2-40B4-BE49-F238E27FC236}">
                <a16:creationId xmlns:a16="http://schemas.microsoft.com/office/drawing/2014/main" id="{9C890FEA-02C0-41D0-A3CF-969AFA7D588F}"/>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3363875fc54c4f10"/>
          </a:graphicData>
        </a:graphic>
      </p:graphicFrame>
      <p:sp>
        <p:nvSpPr>
          <p:cNvPr id="6" name="">
            <a:extLst xmlns:a="http://schemas.openxmlformats.org/drawingml/2006/main">
              <a:ext uri="{FF2B5EF4-FFF2-40B4-BE49-F238E27FC236}">
                <a16:creationId xmlns:a16="http://schemas.microsoft.com/office/drawing/2014/main" id="{1C373718-6303-4083-A714-9003ACA741C7}"/>
              </a:ext>
            </a:extLst>
          </p:cNvPr>
          <p:cNvSpPr>
            <a:spLocks xmlns:a="http://schemas.openxmlformats.org/drawingml/2006/main" noGrp="1"/>
          </p:cNvSpPr>
          <p:nvPr/>
        </p:nvSpPr>
        <p:spPr>
          <a:xfrm xmlns:a="http://schemas.openxmlformats.org/drawingml/2006/main">
            <a:off x="8524875" y="2238375"/>
            <a:ext cx="3000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buNone/>
              <a:defRPr sz="2250" b="1">
                <a:solidFill>
                  <a:srgbClr val="171717"/>
                </a:solidFill>
                <a:latin typeface="Arial"/>
                <a:ea typeface="Arial"/>
                <a:cs typeface="Arial"/>
              </a:defRPr>
            </a:lvl1pPr>
            <a:lvl2pPr>
              <a:buNone/>
              <a:defRPr sz="2250" b="1">
                <a:solidFill>
                  <a:srgbClr val="171717"/>
                </a:solidFill>
                <a:latin typeface="Arial"/>
                <a:ea typeface="Arial"/>
                <a:cs typeface="Arial"/>
              </a:defRPr>
            </a:lvl2pPr>
            <a:lvl3pPr>
              <a:buNone/>
              <a:defRPr sz="2250" b="1">
                <a:solidFill>
                  <a:srgbClr val="171717"/>
                </a:solidFill>
                <a:latin typeface="Arial"/>
                <a:ea typeface="Arial"/>
                <a:cs typeface="Arial"/>
              </a:defRPr>
            </a:lvl3pPr>
            <a:lvl4pPr>
              <a:buNone/>
              <a:defRPr sz="2250" b="1">
                <a:solidFill>
                  <a:srgbClr val="171717"/>
                </a:solidFill>
                <a:latin typeface="Arial"/>
                <a:ea typeface="Arial"/>
                <a:cs typeface="Arial"/>
              </a:defRPr>
            </a:lvl4pPr>
            <a:lvl5pPr>
              <a:buNone/>
              <a:defRPr sz="2250" b="1">
                <a:solidFill>
                  <a:srgbClr val="171717"/>
                </a:solidFill>
                <a:latin typeface="Arial"/>
                <a:ea typeface="Arial"/>
                <a:cs typeface="Arial"/>
              </a:defRPr>
            </a:lvl5pPr>
            <a:lvl6pPr>
              <a:buNone/>
              <a:defRPr sz="2250" b="1">
                <a:solidFill>
                  <a:srgbClr val="171717"/>
                </a:solidFill>
                <a:latin typeface="Arial"/>
                <a:ea typeface="Arial"/>
                <a:cs typeface="Arial"/>
              </a:defRPr>
            </a:lvl6pPr>
            <a:lvl7pPr>
              <a:buNone/>
              <a:defRPr sz="2250" b="1">
                <a:solidFill>
                  <a:srgbClr val="171717"/>
                </a:solidFill>
                <a:latin typeface="Arial"/>
                <a:ea typeface="Arial"/>
                <a:cs typeface="Arial"/>
              </a:defRPr>
            </a:lvl7pPr>
            <a:lvl8pPr>
              <a:buNone/>
              <a:defRPr sz="2250" b="1">
                <a:solidFill>
                  <a:srgbClr val="171717"/>
                </a:solidFill>
                <a:latin typeface="Arial"/>
                <a:ea typeface="Arial"/>
                <a:cs typeface="Arial"/>
              </a:defRPr>
            </a:lvl8pPr>
            <a:lvl9pPr>
              <a:buNone/>
              <a:defRPr sz="2250" b="1">
                <a:solidFill>
                  <a:srgbClr val="171717"/>
                </a:solidFill>
                <a:latin typeface="Arial"/>
                <a:ea typeface="Arial"/>
                <a:cs typeface="Arial"/>
              </a:defRPr>
            </a:lvl9pPr>
          </a:lstStyle>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Goal: 90 out of 100.</a:t>
            </a:r>
          </a:p>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Got: about 88.</a:t>
            </a:r>
          </a:p>
        </p:txBody>
      </p:sp>
      <p:sp>
        <p:nvSpPr>
          <p:cNvPr id="7" name="">
            <a:extLst xmlns:a="http://schemas.openxmlformats.org/drawingml/2006/main">
              <a:ext uri="{FF2B5EF4-FFF2-40B4-BE49-F238E27FC236}">
                <a16:creationId xmlns:a16="http://schemas.microsoft.com/office/drawing/2014/main" id="{CA8D5A62-8445-4081-BFE9-C91FFBC7F7EE}"/>
              </a:ext>
            </a:extLst>
          </p:cNvPr>
          <p:cNvSpPr>
            <a:spLocks xmlns:a="http://schemas.openxmlformats.org/drawingml/2006/main" noGrp="1"/>
          </p:cNvSpPr>
          <p:nvPr/>
        </p:nvSpPr>
        <p:spPr>
          <a:xfrm xmlns:a="http://schemas.openxmlformats.org/drawingml/2006/main">
            <a:off x="8524875" y="3952875"/>
            <a:ext cx="3000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Use separate data</a:t>
            </a:r>
          </a:p>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to choose the model</a:t>
            </a:r>
          </a:p>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and set its range.</a:t>
            </a:r>
          </a:p>
        </p:txBody>
      </p:sp>
    </p:spTree>
    <p:extLst>
      <p:ext uri="{BB962C8B-B14F-4D97-AF65-F5344CB8AC3E}">
        <p14:creationId xmlns:p14="http://schemas.microsoft.com/office/powerpoint/2010/main" val="17322873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45B67A-5311-4EA8-B0DB-9672ACB85736}"/>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buNone/>
              <a:defRPr sz="3300" b="1">
                <a:solidFill>
                  <a:srgbClr val="171717"/>
                </a:solidFill>
                <a:latin typeface="Arial"/>
                <a:ea typeface="Arial"/>
                <a:cs typeface="Arial"/>
              </a:defRPr>
            </a:lvl1pPr>
            <a:lvl2pPr>
              <a:buNone/>
              <a:defRPr sz="3300" b="1">
                <a:solidFill>
                  <a:srgbClr val="171717"/>
                </a:solidFill>
                <a:latin typeface="Arial"/>
                <a:ea typeface="Arial"/>
                <a:cs typeface="Arial"/>
              </a:defRPr>
            </a:lvl2pPr>
            <a:lvl3pPr>
              <a:buNone/>
              <a:defRPr sz="3300" b="1">
                <a:solidFill>
                  <a:srgbClr val="171717"/>
                </a:solidFill>
                <a:latin typeface="Arial"/>
                <a:ea typeface="Arial"/>
                <a:cs typeface="Arial"/>
              </a:defRPr>
            </a:lvl3pPr>
            <a:lvl4pPr>
              <a:buNone/>
              <a:defRPr sz="3300" b="1">
                <a:solidFill>
                  <a:srgbClr val="171717"/>
                </a:solidFill>
                <a:latin typeface="Arial"/>
                <a:ea typeface="Arial"/>
                <a:cs typeface="Arial"/>
              </a:defRPr>
            </a:lvl4pPr>
            <a:lvl5pPr>
              <a:buNone/>
              <a:defRPr sz="3300" b="1">
                <a:solidFill>
                  <a:srgbClr val="171717"/>
                </a:solidFill>
                <a:latin typeface="Arial"/>
                <a:ea typeface="Arial"/>
                <a:cs typeface="Arial"/>
              </a:defRPr>
            </a:lvl5pPr>
            <a:lvl6pPr>
              <a:buNone/>
              <a:defRPr sz="3300" b="1">
                <a:solidFill>
                  <a:srgbClr val="171717"/>
                </a:solidFill>
                <a:latin typeface="Arial"/>
                <a:ea typeface="Arial"/>
                <a:cs typeface="Arial"/>
              </a:defRPr>
            </a:lvl6pPr>
            <a:lvl7pPr>
              <a:buNone/>
              <a:defRPr sz="3300" b="1">
                <a:solidFill>
                  <a:srgbClr val="171717"/>
                </a:solidFill>
                <a:latin typeface="Arial"/>
                <a:ea typeface="Arial"/>
                <a:cs typeface="Arial"/>
              </a:defRPr>
            </a:lvl7pPr>
            <a:lvl8pPr>
              <a:buNone/>
              <a:defRPr sz="3300" b="1">
                <a:solidFill>
                  <a:srgbClr val="171717"/>
                </a:solidFill>
                <a:latin typeface="Arial"/>
                <a:ea typeface="Arial"/>
                <a:cs typeface="Arial"/>
              </a:defRPr>
            </a:lvl8pPr>
            <a:lvl9pPr>
              <a:buNone/>
              <a:defRPr sz="3300" b="1">
                <a:solidFill>
                  <a:srgbClr val="171717"/>
                </a:solidFill>
                <a:latin typeface="Arial"/>
                <a:ea typeface="Arial"/>
                <a:cs typeface="Arial"/>
              </a:defRPr>
            </a:lvl9pPr>
          </a:lstStyle>
          <a:p xmlns:a="http://schemas.openxmlformats.org/drawingml/2006/main">
            <a:pPr>
              <a:buNone/>
              <a:defRPr sz="3300" b="1">
                <a:solidFill>
                  <a:srgbClr val="171717"/>
                </a:solidFill>
                <a:latin typeface="Arial"/>
                <a:ea typeface="Arial"/>
                <a:cs typeface="Arial"/>
              </a:defRPr>
            </a:pPr>
            <a:r>
              <a:rPr sz="3300" b="1">
                <a:solidFill>
                  <a:srgbClr val="171717"/>
                </a:solidFill>
                <a:latin typeface="Arial"/>
                <a:ea typeface="Arial"/>
                <a:cs typeface="Arial"/>
              </a:rPr>
              <a:t>What we will keep and improve</a:t>
            </a:r>
          </a:p>
        </p:txBody>
      </p:sp>
      <p:sp>
        <p:nvSpPr>
          <p:cNvPr id="2" name="">
            <a:extLst xmlns:a="http://schemas.openxmlformats.org/drawingml/2006/main">
              <a:ext uri="{FF2B5EF4-FFF2-40B4-BE49-F238E27FC236}">
                <a16:creationId xmlns:a16="http://schemas.microsoft.com/office/drawing/2014/main" id="{0C4A50C0-5F8B-40B2-9EE7-430C2775ADB5}"/>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Decisions: E1-E5 / Next question: how would a new development affect local water?</a:t>
            </a:r>
          </a:p>
        </p:txBody>
      </p:sp>
      <p:sp>
        <p:nvSpPr>
          <p:cNvPr id="3" name="">
            <a:extLst xmlns:a="http://schemas.openxmlformats.org/drawingml/2006/main">
              <a:ext uri="{FF2B5EF4-FFF2-40B4-BE49-F238E27FC236}">
                <a16:creationId xmlns:a16="http://schemas.microsoft.com/office/drawing/2014/main" id="{6348D2B6-F695-4084-94AA-D190F5AE0D0D}"/>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buNone/>
              <a:defRPr sz="1275" b="0">
                <a:solidFill>
                  <a:srgbClr val="555555"/>
                </a:solidFill>
                <a:latin typeface="Arial"/>
                <a:ea typeface="Arial"/>
                <a:cs typeface="Arial"/>
              </a:defRPr>
            </a:lvl1pPr>
            <a:lvl2pPr>
              <a:buNone/>
              <a:defRPr sz="1275" b="0">
                <a:solidFill>
                  <a:srgbClr val="555555"/>
                </a:solidFill>
                <a:latin typeface="Arial"/>
                <a:ea typeface="Arial"/>
                <a:cs typeface="Arial"/>
              </a:defRPr>
            </a:lvl2pPr>
            <a:lvl3pPr>
              <a:buNone/>
              <a:defRPr sz="1275" b="0">
                <a:solidFill>
                  <a:srgbClr val="555555"/>
                </a:solidFill>
                <a:latin typeface="Arial"/>
                <a:ea typeface="Arial"/>
                <a:cs typeface="Arial"/>
              </a:defRPr>
            </a:lvl3pPr>
            <a:lvl4pPr>
              <a:buNone/>
              <a:defRPr sz="1275" b="0">
                <a:solidFill>
                  <a:srgbClr val="555555"/>
                </a:solidFill>
                <a:latin typeface="Arial"/>
                <a:ea typeface="Arial"/>
                <a:cs typeface="Arial"/>
              </a:defRPr>
            </a:lvl4pPr>
            <a:lvl5pPr>
              <a:buNone/>
              <a:defRPr sz="1275" b="0">
                <a:solidFill>
                  <a:srgbClr val="555555"/>
                </a:solidFill>
                <a:latin typeface="Arial"/>
                <a:ea typeface="Arial"/>
                <a:cs typeface="Arial"/>
              </a:defRPr>
            </a:lvl5pPr>
            <a:lvl6pPr>
              <a:buNone/>
              <a:defRPr sz="1275" b="0">
                <a:solidFill>
                  <a:srgbClr val="555555"/>
                </a:solidFill>
                <a:latin typeface="Arial"/>
                <a:ea typeface="Arial"/>
                <a:cs typeface="Arial"/>
              </a:defRPr>
            </a:lvl6pPr>
            <a:lvl7pPr>
              <a:buNone/>
              <a:defRPr sz="1275" b="0">
                <a:solidFill>
                  <a:srgbClr val="555555"/>
                </a:solidFill>
                <a:latin typeface="Arial"/>
                <a:ea typeface="Arial"/>
                <a:cs typeface="Arial"/>
              </a:defRPr>
            </a:lvl7pPr>
            <a:lvl8pPr>
              <a:buNone/>
              <a:defRPr sz="1275" b="0">
                <a:solidFill>
                  <a:srgbClr val="555555"/>
                </a:solidFill>
                <a:latin typeface="Arial"/>
                <a:ea typeface="Arial"/>
                <a:cs typeface="Arial"/>
              </a:defRPr>
            </a:lvl8pPr>
            <a:lvl9pPr>
              <a:buNone/>
              <a:defRPr sz="1275" b="0">
                <a:solidFill>
                  <a:srgbClr val="555555"/>
                </a:solidFill>
                <a:latin typeface="Arial"/>
                <a:ea typeface="Arial"/>
                <a:cs typeface="Arial"/>
              </a:defRPr>
            </a:lvl9pPr>
          </a:lstStyle>
          <a:p xmlns:a="http://schemas.openxmlformats.org/drawingml/2006/main">
            <a:pPr>
              <a:buNone/>
              <a:defRPr sz="1275" b="0">
                <a:solidFill>
                  <a:srgbClr val="555555"/>
                </a:solidFill>
                <a:latin typeface="Arial"/>
                <a:ea typeface="Arial"/>
                <a:cs typeface="Arial"/>
              </a:defRPr>
            </a:pPr>
            <a:r>
              <a:rPr sz="1275" b="0">
                <a:solidFill>
                  <a:srgbClr val="555555"/>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638710CF-1FCF-47A9-B86F-89E8AE640757}"/>
              </a:ext>
            </a:extLst>
          </p:cNvPr>
          <p:cNvSpPr>
            <a:spLocks xmlns:a="http://schemas.openxmlformats.org/drawingml/2006/main" noGrp="1"/>
          </p:cNvSpPr>
          <p:nvPr/>
        </p:nvSpPr>
        <p:spPr>
          <a:xfrm xmlns:a="http://schemas.openxmlformats.org/drawingml/2006/main">
            <a:off x="609600" y="16668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buNone/>
              <a:defRPr sz="2100" b="1">
                <a:solidFill>
                  <a:srgbClr val="171717"/>
                </a:solidFill>
                <a:latin typeface="Arial"/>
                <a:ea typeface="Arial"/>
                <a:cs typeface="Arial"/>
              </a:defRPr>
            </a:lvl1pPr>
            <a:lvl2pPr>
              <a:buNone/>
              <a:defRPr sz="2100" b="1">
                <a:solidFill>
                  <a:srgbClr val="171717"/>
                </a:solidFill>
                <a:latin typeface="Arial"/>
                <a:ea typeface="Arial"/>
                <a:cs typeface="Arial"/>
              </a:defRPr>
            </a:lvl2pPr>
            <a:lvl3pPr>
              <a:buNone/>
              <a:defRPr sz="2100" b="1">
                <a:solidFill>
                  <a:srgbClr val="171717"/>
                </a:solidFill>
                <a:latin typeface="Arial"/>
                <a:ea typeface="Arial"/>
                <a:cs typeface="Arial"/>
              </a:defRPr>
            </a:lvl3pPr>
            <a:lvl4pPr>
              <a:buNone/>
              <a:defRPr sz="2100" b="1">
                <a:solidFill>
                  <a:srgbClr val="171717"/>
                </a:solidFill>
                <a:latin typeface="Arial"/>
                <a:ea typeface="Arial"/>
                <a:cs typeface="Arial"/>
              </a:defRPr>
            </a:lvl4pPr>
            <a:lvl5pPr>
              <a:buNone/>
              <a:defRPr sz="2100" b="1">
                <a:solidFill>
                  <a:srgbClr val="171717"/>
                </a:solidFill>
                <a:latin typeface="Arial"/>
                <a:ea typeface="Arial"/>
                <a:cs typeface="Arial"/>
              </a:defRPr>
            </a:lvl5pPr>
            <a:lvl6pPr>
              <a:buNone/>
              <a:defRPr sz="2100" b="1">
                <a:solidFill>
                  <a:srgbClr val="171717"/>
                </a:solidFill>
                <a:latin typeface="Arial"/>
                <a:ea typeface="Arial"/>
                <a:cs typeface="Arial"/>
              </a:defRPr>
            </a:lvl6pPr>
            <a:lvl7pPr>
              <a:buNone/>
              <a:defRPr sz="2100" b="1">
                <a:solidFill>
                  <a:srgbClr val="171717"/>
                </a:solidFill>
                <a:latin typeface="Arial"/>
                <a:ea typeface="Arial"/>
                <a:cs typeface="Arial"/>
              </a:defRPr>
            </a:lvl7pPr>
            <a:lvl8pPr>
              <a:buNone/>
              <a:defRPr sz="2100" b="1">
                <a:solidFill>
                  <a:srgbClr val="171717"/>
                </a:solidFill>
                <a:latin typeface="Arial"/>
                <a:ea typeface="Arial"/>
                <a:cs typeface="Arial"/>
              </a:defRPr>
            </a:lvl8pPr>
            <a:lvl9pPr>
              <a:buNone/>
              <a:defRPr sz="2100" b="1">
                <a:solidFill>
                  <a:srgbClr val="171717"/>
                </a:solidFill>
                <a:latin typeface="Arial"/>
                <a:ea typeface="Arial"/>
                <a:cs typeface="Arial"/>
              </a:defRPr>
            </a:lvl9pPr>
          </a:lstStyle>
          <a:p xmlns:a="http://schemas.openxmlformats.org/drawingml/2006/main">
            <a:pPr>
              <a:buNone/>
              <a:defRPr sz="2100" b="1">
                <a:solidFill>
                  <a:srgbClr val="171717"/>
                </a:solidFill>
                <a:latin typeface="Arial"/>
                <a:ea typeface="Arial"/>
                <a:cs typeface="Arial"/>
              </a:defRPr>
            </a:pPr>
            <a:r>
              <a:rPr sz="2100" b="1">
                <a:solidFill>
                  <a:srgbClr val="171717"/>
                </a:solidFill>
                <a:latin typeface="Arial"/>
                <a:ea typeface="Arial"/>
                <a:cs typeface="Arial"/>
              </a:rPr>
              <a:t>Keep (Adopt)</a:t>
            </a:r>
          </a:p>
        </p:txBody>
      </p:sp>
      <p:sp>
        <p:nvSpPr>
          <p:cNvPr id="5" name="">
            <a:extLst xmlns:a="http://schemas.openxmlformats.org/drawingml/2006/main">
              <a:ext uri="{FF2B5EF4-FFF2-40B4-BE49-F238E27FC236}">
                <a16:creationId xmlns:a16="http://schemas.microsoft.com/office/drawing/2014/main" id="{0B896AC7-D4FC-4D1D-B336-425A99960174}"/>
              </a:ext>
            </a:extLst>
          </p:cNvPr>
          <p:cNvSpPr>
            <a:spLocks xmlns:a="http://schemas.openxmlformats.org/drawingml/2006/main" noGrp="1"/>
          </p:cNvSpPr>
          <p:nvPr/>
        </p:nvSpPr>
        <p:spPr>
          <a:xfrm xmlns:a="http://schemas.openxmlformats.org/drawingml/2006/main">
            <a:off x="3810000" y="166687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XGBoost (E1), rules (E3), local quotes (E4).</a:t>
            </a:r>
          </a:p>
        </p:txBody>
      </p:sp>
      <p:sp>
        <p:nvSpPr>
          <p:cNvPr id="6" name="">
            <a:extLst xmlns:a="http://schemas.openxmlformats.org/drawingml/2006/main">
              <a:ext uri="{FF2B5EF4-FFF2-40B4-BE49-F238E27FC236}">
                <a16:creationId xmlns:a16="http://schemas.microsoft.com/office/drawing/2014/main" id="{AFB29415-E107-46F7-8901-B5CEAA34E4D6}"/>
              </a:ext>
            </a:extLst>
          </p:cNvPr>
          <p:cNvSpPr>
            <a:spLocks xmlns:a="http://schemas.openxmlformats.org/drawingml/2006/main" noGrp="1"/>
          </p:cNvSpPr>
          <p:nvPr/>
        </p:nvSpPr>
        <p:spPr>
          <a:xfrm xmlns:a="http://schemas.openxmlformats.org/drawingml/2006/main">
            <a:off x="609600" y="252412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buNone/>
              <a:defRPr sz="2100" b="1">
                <a:solidFill>
                  <a:srgbClr val="171717"/>
                </a:solidFill>
                <a:latin typeface="Arial"/>
                <a:ea typeface="Arial"/>
                <a:cs typeface="Arial"/>
              </a:defRPr>
            </a:lvl1pPr>
            <a:lvl2pPr>
              <a:buNone/>
              <a:defRPr sz="2100" b="1">
                <a:solidFill>
                  <a:srgbClr val="171717"/>
                </a:solidFill>
                <a:latin typeface="Arial"/>
                <a:ea typeface="Arial"/>
                <a:cs typeface="Arial"/>
              </a:defRPr>
            </a:lvl2pPr>
            <a:lvl3pPr>
              <a:buNone/>
              <a:defRPr sz="2100" b="1">
                <a:solidFill>
                  <a:srgbClr val="171717"/>
                </a:solidFill>
                <a:latin typeface="Arial"/>
                <a:ea typeface="Arial"/>
                <a:cs typeface="Arial"/>
              </a:defRPr>
            </a:lvl3pPr>
            <a:lvl4pPr>
              <a:buNone/>
              <a:defRPr sz="2100" b="1">
                <a:solidFill>
                  <a:srgbClr val="171717"/>
                </a:solidFill>
                <a:latin typeface="Arial"/>
                <a:ea typeface="Arial"/>
                <a:cs typeface="Arial"/>
              </a:defRPr>
            </a:lvl4pPr>
            <a:lvl5pPr>
              <a:buNone/>
              <a:defRPr sz="2100" b="1">
                <a:solidFill>
                  <a:srgbClr val="171717"/>
                </a:solidFill>
                <a:latin typeface="Arial"/>
                <a:ea typeface="Arial"/>
                <a:cs typeface="Arial"/>
              </a:defRPr>
            </a:lvl5pPr>
            <a:lvl6pPr>
              <a:buNone/>
              <a:defRPr sz="2100" b="1">
                <a:solidFill>
                  <a:srgbClr val="171717"/>
                </a:solidFill>
                <a:latin typeface="Arial"/>
                <a:ea typeface="Arial"/>
                <a:cs typeface="Arial"/>
              </a:defRPr>
            </a:lvl6pPr>
            <a:lvl7pPr>
              <a:buNone/>
              <a:defRPr sz="2100" b="1">
                <a:solidFill>
                  <a:srgbClr val="171717"/>
                </a:solidFill>
                <a:latin typeface="Arial"/>
                <a:ea typeface="Arial"/>
                <a:cs typeface="Arial"/>
              </a:defRPr>
            </a:lvl7pPr>
            <a:lvl8pPr>
              <a:buNone/>
              <a:defRPr sz="2100" b="1">
                <a:solidFill>
                  <a:srgbClr val="171717"/>
                </a:solidFill>
                <a:latin typeface="Arial"/>
                <a:ea typeface="Arial"/>
                <a:cs typeface="Arial"/>
              </a:defRPr>
            </a:lvl8pPr>
            <a:lvl9pPr>
              <a:buNone/>
              <a:defRPr sz="2100" b="1">
                <a:solidFill>
                  <a:srgbClr val="171717"/>
                </a:solidFill>
                <a:latin typeface="Arial"/>
                <a:ea typeface="Arial"/>
                <a:cs typeface="Arial"/>
              </a:defRPr>
            </a:lvl9pPr>
          </a:lstStyle>
          <a:p xmlns:a="http://schemas.openxmlformats.org/drawingml/2006/main">
            <a:pPr>
              <a:buNone/>
              <a:defRPr sz="2100" b="1">
                <a:solidFill>
                  <a:srgbClr val="171717"/>
                </a:solidFill>
                <a:latin typeface="Arial"/>
                <a:ea typeface="Arial"/>
                <a:cs typeface="Arial"/>
              </a:defRPr>
            </a:pPr>
            <a:r>
              <a:rPr sz="2100" b="1">
                <a:solidFill>
                  <a:srgbClr val="171717"/>
                </a:solidFill>
                <a:latin typeface="Arial"/>
                <a:ea typeface="Arial"/>
                <a:cs typeface="Arial"/>
              </a:rPr>
              <a:t>Improve (Modify)</a:t>
            </a:r>
          </a:p>
        </p:txBody>
      </p:sp>
      <p:sp>
        <p:nvSpPr>
          <p:cNvPr id="7" name="">
            <a:extLst xmlns:a="http://schemas.openxmlformats.org/drawingml/2006/main">
              <a:ext uri="{FF2B5EF4-FFF2-40B4-BE49-F238E27FC236}">
                <a16:creationId xmlns:a16="http://schemas.microsoft.com/office/drawing/2014/main" id="{EE5C0CE2-AAFA-4446-B321-B357DD81CE36}"/>
              </a:ext>
            </a:extLst>
          </p:cNvPr>
          <p:cNvSpPr>
            <a:spLocks xmlns:a="http://schemas.openxmlformats.org/drawingml/2006/main" noGrp="1"/>
          </p:cNvSpPr>
          <p:nvPr/>
        </p:nvSpPr>
        <p:spPr>
          <a:xfrm xmlns:a="http://schemas.openxmlformats.org/drawingml/2006/main">
            <a:off x="3810000" y="252412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Donor checks (E2); separate calibration (E5).</a:t>
            </a:r>
          </a:p>
        </p:txBody>
      </p:sp>
      <p:sp>
        <p:nvSpPr>
          <p:cNvPr id="8" name="">
            <a:extLst xmlns:a="http://schemas.openxmlformats.org/drawingml/2006/main">
              <a:ext uri="{FF2B5EF4-FFF2-40B4-BE49-F238E27FC236}">
                <a16:creationId xmlns:a16="http://schemas.microsoft.com/office/drawing/2014/main" id="{33B522D8-CADD-470C-A9FF-DB56B2A42530}"/>
              </a:ext>
            </a:extLst>
          </p:cNvPr>
          <p:cNvSpPr>
            <a:spLocks xmlns:a="http://schemas.openxmlformats.org/drawingml/2006/main" noGrp="1"/>
          </p:cNvSpPr>
          <p:nvPr/>
        </p:nvSpPr>
        <p:spPr>
          <a:xfrm xmlns:a="http://schemas.openxmlformats.org/drawingml/2006/main">
            <a:off x="609600" y="3381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buNone/>
              <a:defRPr sz="2100" b="1">
                <a:solidFill>
                  <a:srgbClr val="171717"/>
                </a:solidFill>
                <a:latin typeface="Arial"/>
                <a:ea typeface="Arial"/>
                <a:cs typeface="Arial"/>
              </a:defRPr>
            </a:lvl1pPr>
            <a:lvl2pPr>
              <a:buNone/>
              <a:defRPr sz="2100" b="1">
                <a:solidFill>
                  <a:srgbClr val="171717"/>
                </a:solidFill>
                <a:latin typeface="Arial"/>
                <a:ea typeface="Arial"/>
                <a:cs typeface="Arial"/>
              </a:defRPr>
            </a:lvl2pPr>
            <a:lvl3pPr>
              <a:buNone/>
              <a:defRPr sz="2100" b="1">
                <a:solidFill>
                  <a:srgbClr val="171717"/>
                </a:solidFill>
                <a:latin typeface="Arial"/>
                <a:ea typeface="Arial"/>
                <a:cs typeface="Arial"/>
              </a:defRPr>
            </a:lvl3pPr>
            <a:lvl4pPr>
              <a:buNone/>
              <a:defRPr sz="2100" b="1">
                <a:solidFill>
                  <a:srgbClr val="171717"/>
                </a:solidFill>
                <a:latin typeface="Arial"/>
                <a:ea typeface="Arial"/>
                <a:cs typeface="Arial"/>
              </a:defRPr>
            </a:lvl4pPr>
            <a:lvl5pPr>
              <a:buNone/>
              <a:defRPr sz="2100" b="1">
                <a:solidFill>
                  <a:srgbClr val="171717"/>
                </a:solidFill>
                <a:latin typeface="Arial"/>
                <a:ea typeface="Arial"/>
                <a:cs typeface="Arial"/>
              </a:defRPr>
            </a:lvl5pPr>
            <a:lvl6pPr>
              <a:buNone/>
              <a:defRPr sz="2100" b="1">
                <a:solidFill>
                  <a:srgbClr val="171717"/>
                </a:solidFill>
                <a:latin typeface="Arial"/>
                <a:ea typeface="Arial"/>
                <a:cs typeface="Arial"/>
              </a:defRPr>
            </a:lvl6pPr>
            <a:lvl7pPr>
              <a:buNone/>
              <a:defRPr sz="2100" b="1">
                <a:solidFill>
                  <a:srgbClr val="171717"/>
                </a:solidFill>
                <a:latin typeface="Arial"/>
                <a:ea typeface="Arial"/>
                <a:cs typeface="Arial"/>
              </a:defRPr>
            </a:lvl7pPr>
            <a:lvl8pPr>
              <a:buNone/>
              <a:defRPr sz="2100" b="1">
                <a:solidFill>
                  <a:srgbClr val="171717"/>
                </a:solidFill>
                <a:latin typeface="Arial"/>
                <a:ea typeface="Arial"/>
                <a:cs typeface="Arial"/>
              </a:defRPr>
            </a:lvl8pPr>
            <a:lvl9pPr>
              <a:buNone/>
              <a:defRPr sz="2100" b="1">
                <a:solidFill>
                  <a:srgbClr val="171717"/>
                </a:solidFill>
                <a:latin typeface="Arial"/>
                <a:ea typeface="Arial"/>
                <a:cs typeface="Arial"/>
              </a:defRPr>
            </a:lvl9pPr>
          </a:lstStyle>
          <a:p xmlns:a="http://schemas.openxmlformats.org/drawingml/2006/main">
            <a:pPr>
              <a:buNone/>
              <a:defRPr sz="2100" b="1">
                <a:solidFill>
                  <a:srgbClr val="171717"/>
                </a:solidFill>
                <a:latin typeface="Arial"/>
                <a:ea typeface="Arial"/>
                <a:cs typeface="Arial"/>
              </a:defRPr>
            </a:pPr>
            <a:r>
              <a:rPr sz="2100" b="1">
                <a:solidFill>
                  <a:srgbClr val="171717"/>
                </a:solidFill>
                <a:latin typeface="Arial"/>
                <a:ea typeface="Arial"/>
                <a:cs typeface="Arial"/>
              </a:rPr>
              <a:t>Reject</a:t>
            </a:r>
          </a:p>
        </p:txBody>
      </p:sp>
      <p:sp>
        <p:nvSpPr>
          <p:cNvPr id="9" name="">
            <a:extLst xmlns:a="http://schemas.openxmlformats.org/drawingml/2006/main">
              <a:ext uri="{FF2B5EF4-FFF2-40B4-BE49-F238E27FC236}">
                <a16:creationId xmlns:a16="http://schemas.microsoft.com/office/drawing/2014/main" id="{51C949FA-8FA2-4867-9870-3046750DB6D5}"/>
              </a:ext>
            </a:extLst>
          </p:cNvPr>
          <p:cNvSpPr>
            <a:spLocks xmlns:a="http://schemas.openxmlformats.org/drawingml/2006/main" noGrp="1"/>
          </p:cNvSpPr>
          <p:nvPr/>
        </p:nvSpPr>
        <p:spPr>
          <a:xfrm xmlns:a="http://schemas.openxmlformats.org/drawingml/2006/main">
            <a:off x="3810000" y="338137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Fit as accuracy: strong fit, missed coverage (E1/E5).</a:t>
            </a:r>
          </a:p>
        </p:txBody>
      </p:sp>
      <p:sp>
        <p:nvSpPr>
          <p:cNvPr id="10" name="">
            <a:extLst xmlns:a="http://schemas.openxmlformats.org/drawingml/2006/main">
              <a:ext uri="{FF2B5EF4-FFF2-40B4-BE49-F238E27FC236}">
                <a16:creationId xmlns:a16="http://schemas.microsoft.com/office/drawing/2014/main" id="{45E53DD7-4C64-40D1-95D3-83A29969E75A}"/>
              </a:ext>
            </a:extLst>
          </p:cNvPr>
          <p:cNvSpPr>
            <a:spLocks xmlns:a="http://schemas.openxmlformats.org/drawingml/2006/main" noGrp="1"/>
          </p:cNvSpPr>
          <p:nvPr/>
        </p:nvSpPr>
        <p:spPr>
          <a:xfrm xmlns:a="http://schemas.openxmlformats.org/drawingml/2006/main">
            <a:off x="609600" y="423862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buNone/>
              <a:defRPr sz="2100" b="1">
                <a:solidFill>
                  <a:srgbClr val="171717"/>
                </a:solidFill>
                <a:latin typeface="Arial"/>
                <a:ea typeface="Arial"/>
                <a:cs typeface="Arial"/>
              </a:defRPr>
            </a:lvl1pPr>
            <a:lvl2pPr>
              <a:buNone/>
              <a:defRPr sz="2100" b="1">
                <a:solidFill>
                  <a:srgbClr val="171717"/>
                </a:solidFill>
                <a:latin typeface="Arial"/>
                <a:ea typeface="Arial"/>
                <a:cs typeface="Arial"/>
              </a:defRPr>
            </a:lvl2pPr>
            <a:lvl3pPr>
              <a:buNone/>
              <a:defRPr sz="2100" b="1">
                <a:solidFill>
                  <a:srgbClr val="171717"/>
                </a:solidFill>
                <a:latin typeface="Arial"/>
                <a:ea typeface="Arial"/>
                <a:cs typeface="Arial"/>
              </a:defRPr>
            </a:lvl3pPr>
            <a:lvl4pPr>
              <a:buNone/>
              <a:defRPr sz="2100" b="1">
                <a:solidFill>
                  <a:srgbClr val="171717"/>
                </a:solidFill>
                <a:latin typeface="Arial"/>
                <a:ea typeface="Arial"/>
                <a:cs typeface="Arial"/>
              </a:defRPr>
            </a:lvl4pPr>
            <a:lvl5pPr>
              <a:buNone/>
              <a:defRPr sz="2100" b="1">
                <a:solidFill>
                  <a:srgbClr val="171717"/>
                </a:solidFill>
                <a:latin typeface="Arial"/>
                <a:ea typeface="Arial"/>
                <a:cs typeface="Arial"/>
              </a:defRPr>
            </a:lvl5pPr>
            <a:lvl6pPr>
              <a:buNone/>
              <a:defRPr sz="2100" b="1">
                <a:solidFill>
                  <a:srgbClr val="171717"/>
                </a:solidFill>
                <a:latin typeface="Arial"/>
                <a:ea typeface="Arial"/>
                <a:cs typeface="Arial"/>
              </a:defRPr>
            </a:lvl6pPr>
            <a:lvl7pPr>
              <a:buNone/>
              <a:defRPr sz="2100" b="1">
                <a:solidFill>
                  <a:srgbClr val="171717"/>
                </a:solidFill>
                <a:latin typeface="Arial"/>
                <a:ea typeface="Arial"/>
                <a:cs typeface="Arial"/>
              </a:defRPr>
            </a:lvl7pPr>
            <a:lvl8pPr>
              <a:buNone/>
              <a:defRPr sz="2100" b="1">
                <a:solidFill>
                  <a:srgbClr val="171717"/>
                </a:solidFill>
                <a:latin typeface="Arial"/>
                <a:ea typeface="Arial"/>
                <a:cs typeface="Arial"/>
              </a:defRPr>
            </a:lvl8pPr>
            <a:lvl9pPr>
              <a:buNone/>
              <a:defRPr sz="2100" b="1">
                <a:solidFill>
                  <a:srgbClr val="171717"/>
                </a:solidFill>
                <a:latin typeface="Arial"/>
                <a:ea typeface="Arial"/>
                <a:cs typeface="Arial"/>
              </a:defRPr>
            </a:lvl9pPr>
          </a:lstStyle>
          <a:p xmlns:a="http://schemas.openxmlformats.org/drawingml/2006/main">
            <a:pPr>
              <a:buNone/>
              <a:defRPr sz="2100" b="1">
                <a:solidFill>
                  <a:srgbClr val="171717"/>
                </a:solidFill>
                <a:latin typeface="Arial"/>
                <a:ea typeface="Arial"/>
                <a:cs typeface="Arial"/>
              </a:defRPr>
            </a:pPr>
            <a:r>
              <a:rPr sz="2100" b="1">
                <a:solidFill>
                  <a:srgbClr val="171717"/>
                </a:solidFill>
                <a:latin typeface="Arial"/>
                <a:ea typeface="Arial"/>
                <a:cs typeface="Arial"/>
              </a:rPr>
              <a:t>Wait (Defer)</a:t>
            </a:r>
          </a:p>
        </p:txBody>
      </p:sp>
      <p:sp>
        <p:nvSpPr>
          <p:cNvPr id="11" name="">
            <a:extLst xmlns:a="http://schemas.openxmlformats.org/drawingml/2006/main">
              <a:ext uri="{FF2B5EF4-FFF2-40B4-BE49-F238E27FC236}">
                <a16:creationId xmlns:a16="http://schemas.microsoft.com/office/drawing/2014/main" id="{C812625A-E9D9-49BA-9258-485D4A52EA3B}"/>
              </a:ext>
            </a:extLst>
          </p:cNvPr>
          <p:cNvSpPr>
            <a:spLocks xmlns:a="http://schemas.openxmlformats.org/drawingml/2006/main" noGrp="1"/>
          </p:cNvSpPr>
          <p:nvPr/>
        </p:nvSpPr>
        <p:spPr>
          <a:xfrm xmlns:a="http://schemas.openxmlformats.org/drawingml/2006/main">
            <a:off x="3810000" y="423862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buNone/>
              <a:defRPr sz="2100" b="0">
                <a:solidFill>
                  <a:srgbClr val="171717"/>
                </a:solidFill>
                <a:latin typeface="Arial"/>
                <a:ea typeface="Arial"/>
                <a:cs typeface="Arial"/>
              </a:defRPr>
            </a:lvl1pPr>
            <a:lvl2pPr>
              <a:buNone/>
              <a:defRPr sz="2100" b="0">
                <a:solidFill>
                  <a:srgbClr val="171717"/>
                </a:solidFill>
                <a:latin typeface="Arial"/>
                <a:ea typeface="Arial"/>
                <a:cs typeface="Arial"/>
              </a:defRPr>
            </a:lvl2pPr>
            <a:lvl3pPr>
              <a:buNone/>
              <a:defRPr sz="2100" b="0">
                <a:solidFill>
                  <a:srgbClr val="171717"/>
                </a:solidFill>
                <a:latin typeface="Arial"/>
                <a:ea typeface="Arial"/>
                <a:cs typeface="Arial"/>
              </a:defRPr>
            </a:lvl3pPr>
            <a:lvl4pPr>
              <a:buNone/>
              <a:defRPr sz="2100" b="0">
                <a:solidFill>
                  <a:srgbClr val="171717"/>
                </a:solidFill>
                <a:latin typeface="Arial"/>
                <a:ea typeface="Arial"/>
                <a:cs typeface="Arial"/>
              </a:defRPr>
            </a:lvl4pPr>
            <a:lvl5pPr>
              <a:buNone/>
              <a:defRPr sz="2100" b="0">
                <a:solidFill>
                  <a:srgbClr val="171717"/>
                </a:solidFill>
                <a:latin typeface="Arial"/>
                <a:ea typeface="Arial"/>
                <a:cs typeface="Arial"/>
              </a:defRPr>
            </a:lvl5pPr>
            <a:lvl6pPr>
              <a:buNone/>
              <a:defRPr sz="2100" b="0">
                <a:solidFill>
                  <a:srgbClr val="171717"/>
                </a:solidFill>
                <a:latin typeface="Arial"/>
                <a:ea typeface="Arial"/>
                <a:cs typeface="Arial"/>
              </a:defRPr>
            </a:lvl6pPr>
            <a:lvl7pPr>
              <a:buNone/>
              <a:defRPr sz="2100" b="0">
                <a:solidFill>
                  <a:srgbClr val="171717"/>
                </a:solidFill>
                <a:latin typeface="Arial"/>
                <a:ea typeface="Arial"/>
                <a:cs typeface="Arial"/>
              </a:defRPr>
            </a:lvl7pPr>
            <a:lvl8pPr>
              <a:buNone/>
              <a:defRPr sz="2100" b="0">
                <a:solidFill>
                  <a:srgbClr val="171717"/>
                </a:solidFill>
                <a:latin typeface="Arial"/>
                <a:ea typeface="Arial"/>
                <a:cs typeface="Arial"/>
              </a:defRPr>
            </a:lvl8pPr>
            <a:lvl9pPr>
              <a:buNone/>
              <a:defRPr sz="2100" b="0">
                <a:solidFill>
                  <a:srgbClr val="171717"/>
                </a:solidFill>
                <a:latin typeface="Arial"/>
                <a:ea typeface="Arial"/>
                <a:cs typeface="Arial"/>
              </a:defRPr>
            </a:lvl9pPr>
          </a:lstStyle>
          <a:p xmlns:a="http://schemas.openxmlformats.org/drawingml/2006/main">
            <a:pPr>
              <a:buNone/>
              <a:defRPr sz="2100" b="0">
                <a:solidFill>
                  <a:srgbClr val="171717"/>
                </a:solidFill>
                <a:latin typeface="Arial"/>
                <a:ea typeface="Arial"/>
                <a:cs typeface="Arial"/>
              </a:defRPr>
            </a:pPr>
            <a:r>
              <a:rPr sz="2100" b="0">
                <a:solidFill>
                  <a:srgbClr val="171717"/>
                </a:solidFill>
                <a:latin typeface="Arial"/>
                <a:ea typeface="Arial"/>
                <a:cs typeface="Arial"/>
              </a:rPr>
              <a:t>Neural/LLM methods: no fair measured-data test yet.</a:t>
            </a:r>
          </a:p>
        </p:txBody>
      </p:sp>
      <p:sp>
        <p:nvSpPr>
          <p:cNvPr id="12" name="">
            <a:extLst xmlns:a="http://schemas.openxmlformats.org/drawingml/2006/main">
              <a:ext uri="{FF2B5EF4-FFF2-40B4-BE49-F238E27FC236}">
                <a16:creationId xmlns:a16="http://schemas.microsoft.com/office/drawing/2014/main" id="{552CF82B-5D77-40B1-8BA8-D2584F177FE5}"/>
              </a:ext>
            </a:extLst>
          </p:cNvPr>
          <p:cNvSpPr>
            <a:spLocks xmlns:a="http://schemas.openxmlformats.org/drawingml/2006/main" noGrp="1"/>
          </p:cNvSpPr>
          <p:nvPr/>
        </p:nvSpPr>
        <p:spPr>
          <a:xfrm xmlns:a="http://schemas.openxmlformats.org/drawingml/2006/main">
            <a:off x="609600" y="52863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buNone/>
              <a:defRPr sz="2250" b="1">
                <a:solidFill>
                  <a:srgbClr val="171717"/>
                </a:solidFill>
                <a:latin typeface="Arial"/>
                <a:ea typeface="Arial"/>
                <a:cs typeface="Arial"/>
              </a:defRPr>
            </a:lvl1pPr>
            <a:lvl2pPr>
              <a:buNone/>
              <a:defRPr sz="2250" b="1">
                <a:solidFill>
                  <a:srgbClr val="171717"/>
                </a:solidFill>
                <a:latin typeface="Arial"/>
                <a:ea typeface="Arial"/>
                <a:cs typeface="Arial"/>
              </a:defRPr>
            </a:lvl2pPr>
            <a:lvl3pPr>
              <a:buNone/>
              <a:defRPr sz="2250" b="1">
                <a:solidFill>
                  <a:srgbClr val="171717"/>
                </a:solidFill>
                <a:latin typeface="Arial"/>
                <a:ea typeface="Arial"/>
                <a:cs typeface="Arial"/>
              </a:defRPr>
            </a:lvl3pPr>
            <a:lvl4pPr>
              <a:buNone/>
              <a:defRPr sz="2250" b="1">
                <a:solidFill>
                  <a:srgbClr val="171717"/>
                </a:solidFill>
                <a:latin typeface="Arial"/>
                <a:ea typeface="Arial"/>
                <a:cs typeface="Arial"/>
              </a:defRPr>
            </a:lvl4pPr>
            <a:lvl5pPr>
              <a:buNone/>
              <a:defRPr sz="2250" b="1">
                <a:solidFill>
                  <a:srgbClr val="171717"/>
                </a:solidFill>
                <a:latin typeface="Arial"/>
                <a:ea typeface="Arial"/>
                <a:cs typeface="Arial"/>
              </a:defRPr>
            </a:lvl5pPr>
            <a:lvl6pPr>
              <a:buNone/>
              <a:defRPr sz="2250" b="1">
                <a:solidFill>
                  <a:srgbClr val="171717"/>
                </a:solidFill>
                <a:latin typeface="Arial"/>
                <a:ea typeface="Arial"/>
                <a:cs typeface="Arial"/>
              </a:defRPr>
            </a:lvl6pPr>
            <a:lvl7pPr>
              <a:buNone/>
              <a:defRPr sz="2250" b="1">
                <a:solidFill>
                  <a:srgbClr val="171717"/>
                </a:solidFill>
                <a:latin typeface="Arial"/>
                <a:ea typeface="Arial"/>
                <a:cs typeface="Arial"/>
              </a:defRPr>
            </a:lvl7pPr>
            <a:lvl8pPr>
              <a:buNone/>
              <a:defRPr sz="2250" b="1">
                <a:solidFill>
                  <a:srgbClr val="171717"/>
                </a:solidFill>
                <a:latin typeface="Arial"/>
                <a:ea typeface="Arial"/>
                <a:cs typeface="Arial"/>
              </a:defRPr>
            </a:lvl8pPr>
            <a:lvl9pPr>
              <a:buNone/>
              <a:defRPr sz="2250" b="1">
                <a:solidFill>
                  <a:srgbClr val="171717"/>
                </a:solidFill>
                <a:latin typeface="Arial"/>
                <a:ea typeface="Arial"/>
                <a:cs typeface="Arial"/>
              </a:defRPr>
            </a:lvl9pPr>
          </a:lstStyle>
          <a:p xmlns:a="http://schemas.openxmlformats.org/drawingml/2006/main">
            <a:pPr>
              <a:buNone/>
              <a:defRPr sz="2250" b="1">
                <a:solidFill>
                  <a:srgbClr val="171717"/>
                </a:solidFill>
                <a:latin typeface="Arial"/>
                <a:ea typeface="Arial"/>
                <a:cs typeface="Arial"/>
              </a:defRPr>
            </a:pPr>
            <a:r>
              <a:rPr sz="2250" b="1">
                <a:solidFill>
                  <a:srgbClr val="171717"/>
                </a:solidFill>
                <a:latin typeface="Arial"/>
                <a:ea typeface="Arial"/>
                <a:cs typeface="Arial"/>
              </a:rPr>
              <a:t>Next: train on some sites and test on different sites.</a:t>
            </a:r>
          </a:p>
        </p:txBody>
      </p:sp>
    </p:spTree>
    <p:extLst>
      <p:ext uri="{BB962C8B-B14F-4D97-AF65-F5344CB8AC3E}">
        <p14:creationId xmlns:p14="http://schemas.microsoft.com/office/powerpoint/2010/main" val="11563964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2026-10-19T18:21:58.7070000Z</dcterms:created>
  <dcterms:modified xsi:type="dcterms:W3CDTF">2026-10-19T18:21:58.7070000Z</dcterms:modified>
</coreProperties>
</file>