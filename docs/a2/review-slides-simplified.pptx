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c700887329475e" /><Relationship Type="http://schemas.openxmlformats.org/officeDocument/2006/relationships/extended-properties" Target="/docProps/app.xml" Id="Ra4993330e3fa401e" /><Relationship Type="http://schemas.openxmlformats.org/officeDocument/2006/relationships/officeDocument" Target="/ppt/presentation.xml" Id="R05b00de24808476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0bd744a3324e14"/>
  </p:sldMasterIdLst>
  <p:notesMasterIdLst>
    <p:notesMasterId xmlns:r="http://schemas.openxmlformats.org/officeDocument/2006/relationships" r:id="Rc40326d9dca1447c"/>
  </p:notesMasterIdLst>
  <p:sldIdLst>
    <p:sldId xmlns:r="http://schemas.openxmlformats.org/officeDocument/2006/relationships" id="256" r:id="R545fa3e787674208"/>
    <p:sldId xmlns:r="http://schemas.openxmlformats.org/officeDocument/2006/relationships" id="257" r:id="R8390f68e1eea427d"/>
    <p:sldId xmlns:r="http://schemas.openxmlformats.org/officeDocument/2006/relationships" id="258" r:id="R369aa28e37244351"/>
    <p:sldId xmlns:r="http://schemas.openxmlformats.org/officeDocument/2006/relationships" id="259" r:id="R3c0e727ef30349a5"/>
    <p:sldId xmlns:r="http://schemas.openxmlformats.org/officeDocument/2006/relationships" id="260" r:id="Ra2433104f4584f8c"/>
    <p:sldId xmlns:r="http://schemas.openxmlformats.org/officeDocument/2006/relationships" id="261" r:id="R88d58e4888a94cc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22a9349b7f4033" /><Relationship Type="http://schemas.openxmlformats.org/officeDocument/2006/relationships/slideMaster" Target="/ppt/slideMasters/slideMaster1.xml" Id="Rc30bd744a3324e14" /><Relationship Type="http://schemas.openxmlformats.org/officeDocument/2006/relationships/notesMaster" Target="/ppt/notesMasters/notesMaster1.xml" Id="Rc40326d9dca1447c" /><Relationship Type="http://schemas.openxmlformats.org/officeDocument/2006/relationships/presProps" Target="/ppt/presProps.xml" Id="Re5f6902e46174d6b" /><Relationship Type="http://schemas.openxmlformats.org/officeDocument/2006/relationships/tableStyles" Target="/ppt/tableStyles.xml" Id="R9212ee889f554cef" /><Relationship Type="http://schemas.openxmlformats.org/officeDocument/2006/relationships/slide" Target="/ppt/slides/slide1.xml" Id="R545fa3e787674208" /><Relationship Type="http://schemas.openxmlformats.org/officeDocument/2006/relationships/slide" Target="/ppt/slides/slide2.xml" Id="R8390f68e1eea427d" /><Relationship Type="http://schemas.openxmlformats.org/officeDocument/2006/relationships/slide" Target="/ppt/slides/slide3.xml" Id="R369aa28e37244351" /><Relationship Type="http://schemas.openxmlformats.org/officeDocument/2006/relationships/slide" Target="/ppt/slides/slide4.xml" Id="R3c0e727ef30349a5" /><Relationship Type="http://schemas.openxmlformats.org/officeDocument/2006/relationships/slide" Target="/ppt/slides/slide5.xml" Id="Ra2433104f4584f8c" /><Relationship Type="http://schemas.openxmlformats.org/officeDocument/2006/relationships/slide" Target="/ppt/slides/slide6.xml" Id="R88d58e4888a94c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694c05649a44e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60eb479b36431a" /><Relationship Type="http://schemas.openxmlformats.org/officeDocument/2006/relationships/notesMaster" Target="/ppt/notesMasters/notesMaster1.xml" Id="R8e171907e4fa46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14aa455dd54916" /><Relationship Type="http://schemas.openxmlformats.org/officeDocument/2006/relationships/notesMaster" Target="/ppt/notesMasters/notesMaster1.xml" Id="R68977872d10c4c6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7519d8e10094b0d" /><Relationship Type="http://schemas.openxmlformats.org/officeDocument/2006/relationships/notesMaster" Target="/ppt/notesMasters/notesMaster1.xml" Id="Re5053b05b9b5483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8935a66f964f5f" /><Relationship Type="http://schemas.openxmlformats.org/officeDocument/2006/relationships/notesMaster" Target="/ppt/notesMasters/notesMaster1.xml" Id="Rfcb749cc37aa46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7fd1dd8f324309" /><Relationship Type="http://schemas.openxmlformats.org/officeDocument/2006/relationships/notesMaster" Target="/ppt/notesMasters/notesMaster1.xml" Id="R56436ea9762f47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3645bb04b064093" /><Relationship Type="http://schemas.openxmlformats.org/officeDocument/2006/relationships/notesMaster" Target="/ppt/notesMasters/notesMaster1.xml" Id="R9312920ddef645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ECOllateral asks how new development could affect an area's water supply and rivers</a:t>
            </a:r>
          </a:p>
          <a:p xmlns:a="http://schemas.openxmlformats.org/drawingml/2006/main">
            <a:r>
              <a:t>through the year. It is for town planners, researchers, and water providers. Our working</a:t>
            </a:r>
          </a:p>
          <a:p xmlns:a="http://schemas.openxmlformats.org/drawingml/2006/main">
            <a:r>
              <a:t>demo estimates cooling water use, checks physical limits, and adds local permit quotes.</a:t>
            </a:r>
          </a:p>
          <a:p xmlns:a="http://schemas.openxmlformats.org/drawingml/2006/main">
            <a:r>
              <a:t>Cooling is one example. We still need area water totals and river needs. The AI learns</a:t>
            </a:r>
          </a:p>
          <a:p xmlns:a="http://schemas.openxmlformats.org/drawingml/2006/main">
            <a:r>
              <a:t>made-up water-use values, so real area tests are still needed.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30 seconds. Source: docs/a2/dossier.md section 1; docs/a2/evidence/forecast.json. Synthetic labels and fictional permits. Public ingestion is a parser smoke test. The current collateral stress field is an on-site consumption proxy. Assigned day is pending.</a:t>
            </a:r>
          </a:p>
          <a:p xmlns:a="http://schemas.openxmlformats.org/drawingml/2006/main">
            <a:r>
              <a:t>Regional framing: ECOllateral is an environmental impact assessment and regional ecosystem forecasting project. Primary question: development demands/cooling/location and seasonal impacts on area municipal reserves and watershed conditions. The cooling model is one pressure component. No regional impact or ecosystem health score is implemented/validated. Source: docs/project-scope.md and user context supplied October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The semantic map shows what each part means and how it connects. Six inputs describe</a:t>
            </a:r>
          </a:p>
          <a:p xmlns:a="http://schemas.openxmlformats.org/drawingml/2006/main">
            <a:r>
              <a:t>size, two temperatures, river flow, drought, and season. AI predicts cooling water use.</a:t>
            </a:r>
          </a:p>
          <a:p xmlns:a="http://schemas.openxmlformats.org/drawingml/2006/main">
            <a:r>
              <a:t>Rules check power and heat limits. The text path turns words into numbers to find local</a:t>
            </a:r>
          </a:p>
          <a:p xmlns:a="http://schemas.openxmlformats.org/drawingml/2006/main">
            <a:r>
              <a:t>permit quotes with sources. All four location tests pass. Forced wrong numbers move</a:t>
            </a:r>
          </a:p>
          <a:p xmlns:a="http://schemas.openxmlformats.org/drawingml/2006/main">
            <a:r>
              <a:t>inside the limits and trigger warnings. A person reviews the permit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30 seconds. Sources: src/models/regression.py, src/rules/thermodynamic.py, src/grounding/store.py, src/grounding/generator.py; docs/a2/evidence E3/E4 JSON. Rules also use capacity and ambient features. Fault injection -1/1e6 MGD clips to 0/0.446484 MGD for 40 MW, 30 C dry, 20 C wet. Four fictional retrieval cases pass. No LLM arithmetic or legal compliance decision.</a:t>
            </a:r>
          </a:p>
          <a:p xmlns:a="http://schemas.openxmlformats.org/drawingml/2006/main">
            <a:r>
              <a:t>This map describes current components. Regional balances, ecological flow needs, cumulative demands/returns, verified boundaries, and regional targets remain planned. Current vectors are sparse TF-IDF, not dense learned embeddings. Groundwater depth is not recharge.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We tested two AI models on the same made-up water-use values. RF means RandomForest.</a:t>
            </a:r>
          </a:p>
          <a:p xmlns:a="http://schemas.openxmlformats.org/drawingml/2006/main">
            <a:r>
              <a:t>Lower bars mean smaller</a:t>
            </a:r>
          </a:p>
          <a:p xmlns:a="http://schemas.openxmlformats.org/drawingml/2006/main">
            <a:r>
              <a:t>errors. XGBoost made smaller errors for both cooling types. Tower error fell from about</a:t>
            </a:r>
          </a:p>
          <a:p xmlns:a="http://schemas.openxmlformats.org/drawingml/2006/main">
            <a:r>
              <a:t>0.00489 to 0.00367 million gallons per day. Direct cooling error fell from 0.00384 to</a:t>
            </a:r>
          </a:p>
          <a:p xmlns:a="http://schemas.openxmlformats.org/drawingml/2006/main">
            <a:r>
              <a:t>0.00319. Each test group has 333 rows. We use the oldest 60 percent of dates to teach</a:t>
            </a:r>
          </a:p>
          <a:p xmlns:a="http://schemas.openxmlformats.org/drawingml/2006/main">
            <a:r>
              <a:t>the model, the next 20 percent to choose it and set its range, and the last 20 percent</a:t>
            </a:r>
          </a:p>
          <a:p xmlns:a="http://schemas.openxmlformats.org/drawingml/2006/main">
            <a:r>
              <a:t>to test it. We keep RandomForest to compare. Dry air cooling uses zero water here.</a:t>
            </a:r>
          </a:p>
          <a:p xmlns:a="http://schemas.openxmlformats.org/drawingml/2006/main">
            <a:r>
              <a:t>Next, we need real water-use and area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Shaun, 45 seconds. Source: docs/a2/evidence/regression-comparison.csv and benchmark.json. 1,600 synthetic rows per type, six years, seed 42. Selected tower R2 .99808, direct .99728. No field generalization claim. Model selection and interval sizing reuse calibration partition.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We removed 10, 25, and 40 percent of drought readings and repeated each test 50 times.</a:t>
            </a:r>
          </a:p>
          <a:p xmlns:a="http://schemas.openxmlformats.org/drawingml/2006/main">
            <a:r>
              <a:t>We filled gaps using a nearby station or a straight line between readings. Lower bars</a:t>
            </a:r>
          </a:p>
          <a:p xmlns:a="http://schemas.openxmlformats.org/drawingml/2006/main">
            <a:r>
              <a:t>mean predictions changed less. All main tests stayed within 0.05 million gallons per</a:t>
            </a:r>
          </a:p>
          <a:p xmlns:a="http://schemas.openxmlformats.org/drawingml/2006/main">
            <a:r>
              <a:t>day of the result with no missing data. Our made-up stations act alike. What if a</a:t>
            </a:r>
          </a:p>
          <a:p xmlns:a="http://schemas.openxmlformats.org/drawingml/2006/main">
            <a:r>
              <a:t>neighbor reads too high? In a separate test, we added 100 million gallons per day to</a:t>
            </a:r>
          </a:p>
          <a:p xmlns:a="http://schemas.openxmlformats.org/drawingml/2006/main">
            <a:r>
              <a:t>neighbor readings. Only 60.3 percent stayed within limits. That test uses a simple</a:t>
            </a:r>
          </a:p>
          <a:p xmlns:a="http://schemas.openxmlformats.org/drawingml/2006/main">
            <a:r>
              <a:t>formula. Next, test bad readings, long gaps, and stations losing data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Troy, 40 seconds. Main data source: missingness-summary.csv. Bar values are exact variance multiplied by 1e8. Random gaps, fixed trained model, seed 42. Biased diagnostic: +100 MGD donors, 40% gaps, 20 repeats, predictor=.01*flow, spatial coverage .603305785, linear .985950413. Not a fitted-model failure rate. Interpolation is retrospective; sensitivity bands are not forecast intervals.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A prediction range gives a low and high estimate. Our goal was to include 90 percent</a:t>
            </a:r>
          </a:p>
          <a:p xmlns:a="http://schemas.openxmlformats.org/drawingml/2006/main">
            <a:r>
              <a:t>of test values. We reached 88.3 percent for towers and 88.0 percent for direct cooling.</a:t>
            </a:r>
          </a:p>
          <a:p xmlns:a="http://schemas.openxmlformats.org/drawingml/2006/main">
            <a:r>
              <a:t>That is below our goal. We have not checked whether the difference is more than chance.</a:t>
            </a:r>
          </a:p>
          <a:p xmlns:a="http://schemas.openxmlformats.org/drawingml/2006/main">
            <a:r>
              <a:t>The fit score, called R-squared, is high, but it cannot promise a useful range.</a:t>
            </a:r>
          </a:p>
          <a:p xmlns:a="http://schemas.openxmlformats.org/drawingml/2006/main">
            <a:r>
              <a:t>We used the same data to choose the model and set its range. Next, use separate data</a:t>
            </a:r>
          </a:p>
          <a:p xmlns:a="http://schemas.openxmlformats.org/drawingml/2006/main">
            <a:r>
              <a:t>for those jobs and test other facilities, dates, and drought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Troy, 35 seconds. Sources: interval-coverage.csv; src/models/regression.py. Tower 294/333, direct 293/333, nominal .9. Selection and radius share calibration set. Chronological dependence complicates exchangeability. These finite samples do not establish statistical significance. R2 is not confidence; air zero target excluded.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Plain-English talk:</a:t>
            </a:r>
          </a:p>
          <a:p xmlns:a="http://schemas.openxmlformats.org/drawingml/2006/main">
            <a:r>
              <a:t>Keep, change, do not use, and wait are our four decisions. We keep XGBoost because its</a:t>
            </a:r>
          </a:p>
          <a:p xmlns:a="http://schemas.openxmlformats.org/drawingml/2006/main">
            <a:r>
              <a:t>errors are smaller, along with the tested limits and location checks. We will improve</a:t>
            </a:r>
          </a:p>
          <a:p xmlns:a="http://schemas.openxmlformats.org/drawingml/2006/main">
            <a:r>
              <a:t>gap filling and prediction ranges because the bad-reading test and the 90 percent goal</a:t>
            </a:r>
          </a:p>
          <a:p xmlns:a="http://schemas.openxmlformats.org/drawingml/2006/main">
            <a:r>
              <a:t>show weaknesses. We must add water coming in, water used and returned, and river needs.</a:t>
            </a:r>
          </a:p>
          <a:p xmlns:a="http://schemas.openxmlformats.org/drawingml/2006/main">
            <a:r>
              <a:t>A cooling-water estimate alone cannot show ecosystem health. A fit score cannot promise</a:t>
            </a:r>
          </a:p>
          <a:p xmlns:a="http://schemas.openxmlformats.org/drawingml/2006/main">
            <a:r>
              <a:t>a correct answer. We also cannot let a language model invent a risk score. We will wait</a:t>
            </a:r>
          </a:p>
          <a:p xmlns:a="http://schemas.openxmlformats.org/drawingml/2006/main">
            <a:r>
              <a:t>for real area measurements before comparing more AI methods. We have not run those</a:t>
            </a:r>
          </a:p>
          <a:p xmlns:a="http://schemas.openxmlformats.org/drawingml/2006/main">
            <a:r>
              <a:t>comparisons yet. Shaun leads coding. Troy supports data and source quotes. Scott supports</a:t>
            </a:r>
          </a:p>
          <a:p xmlns:a="http://schemas.openxmlformats.org/drawingml/2006/main">
            <a:r>
              <a:t>tests and results. Those supporting duties still need confirmation. Our next question:</a:t>
            </a:r>
          </a:p>
          <a:p xmlns:a="http://schemas.openxmlformats.org/drawingml/2006/main">
            <a:r>
              <a:t>can we test effects on water reserves and rivers in a new area through the year?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Extra details for questions:</a:t>
            </a:r>
          </a:p>
          <a:p xmlns:a="http://schemas.openxmlformats.org/drawingml/2006/main">
            <a:r>
              <a:t>Scott, 60 seconds. Source: docs/a2/dossier.md sections 7-8, evidence-summary.csv, team-contributions.md. No neural/LLM comparison run. Shaun majority coding is confirmed; Troy/Scott supporting responsibilities are assigned, not certified completed. Next measured-label study needs facility holdouts, verified station maps, real permit relevance, MAE/RMSE/R2/coverage/width. Course date, deadline, office hours and instructor access remain pending.</a:t>
            </a:r>
          </a:p>
          <a:p xmlns:a="http://schemas.openxmlformats.org/drawingml/2006/main">
            <a:r>
              <a:t>Primary next study: observed regional supply/reserves, demands, returns, ecological baselines and unseen-area tests. Facility holdouts remain a supporting component check. Zero-shot LLM, heatwave validation, EIA/EPA ingestion and historical recharge masking are proposals, not completed benchmarks. Troy supports data/grounding; Scott evaluation/interface/failure evidence; Shaun leads coding.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70dc230e204b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fd006112f946a8" /><Relationship Type="http://schemas.openxmlformats.org/officeDocument/2006/relationships/slideLayout" Target="/ppt/slideLayouts/slideLayout1.xml" Id="R75eba4965b164c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eba4965b164c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8c9298d664b9f" /><Relationship Type="http://schemas.openxmlformats.org/officeDocument/2006/relationships/notesSlide" Target="/ppt/notesSlides/notesSlide1.xml" Id="R15f5f889f6d44a5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2c48f770c41da" /><Relationship Type="http://schemas.openxmlformats.org/officeDocument/2006/relationships/notesSlide" Target="/ppt/notesSlides/notesSlide2.xml" Id="R91b56b6907a248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7f0fe8d1614b1d" /><Relationship Type="http://schemas.openxmlformats.org/officeDocument/2006/relationships/chart" Target="/ppt/slides/charts/chart1.xml" Id="R3745892191e44047" /><Relationship Type="http://schemas.openxmlformats.org/officeDocument/2006/relationships/notesSlide" Target="/ppt/notesSlides/notesSlide3.xml" Id="R629aa4f9028344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6e3a9c910c4c93" /><Relationship Type="http://schemas.openxmlformats.org/officeDocument/2006/relationships/chart" Target="/ppt/slides/charts/chart2.xml" Id="R084d955eb4544d31" /><Relationship Type="http://schemas.openxmlformats.org/officeDocument/2006/relationships/notesSlide" Target="/ppt/notesSlides/notesSlide4.xml" Id="R542daacf29ad458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75634f789f47ed" /><Relationship Type="http://schemas.openxmlformats.org/officeDocument/2006/relationships/chart" Target="/ppt/slides/charts/chart3.xml" Id="R9cbb31f594634d46" /><Relationship Type="http://schemas.openxmlformats.org/officeDocument/2006/relationships/notesSlide" Target="/ppt/notesSlides/notesSlide5.xml" Id="Rfbd292055c604d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a2b5dcec4d437a" /><Relationship Type="http://schemas.openxmlformats.org/officeDocument/2006/relationships/notesSlide" Target="/ppt/notesSlides/notesSlide6.xml" Id="R2107d7c4649d43d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RandomForest</c:v>
          </c:tx>
          <c:spPr>
            <a:solidFill xmlns:a="http://schemas.openxmlformats.org/drawingml/2006/main">
              <a:srgbClr val="D1D5DB"/>
            </a:solidFill>
          </c:spPr>
          <c:cat>
            <c:strRef>
              <c:f>'Chart Data'!$A$2:$A$3</c:f>
              <c:strCache>
                <c:ptCount val="2"/>
                <c:pt idx="0">
                  <c:v>Cooling tower</c:v>
                </c:pt>
                <c:pt idx="1">
                  <c:v>Direct evaporative</c:v>
                </c:pt>
              </c:strCache>
            </c:strRef>
          </c:cat>
          <c:val>
            <c:numRef>
              <c:f>'Chart Data'!$B$2:$B$3</c:f>
              <c:numCache>
                <c:formatCode>0.000</c:formatCode>
                <c:ptCount val="2"/>
                <c:pt idx="0">
                  <c:v>0.00488969303</c:v>
                </c:pt>
                <c:pt idx="1">
                  <c:v>0.00384193269</c:v>
                </c:pt>
              </c:numCache>
            </c:numRef>
          </c:val>
        </c:ser>
        <c:ser>
          <c:idx val="1"/>
          <c:order val="1"/>
          <c:tx>
            <c:v>XGBoost</c:v>
          </c:tx>
          <c:spPr>
            <a:solidFill xmlns:a="http://schemas.openxmlformats.org/drawingml/2006/main">
              <a:srgbClr val="B8ADF3"/>
            </a:solidFill>
          </c:spPr>
          <c:cat>
            <c:strRef>
              <c:f>'Chart Data'!$C$2:$C$3</c:f>
              <c:strCache>
                <c:ptCount val="2"/>
                <c:pt idx="0">
                  <c:v>Cooling tower</c:v>
                </c:pt>
                <c:pt idx="1">
                  <c:v>Direct evaporative</c:v>
                </c:pt>
              </c:strCache>
            </c:strRef>
          </c:cat>
          <c:val>
            <c:numRef>
              <c:f>'Chart Data'!$D$2:$D$3</c:f>
              <c:numCache>
                <c:formatCode>0.000</c:formatCode>
                <c:ptCount val="2"/>
                <c:pt idx="0">
                  <c:v>0.003668214892</c:v>
                </c:pt>
                <c:pt idx="1">
                  <c:v>0.003191320083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Average error (MAE, MGD)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6B728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Nearby station</c:v>
          </c:tx>
          <c:spPr>
            <a:solidFill xmlns:a="http://schemas.openxmlformats.org/drawingml/2006/main">
              <a:srgbClr val="B8ADF3"/>
            </a:solidFill>
          </c:spPr>
          <c:cat>
            <c:strRef>
              <c:f>'Chart Data'!$A$2:$A$4</c:f>
              <c:strCache>
                <c:ptCount val="3"/>
                <c:pt idx="0">
                  <c:v>10% gaps</c:v>
                </c:pt>
                <c:pt idx="1">
                  <c:v>25% gaps</c:v>
                </c:pt>
                <c:pt idx="2">
                  <c:v>40% gaps</c:v>
                </c:pt>
              </c:strCache>
            </c:strRef>
          </c:cat>
          <c:val>
            <c:numRef>
              <c:f>'Chart Data'!$B$2:$B$4</c:f>
              <c:numCache>
                <c:formatCode>0.0</c:formatCode>
                <c:ptCount val="3"/>
                <c:pt idx="0">
                  <c:v>0.3294740911</c:v>
                </c:pt>
                <c:pt idx="1">
                  <c:v>0.6313760632</c:v>
                </c:pt>
                <c:pt idx="2">
                  <c:v>0.9053629338</c:v>
                </c:pt>
              </c:numCache>
            </c:numRef>
          </c:val>
        </c:ser>
        <c:ser>
          <c:idx val="1"/>
          <c:order val="1"/>
          <c:tx>
            <c:v>Straight line</c:v>
          </c:tx>
          <c:spPr>
            <a:solidFill xmlns:a="http://schemas.openxmlformats.org/drawingml/2006/main">
              <a:srgbClr val="D1D5DB"/>
            </a:solidFill>
          </c:spPr>
          <c:cat>
            <c:strRef>
              <c:f>'Chart Data'!$C$2:$C$4</c:f>
              <c:strCache>
                <c:ptCount val="3"/>
                <c:pt idx="0">
                  <c:v>10% gaps</c:v>
                </c:pt>
                <c:pt idx="1">
                  <c:v>25% gaps</c:v>
                </c:pt>
                <c:pt idx="2">
                  <c:v>40% gaps</c:v>
                </c:pt>
              </c:strCache>
            </c:strRef>
          </c:cat>
          <c:val>
            <c:numRef>
              <c:f>'Chart Data'!$D$2:$D$4</c:f>
              <c:numCache>
                <c:formatCode>0.0</c:formatCode>
                <c:ptCount val="3"/>
                <c:pt idx="0">
                  <c:v>0.600125973</c:v>
                </c:pt>
                <c:pt idx="1">
                  <c:v>2.212085729</c:v>
                </c:pt>
                <c:pt idx="2">
                  <c:v>4.092290509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Prediction spread (10^-8 MGD2)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25">
              <a:solidFill>
                <a:srgbClr val="6B7280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Coverage</c:v>
          </c:tx>
          <c:spPr>
            <a:solidFill xmlns:a="http://schemas.openxmlformats.org/drawingml/2006/main">
              <a:srgbClr val="B8ADF3"/>
            </a:solidFill>
          </c:spPr>
          <c:dPt>
            <c:idx val="2"/>
            <c:invertIfNegative val="0"/>
            <c:spPr>
              <a:solidFill xmlns:a="http://schemas.openxmlformats.org/drawingml/2006/main">
                <a:srgbClr val="D1D5DB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Tower XGB</c:v>
                </c:pt>
                <c:pt idx="1">
                  <c:v>Direct XGB</c:v>
                </c:pt>
                <c:pt idx="2">
                  <c:v>Goal</c:v>
                </c:pt>
              </c:strCache>
            </c:strRef>
          </c:cat>
          <c:val>
            <c:numRef>
              <c:f>'Chart Data'!$B$2:$B$4</c:f>
              <c:numCache>
                <c:formatCode>0%</c:formatCode>
                <c:ptCount val="3"/>
                <c:pt idx="0">
                  <c:v>0.8828828829</c:v>
                </c:pt>
                <c:pt idx="1">
                  <c:v>0.8798798799</c:v>
                </c:pt>
                <c:pt idx="2">
                  <c:v>0.9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5E7EB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6B7280"/>
                    </a:solidFill>
                    <a:latin typeface="Arial"/>
                    <a:ea typeface="Arial"/>
                    <a:cs typeface="Arial"/>
                  </a:rPr>
                  <a:t>Test values inside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6B7280"/>
                  </a:solidFill>
                  <a:latin typeface="Arial"/>
                  <a:ea typeface="Arial"/>
                  <a:cs typeface="Arial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9FAFB"/>
        </a:solidFill>
      </c:spPr>
    </c:plotArea>
    <c:plotVisOnly val="1"/>
  </c:chart>
  <c:spPr>
    <a:solidFill xmlns:a="http://schemas.openxmlformats.org/drawingml/2006/main">
      <a:srgbClr val="F9FAFB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5926F0-6E43-4A8D-9B42-CB96E57B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2D7B3-7365-43ED-BC31-EE0F07A7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14288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28E4F8-64DB-4E0D-85EA-D1161F38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362075"/>
            <a:ext cx="10096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350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4350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PROBLEM &amp; USERS:</a:t>
            </a:r>
          </a:p>
          <a:p xmlns:a="http://schemas.openxmlformats.org/drawingml/2006/main">
            <a:pPr>
              <a:defRPr sz="4350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4350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ECOSYSTEMS ACROSS AN AREA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9038A3-1B39-4D8D-88A9-CD7240E6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October 7 test results. Made-up water-use targets. Area impacts still need real-world tests.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CEA40-2B85-4395-906A-C543DBEC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89695-524B-4344-8DA4-22B3EF262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9525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Shaun, Troy, Scott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569346-F43C-484B-9806-56AC43118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1813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How could new development affect an area's water supply and rivers through the year?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F3970-3D92-419F-B65E-0F3E8509E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05765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 R O J E C T  G O A 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257136-DEB8-46AB-80B8-0914AEE7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429125"/>
            <a:ext cx="4143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03F3C-42F0-45FA-8463-6B96C68F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600575"/>
            <a:ext cx="5048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Water available each season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Water used and returned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Town reserves + local rivers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50D52-730F-4321-ABFA-C04F638B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57650"/>
            <a:ext cx="514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 O R K I N G  D E M 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5D7732-E1E7-42B1-94F1-8AA949C3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291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1E9DB1-E81B-47FA-90E6-60A65547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00575"/>
            <a:ext cx="50958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Weather data + cooling-water model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Rules check numbers + permit quotes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Full area assessment still to build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735B82-0085-4D4D-A641-4BAC5D26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867400"/>
            <a:ext cx="10572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Cooling is one example. Users: town planners, researchers, water providers.</a:t>
            </a:r>
          </a:p>
        </p:txBody>
      </p:sp>
    </p:spTree>
    <p:extLst>
      <p:ext uri="{BB962C8B-B14F-4D97-AF65-F5344CB8AC3E}">
        <p14:creationId xmlns:p14="http://schemas.microsoft.com/office/powerpoint/2010/main" val="20780591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A13D807-DB03-4E2F-950A-75C534E93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882A6-75C7-48FC-B60A-01C24C660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858E33-E7F2-4CEC-A4B5-C401DFAC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SEMANTIC MAP: CURRENT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01074-D4F0-4BCA-833C-F2615019B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E3/E4: constraint-failure-cases.json; retrieval-cases.json | Diagram shows current prototype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EBE62B-4B21-4C97-B909-032DA005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53962-7064-43A8-8FA0-6E86E991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10810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Demo request: equipment size, cooling type, watershed code, month. Exact location is optional.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5D6FBC-4C3F-4CEF-B0D8-E809D5829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66098B-0C27-44A1-9223-A050BB32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PUBLIC DATA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5BE962-939F-4E89-9957-DB3A9DF13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88758-8C2C-46FE-B89E-64E99C88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USGS / NOAA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units + dates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11792A-D029-4B54-8682-99634AF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E49C38-A939-45F2-9B9D-BAE4B6C7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6 INPUTS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B94AD-D2BE-4476-B621-7AE91F1AD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7D9962-BB6E-41FF-8A52-DF90DDBCB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size, 2 temperatures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river, drought, season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EC4228-3D33-4B80-AA8B-E8696AED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79C377-13B4-43D4-95D3-FFBF2D68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AI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D03059-0BEC-4852-9633-04D590CEA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F2838-59FC-45E0-A922-16CF1BB3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RF / XGBoost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learn cooling use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8141E5-F1E5-4C73-A002-03869B808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6DF48A-017D-4E51-940F-A0EF796A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RULES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F863E2-CF13-47D5-B8FB-7E2040D6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48106F8-DBA1-422D-8A73-1FD91FD9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power + heat limits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check the number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576209-E315-46E5-BEF2-5C3437D97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09562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212C12-E28F-4DEE-83F0-D09DC0994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0003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284083-0116-48C9-A4C3-F07F307C2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4327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1D2851-C340-418A-8552-1403B5311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46710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 use + range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warnings if needed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296C83-0445-47C0-AA6D-9A8718BD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8A75EDC-6DDD-4250-A1DB-BDB9D933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PERMIT TEXT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0DE860-17E2-480D-9A8B-BA9C8C2B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3C92FB-72C5-4A03-A42A-B6CF37CA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 + section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original words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C9EAF6C-2459-463B-A857-8D84B5187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32CF797-C025-4CE4-BC07-B4C31855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DOC DETAILS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9972D8-FF00-483B-8543-E0BB80F7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6649F8-DBD8-4183-AA70-DB3D8B67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source + section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watershed or distance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8C0332-17C5-4DF7-BAA2-7BFA7143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44C2F16-F337-4BBE-AC1C-7A0239BCB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WORD SEARCH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C64D53B-B445-4351-AB90-1052A0687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804A706-6F52-4CDB-A086-07873FDF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words as numbers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find similar text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05CBF11-6E4E-49EA-8C9E-C85BA13A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3775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440A5E6-D955-49F7-8F26-12640304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LOCATION CHECK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32FCC6-219D-4D1E-A388-9A8E90B96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48F5BDC-B87E-4D5A-AE75-AD3171C6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watershed or distance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keep local matches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A4BCAF6-C137-4B85-ABFE-6B09F228F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524375"/>
            <a:ext cx="1809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2640C9-0B8D-48C1-9261-4EA177775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4291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QUOTES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6FBC0A7-227E-4566-9297-A0166030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72025"/>
            <a:ext cx="180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19D5482-97DB-43F7-84FC-9283D92C8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895850"/>
            <a:ext cx="1809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original words</a:t>
            </a:r>
          </a:p>
          <a:p xmlns:a="http://schemas.openxmlformats.org/drawingml/2006/main">
            <a:pPr>
              <a:defRPr sz="150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with their sources</a:t>
            </a:r>
          </a:p>
        </p:txBody>
      </p:sp>
      <p:cxnSp>
        <p:nvCxnSpPr>
          <p:cNvPr id="104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95550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5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4714875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6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6934200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7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153525" y="360997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8" name=""/>
          <p:cNvCxnSpPr>
            <a:stCxn xmlns:a="http://schemas.openxmlformats.org/drawingml/2006/main" id="27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2495550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09" name=""/>
          <p:cNvCxnSpPr>
            <a:stCxn xmlns:a="http://schemas.openxmlformats.org/drawingml/2006/main" id="31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4714875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0" name=""/>
          <p:cNvCxnSpPr>
            <a:stCxn xmlns:a="http://schemas.openxmlformats.org/drawingml/2006/main" id="35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6934200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1" name=""/>
          <p:cNvCxnSpPr>
            <a:stCxn xmlns:a="http://schemas.openxmlformats.org/drawingml/2006/main" id="39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9153525" y="5038725"/>
            <a:ext cx="409575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cxnSp>
        <p:nvCxnSpPr>
          <p:cNvPr id="112" name=""/>
          <p:cNvCxnSpPr>
            <a:stCxn xmlns:a="http://schemas.openxmlformats.org/drawingml/2006/main" id="43" idx="0"/>
            <a:endCxn xmlns:a="http://schemas.openxmlformats.org/drawingml/2006/main" id="23" idx="2"/>
          </p:cNvCxnSpPr>
          <p:nvPr/>
        </p:nvCxnSpPr>
        <p:spPr>
          <a:xfrm xmlns:a="http://schemas.openxmlformats.org/drawingml/2006/main" flipV="1">
            <a:off x="10467975" y="4124325"/>
            <a:ext cx="0" cy="40005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9CA3AF"/>
            </a:solidFill>
            <a:tailEnd type="arrow" w="sm" len="sm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2C58892-6FFF-441D-A91E-BA6038F16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085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AI estimates water use. Rules check it. Local permit quotes explain the context.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F09786F-386B-49C6-ACDB-BE637F18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5312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E3: forced wrong results stay within 0-0.446484 MGD at 40 MW. E4: all 4 location tests pass.</a:t>
            </a:r>
          </a:p>
        </p:txBody>
      </p:sp>
    </p:spTree>
    <p:extLst>
      <p:ext uri="{BB962C8B-B14F-4D97-AF65-F5344CB8AC3E}">
        <p14:creationId xmlns:p14="http://schemas.microsoft.com/office/powerpoint/2010/main" val="7587129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DD2A06-CEF1-4BCD-81EB-73FDDE05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5947F-6A76-42C6-84E5-5690BCE6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DD799D-E729-4A65-8CE9-6C497618A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E1: COMPARING AI MODELS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84A86-1C14-4209-B4D4-49C08FE1C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E1: regression-comparison.csv. 333 test rows per water-based cooling type. MGD = million US gallons/day.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9031E-21E5-43E7-932E-0097742E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723900" y="2362200"/>
          <a:ext xmlns:a="http://schemas.openxmlformats.org/drawingml/2006/main" cx="6667500" cy="2781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45892191e4404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8F5AED-8F1B-4E3C-AB64-712D448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9825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XGBOOST: LOWER ERROR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845862-E5F7-404F-8271-1F833E2A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8607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160B25-AB40-4CA2-820B-CA7000D58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14675"/>
            <a:ext cx="3333750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Pick using error on</a:t>
            </a:r>
          </a:p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the middle date group.</a:t>
            </a:r>
          </a:p>
          <a:p xmlns:a="http://schemas.openxmlformats.org/drawingml/2006/main">
            <a:pPr>
              <a:defRPr sz="202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Keep RF to compare.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EBBC9B-58C3-4A14-A0C9-43EC89EE6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29150"/>
            <a:ext cx="333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Next: real water use</a:t>
            </a:r>
          </a:p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and area measurements.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0D266-41D3-4A9D-8AFA-861411695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48325"/>
            <a:ext cx="1085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Dates: train 60% / choose + set ranges 20% / test 20%</a:t>
            </a:r>
          </a:p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Dry air cooling uses zero water here. Its R2 fit score cannot be calculated.</a:t>
            </a:r>
          </a:p>
        </p:txBody>
      </p:sp>
    </p:spTree>
    <p:extLst>
      <p:ext uri="{BB962C8B-B14F-4D97-AF65-F5344CB8AC3E}">
        <p14:creationId xmlns:p14="http://schemas.microsoft.com/office/powerpoint/2010/main" val="10109667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7CFA71-841A-4CD0-971D-01846F3A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14480-E71F-44A5-B52D-76C557F1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8E8079-9AB5-4A08-AE24-5004B0A80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E2: MISSING READINGS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49761C-95D0-4EC5-BA73-D5C60C1E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E2: missingness-summary.csv, biased-donor-diagnostic.csv. Main test uses trained AI and made-up river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7ECDAD-29F1-472B-A72A-C474514B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723900" y="2362200"/>
          <a:ext xmlns:a="http://schemas.openxmlformats.org/drawingml/2006/main" cx="6667500" cy="2781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4d955eb4544d3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39EC02-9F59-4905-A00F-721B0D2B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19325"/>
            <a:ext cx="333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63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63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C973D4-225A-4B41-AB65-C4658A1C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90875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3EFFC-C2DF-4B22-9A4B-F042FE76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43275"/>
            <a:ext cx="3333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All main tests passed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412E3-D887-4A08-BE5E-DF94FB1B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90950"/>
            <a:ext cx="333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Change stayed within +/-0.05 MGD</a:t>
            </a:r>
          </a:p>
          <a:p xmlns:a="http://schemas.openxmlformats.org/drawingml/2006/main">
            <a:pPr>
              <a:defRPr sz="16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50 repeats on 121 drought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5A647-C512-4E67-89E4-258B0997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62500"/>
            <a:ext cx="328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97CD5-36E0-4EFF-86A8-65031C5E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333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FAILURE: high readings</a:t>
            </a:r>
          </a:p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only 60.3% within limits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CC845-1D02-456B-99F4-C3234AFF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81675"/>
            <a:ext cx="1085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Next: test bad neighbor readings and stations losing data together. The bad-reading test uses a simple formula.</a:t>
            </a:r>
          </a:p>
        </p:txBody>
      </p:sp>
    </p:spTree>
    <p:extLst>
      <p:ext uri="{BB962C8B-B14F-4D97-AF65-F5344CB8AC3E}">
        <p14:creationId xmlns:p14="http://schemas.microsoft.com/office/powerpoint/2010/main" val="15221909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8A8406-B5B0-4E99-BE6B-F41D4E645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CF7A76-7E81-4146-BCF6-6ABA63EE0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B0A4EA-8112-4FF3-918A-E5D50DEE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EXPERIMENT E5: PREDICTION RANGES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8E243-5C5D-4EBD-B5CB-01DF6F6E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Evidence: E5: interval-coverage.csv, benchmark.json. Made-up test values, 333 per model.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0A5917-C18E-4E09-9B3B-81508F7C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6286500" y="2571750"/>
          <a:ext xmlns:a="http://schemas.openxmlformats.org/drawingml/2006/main" cx="5191125" cy="2809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bb31f594634d4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B09B2F-E2DC-4125-AA08-7AC70576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5334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475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5475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88.3% / 88.0%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D6285-817B-42C6-BF97-AA87B1D98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5048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D9CD4-CA44-4A88-B61E-FEA766C9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433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RELIABILITY ISSUE: below the 90% goal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FB10AE-0128-49F6-9924-EF44CF146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5000625" cy="962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Tower fit score (R2) = 0.998</a:t>
            </a:r>
          </a:p>
          <a:p xmlns:a="http://schemas.openxmlformats.org/drawingml/2006/main">
            <a:pPr>
              <a:defRPr sz="19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A high score cannot promise a useful range.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131FA-7B71-4D0F-8127-BD93E1FC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3792BC-BD10-46ED-A5E6-7EA9F1D28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7687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Improve: use separate data to choose models and set ranges.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F21FA-E284-461D-AD0F-0CA3A3569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85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 small test. We have not checked if the shortfall is more than chance. Real-world range tests are still needed.</a:t>
            </a:r>
          </a:p>
        </p:txBody>
      </p:sp>
    </p:spTree>
    <p:extLst>
      <p:ext uri="{BB962C8B-B14F-4D97-AF65-F5344CB8AC3E}">
        <p14:creationId xmlns:p14="http://schemas.microsoft.com/office/powerpoint/2010/main" val="5753675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9FA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8F82B7-256C-4A58-98EC-A9AC0B2F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E C O L L A T E R A L   /   C S C I  4 1 5 0  A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6CFD77-A83D-4C26-9024-32BEB689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885825"/>
            <a:ext cx="14288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B4E75F-1AA1-41D3-9E39-76A94D738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66775"/>
            <a:ext cx="10525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0">
                <a:solidFill>
                  <a:srgbClr val="111827"/>
                </a:solidFill>
                <a:latin typeface="Georgia"/>
                <a:ea typeface="Georgia"/>
                <a:cs typeface="Georgia"/>
              </a:defRPr>
            </a:pPr>
            <a:r>
              <a:rPr sz="3225" b="0">
                <a:solidFill>
                  <a:srgbClr val="111827"/>
                </a:solidFill>
                <a:latin typeface="Georgia"/>
                <a:ea typeface="Georgia"/>
                <a:cs typeface="Georgia"/>
              </a:rPr>
              <a:t>DECISIONS &amp; NEXT QUESTION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0222B9-5089-4435-8506-29324AF2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24600"/>
            <a:ext cx="10191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Decisions: E1-E5 | Proposed responsibilities: Shaun / Troy / Scott | Presentation day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60180-3243-430D-9C69-E73BE0C50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050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4A96F-8902-4FA0-B878-7FA231B81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KEEP (ADOPT)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664B7B-8BC5-41F4-A7BB-2AD2B8CDE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0E92A-746D-40E8-A08D-D38D933C8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03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E1: lower XGBoost error. E3/E4: checks pass.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Keep the models, limits, and local matches.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45E61-0E93-44B4-8462-17AFBCD0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71825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CHANGE (MODIFY)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6D7F65-CAA7-4EAE-9BA7-FAF7BF58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290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5B523-FD4B-4A54-A64E-4C45BB1A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528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E2: bad neighbor readings. E5: below 90%.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Improve gap filling and ranges. Add area water totals.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351AB9-AE66-4E05-8E50-07D3F2CB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DO NOT USE (REJECT)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16227F-C3C1-416A-9AA4-684848A42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19600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F0F5D-8EE8-48F7-94FA-66F0B4E0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43425"/>
            <a:ext cx="5905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E5: a fit score cannot promise a right answer.</a:t>
            </a:r>
          </a:p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Cooling use alone cannot show ecosystem health.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7A5C0D-F57D-4617-B371-0CC2C386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33975"/>
            <a:ext cx="5762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WAIT (DEFER)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E4E81-F9D4-4963-9FD4-4B5D032A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581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D06CB0-4F80-463D-A4CF-B7A8880B7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590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Need real area data before testing more AI methods.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0F68D8-09FA-442D-AA9B-7AC0B819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0"/>
            <a:ext cx="10763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182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1827"/>
                </a:solidFill>
                <a:latin typeface="Arial"/>
                <a:ea typeface="Arial"/>
                <a:cs typeface="Arial"/>
              </a:rPr>
              <a:t>Can we test effects on water reserves and rivers in a new area through the year?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37BF8E-8305-4C35-9550-FED7DC7A1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124450"/>
            <a:ext cx="34766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Shaun: code + connect area data</a:t>
            </a:r>
          </a:p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Troy: data + source quotes</a:t>
            </a:r>
          </a:p>
          <a:p xmlns:a="http://schemas.openxmlformats.org/drawingml/2006/main">
            <a:pPr>
              <a:defRPr sz="1275" b="0">
                <a:solidFill>
                  <a:srgbClr val="6B728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Scott: tests + results</a:t>
            </a:r>
          </a:p>
        </p:txBody>
      </p:sp>
    </p:spTree>
    <p:extLst>
      <p:ext uri="{BB962C8B-B14F-4D97-AF65-F5344CB8AC3E}">
        <p14:creationId xmlns:p14="http://schemas.microsoft.com/office/powerpoint/2010/main" val="18161380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2026-10-08T16:05:02.1260000Z</dcterms:created>
  <dcterms:modified xsi:type="dcterms:W3CDTF">2026-10-08T16:05:02.1260000Z</dcterms:modified>
</coreProperties>
</file>