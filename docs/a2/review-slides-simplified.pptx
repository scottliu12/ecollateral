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18d05056fe4270" /><Relationship Type="http://schemas.openxmlformats.org/officeDocument/2006/relationships/extended-properties" Target="/docProps/app.xml" Id="R175ed1976f304246" /><Relationship Type="http://schemas.openxmlformats.org/officeDocument/2006/relationships/officeDocument" Target="/ppt/presentation.xml" Id="R36ce0aea1b2d47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e052afee904b91"/>
  </p:sldMasterIdLst>
  <p:notesMasterIdLst>
    <p:notesMasterId xmlns:r="http://schemas.openxmlformats.org/officeDocument/2006/relationships" r:id="R4ef18e7829d54b48"/>
  </p:notesMasterIdLst>
  <p:sldIdLst>
    <p:sldId xmlns:r="http://schemas.openxmlformats.org/officeDocument/2006/relationships" id="256" r:id="R648f395b66224787"/>
    <p:sldId xmlns:r="http://schemas.openxmlformats.org/officeDocument/2006/relationships" id="257" r:id="Reb6c063538274ee6"/>
    <p:sldId xmlns:r="http://schemas.openxmlformats.org/officeDocument/2006/relationships" id="258" r:id="Rc2caa89bd6ae4414"/>
    <p:sldId xmlns:r="http://schemas.openxmlformats.org/officeDocument/2006/relationships" id="259" r:id="Rce11a347c7774683"/>
    <p:sldId xmlns:r="http://schemas.openxmlformats.org/officeDocument/2006/relationships" id="260" r:id="R39587b10b86f420d"/>
    <p:sldId xmlns:r="http://schemas.openxmlformats.org/officeDocument/2006/relationships" id="261" r:id="R7d2e9d4943b44c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fddbc3f932408e" /><Relationship Type="http://schemas.openxmlformats.org/officeDocument/2006/relationships/slideMaster" Target="/ppt/slideMasters/slideMaster1.xml" Id="R75e052afee904b91" /><Relationship Type="http://schemas.openxmlformats.org/officeDocument/2006/relationships/notesMaster" Target="/ppt/notesMasters/notesMaster1.xml" Id="R4ef18e7829d54b48" /><Relationship Type="http://schemas.openxmlformats.org/officeDocument/2006/relationships/presProps" Target="/ppt/presProps.xml" Id="Rbc90015af8964ee1" /><Relationship Type="http://schemas.openxmlformats.org/officeDocument/2006/relationships/tableStyles" Target="/ppt/tableStyles.xml" Id="R2fa6fca31a884a5d" /><Relationship Type="http://schemas.openxmlformats.org/officeDocument/2006/relationships/slide" Target="/ppt/slides/slide1.xml" Id="R648f395b66224787" /><Relationship Type="http://schemas.openxmlformats.org/officeDocument/2006/relationships/slide" Target="/ppt/slides/slide2.xml" Id="Reb6c063538274ee6" /><Relationship Type="http://schemas.openxmlformats.org/officeDocument/2006/relationships/slide" Target="/ppt/slides/slide3.xml" Id="Rc2caa89bd6ae4414" /><Relationship Type="http://schemas.openxmlformats.org/officeDocument/2006/relationships/slide" Target="/ppt/slides/slide4.xml" Id="Rce11a347c7774683" /><Relationship Type="http://schemas.openxmlformats.org/officeDocument/2006/relationships/slide" Target="/ppt/slides/slide5.xml" Id="R39587b10b86f420d" /><Relationship Type="http://schemas.openxmlformats.org/officeDocument/2006/relationships/slide" Target="/ppt/slides/slide6.xml" Id="R7d2e9d4943b44c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cdc33ce76645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COllateral">
  <a:themeElements>
    <a:clrScheme name="ECOllateral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COllater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092e8038d645b5" /><Relationship Type="http://schemas.openxmlformats.org/officeDocument/2006/relationships/notesMaster" Target="/ppt/notesMasters/notesMaster1.xml" Id="R7beac94ad52f45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510ab88d8f4613" /><Relationship Type="http://schemas.openxmlformats.org/officeDocument/2006/relationships/notesMaster" Target="/ppt/notesMasters/notesMaster1.xml" Id="Rd013c7334f9e46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eef36ee15f4dda" /><Relationship Type="http://schemas.openxmlformats.org/officeDocument/2006/relationships/notesMaster" Target="/ppt/notesMasters/notesMaster1.xml" Id="Rd681e6346b334b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e769ecb44d46c9" /><Relationship Type="http://schemas.openxmlformats.org/officeDocument/2006/relationships/notesMaster" Target="/ppt/notesMasters/notesMaster1.xml" Id="R13ca79abee634d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e14d530ca14cb0" /><Relationship Type="http://schemas.openxmlformats.org/officeDocument/2006/relationships/notesMaster" Target="/ppt/notesMasters/notesMaster1.xml" Id="Ra86748355e6f40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5a91a7b6284880" /><Relationship Type="http://schemas.openxmlformats.org/officeDocument/2006/relationships/notesMaster" Target="/ppt/notesMasters/notesMaster1.xml" Id="R413fd388d67d4f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ECOllateral asks how new development could affect an area's water supply and rivers</a:t>
            </a:r>
          </a:p>
          <a:p xmlns:a="http://schemas.openxmlformats.org/drawingml/2006/main">
            <a:r>
              <a:t>through the year. It is for town planners, researchers, and water providers. Our working</a:t>
            </a:r>
          </a:p>
          <a:p xmlns:a="http://schemas.openxmlformats.org/drawingml/2006/main">
            <a:r>
              <a:t>demo estimates cooling water use, checks physical limits, and adds local permit quotes.</a:t>
            </a:r>
          </a:p>
          <a:p xmlns:a="http://schemas.openxmlformats.org/drawingml/2006/main">
            <a:r>
              <a:t>Cooling is one example. Current tests use computer-generated water-use examples to</a:t>
            </a:r>
          </a:p>
          <a:p xmlns:a="http://schemas.openxmlformats.org/drawingml/2006/main">
            <a:r>
              <a:t>check the software. Next, collect real measurements, train on them, and test on records</a:t>
            </a:r>
          </a:p>
          <a:p xmlns:a="http://schemas.openxmlformats.org/drawingml/2006/main">
            <a:r>
              <a:t>the model has not seen. We still need area water totals and river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Shaun, 30 seconds. Source: docs/a2/source/dossier.md section 1; docs/a2/evidence/forecast.json. Synthetic labels and fictional permits. Public ingestion is a parser smoke test. The current collateral stress field is an on-site consumption proxy. Assigned day is pending.</a:t>
            </a:r>
          </a:p>
          <a:p xmlns:a="http://schemas.openxmlformats.org/drawingml/2006/main">
            <a:r>
              <a:t>Regional framing: ECOllateral is an environmental impact assessment and regional ecosystem forecasting project. Primary question: development demands/cooling/location and seasonal impacts on area municipal reserves and watershed conditions. The cooling model is one pressure component. No regional impact or ecosystem health score is implemented/validated. Source: docs/project-scope.md and user context supplied October 8.</a:t>
            </a:r>
          </a:p>
          <a:p xmlns:a="http://schemas.openxmlformats.org/drawingml/2006/main">
            <a:r>
              <a:t>Data plan: generated examples are current software checks. Collect paired measured inputs and outcomes, train on historical observations, and test on real records and areas excluded from training. No measured-target retraining has been completed.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The semantic map shows what each part means and how it connects. Six inputs describe</a:t>
            </a:r>
          </a:p>
          <a:p xmlns:a="http://schemas.openxmlformats.org/drawingml/2006/main">
            <a:r>
              <a:t>size, two temperatures, river flow, drought, and season. AI predicts cooling water use.</a:t>
            </a:r>
          </a:p>
          <a:p xmlns:a="http://schemas.openxmlformats.org/drawingml/2006/main">
            <a:r>
              <a:t>Rules check power and heat limits. The text path turns words into numbers to find local</a:t>
            </a:r>
          </a:p>
          <a:p xmlns:a="http://schemas.openxmlformats.org/drawingml/2006/main">
            <a:r>
              <a:t>permit quotes with sources. All four location tests pass. Forced wrong numbers move</a:t>
            </a:r>
          </a:p>
          <a:p xmlns:a="http://schemas.openxmlformats.org/drawingml/2006/main">
            <a:r>
              <a:t>inside the limits and trigger warnings. A person reviews the permit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Shaun, 30 seconds. Sources: src/models/regression.py, src/rules/thermodynamic.py, src/grounding/store.py, src/grounding/generator.py; docs/a2/evidence E3/E4 JSON. Rules also use capacity and ambient features. Fault injection -1/1e6 MGD clips to 0/0.446484 MGD for 40 MW, 30 C dry, 20 C wet. Four fictional retrieval cases pass. No LLM arithmetic or legal compliance decision.</a:t>
            </a:r>
          </a:p>
          <a:p xmlns:a="http://schemas.openxmlformats.org/drawingml/2006/main">
            <a:r>
              <a:t>This map describes current components. Regional balances, ecological flow needs, cumulative demands/returns, verified boundaries, and regional targets remain planned. Current vectors are sparse TF-IDF, not dense learned embeddings. Groundwater depth is not recharge.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We tested two AI models on the same made-up water-use values. RF means RandomForest.</a:t>
            </a:r>
          </a:p>
          <a:p xmlns:a="http://schemas.openxmlformats.org/drawingml/2006/main">
            <a:r>
              <a:t>Lower bars mean smaller</a:t>
            </a:r>
          </a:p>
          <a:p xmlns:a="http://schemas.openxmlformats.org/drawingml/2006/main">
            <a:r>
              <a:t>errors. XGBoost made smaller errors for both cooling types. Tower error fell from about</a:t>
            </a:r>
          </a:p>
          <a:p xmlns:a="http://schemas.openxmlformats.org/drawingml/2006/main">
            <a:r>
              <a:t>0.00489 to 0.00367 million gallons per day. Direct cooling error fell from 0.00384 to</a:t>
            </a:r>
          </a:p>
          <a:p xmlns:a="http://schemas.openxmlformats.org/drawingml/2006/main">
            <a:r>
              <a:t>0.00319. Each test group has 333 rows. We use the oldest 60 percent of dates to teach</a:t>
            </a:r>
          </a:p>
          <a:p xmlns:a="http://schemas.openxmlformats.org/drawingml/2006/main">
            <a:r>
              <a:t>the model, the next 20 percent to choose it and set its range, and the last 20 percent</a:t>
            </a:r>
          </a:p>
          <a:p xmlns:a="http://schemas.openxmlformats.org/drawingml/2006/main">
            <a:r>
              <a:t>to test it. We keep RandomForest to compare. Dry air cooling uses zero water here.</a:t>
            </a:r>
          </a:p>
          <a:p xmlns:a="http://schemas.openxmlformats.org/drawingml/2006/main">
            <a:r>
              <a:t>Next, train on real water-use measurements and test on separate real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Shaun, 45 seconds. Source: docs/a2/evidence/regression-comparison.csv and benchmark.json. 1,600 synthetic rows per type, six years, seed 42. Selected tower R2 .99808, direct .99728. No field generalization claim. Model selection and interval sizing reuse calibration partition.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We removed 10, 25, and 40 percent of drought readings and repeated each test 50 times.</a:t>
            </a:r>
          </a:p>
          <a:p xmlns:a="http://schemas.openxmlformats.org/drawingml/2006/main">
            <a:r>
              <a:t>We filled gaps using a nearby station or a straight line between readings. Lower bars</a:t>
            </a:r>
          </a:p>
          <a:p xmlns:a="http://schemas.openxmlformats.org/drawingml/2006/main">
            <a:r>
              <a:t>mean predictions changed less. All main tests stayed within 0.05 million gallons per</a:t>
            </a:r>
          </a:p>
          <a:p xmlns:a="http://schemas.openxmlformats.org/drawingml/2006/main">
            <a:r>
              <a:t>day of the result with no missing data. Our made-up stations act alike. What if a</a:t>
            </a:r>
          </a:p>
          <a:p xmlns:a="http://schemas.openxmlformats.org/drawingml/2006/main">
            <a:r>
              <a:t>neighbor reads too high? In a separate test, we added 100 million gallons per day to</a:t>
            </a:r>
          </a:p>
          <a:p xmlns:a="http://schemas.openxmlformats.org/drawingml/2006/main">
            <a:r>
              <a:t>neighbor readings. Only 60.3 percent stayed within limits. That test uses a simple</a:t>
            </a:r>
          </a:p>
          <a:p xmlns:a="http://schemas.openxmlformats.org/drawingml/2006/main">
            <a:r>
              <a:t>formula. Next, test bad readings, long gaps, and stations losing data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Troy, 40 seconds. Main data source: missingness-summary.csv. Bar values are exact variance multiplied by 1e8. Random gaps, fixed trained model, seed 42. Biased diagnostic: +100 MGD donors, 40% gaps, 20 repeats, predictor=.01*flow, spatial coverage .603305785, linear .985950413. Not a fitted-model failure rate. Interpolation is retrospective; sensitivity bands are not forecast intervals.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A prediction range gives a low and high estimate. Our goal was to include 90 percent</a:t>
            </a:r>
          </a:p>
          <a:p xmlns:a="http://schemas.openxmlformats.org/drawingml/2006/main">
            <a:r>
              <a:t>of test values. We reached 88.3 percent for towers and 88.0 percent for direct cooling.</a:t>
            </a:r>
          </a:p>
          <a:p xmlns:a="http://schemas.openxmlformats.org/drawingml/2006/main">
            <a:r>
              <a:t>That is below our goal. We have not checked whether the difference is more than chance.</a:t>
            </a:r>
          </a:p>
          <a:p xmlns:a="http://schemas.openxmlformats.org/drawingml/2006/main">
            <a:r>
              <a:t>The fit score, called R-squared, is high, but it cannot promise a useful range.</a:t>
            </a:r>
          </a:p>
          <a:p xmlns:a="http://schemas.openxmlformats.org/drawingml/2006/main">
            <a:r>
              <a:t>We used the same data to choose the model and set its range. Next, use separate data</a:t>
            </a:r>
          </a:p>
          <a:p xmlns:a="http://schemas.openxmlformats.org/drawingml/2006/main">
            <a:r>
              <a:t>for those jobs and test other facilities, dates, and drought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Troy, 35 seconds. Sources: interval-coverage.csv; src/models/regression.py. Tower 294/333, direct 293/333, nominal .9. Selection and radius share calibration set. Chronological dependence complicates exchangeability. These finite samples do not establish statistical significance. R2 is not confidence; air zero target excluded.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Keep, change, do not use, and wait are our four decisions. We keep XGBoost because its</a:t>
            </a:r>
          </a:p>
          <a:p xmlns:a="http://schemas.openxmlformats.org/drawingml/2006/main">
            <a:r>
              <a:t>errors are smaller, along with the tested limits and location checks. We will improve</a:t>
            </a:r>
          </a:p>
          <a:p xmlns:a="http://schemas.openxmlformats.org/drawingml/2006/main">
            <a:r>
              <a:t>gap filling and prediction ranges because the bad-reading test and the 90 percent goal</a:t>
            </a:r>
          </a:p>
          <a:p xmlns:a="http://schemas.openxmlformats.org/drawingml/2006/main">
            <a:r>
              <a:t>show weaknesses. Next, collect real measurements, train on them, and test new areas.</a:t>
            </a:r>
          </a:p>
          <a:p xmlns:a="http://schemas.openxmlformats.org/drawingml/2006/main">
            <a:r>
              <a:t>We must add water coming in, water used and returned, and river needs.</a:t>
            </a:r>
          </a:p>
          <a:p xmlns:a="http://schemas.openxmlformats.org/drawingml/2006/main">
            <a:r>
              <a:t>A cooling-water estimate alone cannot show ecosystem health. A fit score cannot promise</a:t>
            </a:r>
          </a:p>
          <a:p xmlns:a="http://schemas.openxmlformats.org/drawingml/2006/main">
            <a:r>
              <a:t>a correct answer. We also cannot let a language model invent a risk score. We will wait</a:t>
            </a:r>
          </a:p>
          <a:p xmlns:a="http://schemas.openxmlformats.org/drawingml/2006/main">
            <a:r>
              <a:t>for real area measurements before comparing more AI methods. We have not run those</a:t>
            </a:r>
          </a:p>
          <a:p xmlns:a="http://schemas.openxmlformats.org/drawingml/2006/main">
            <a:r>
              <a:t>comparisons yet. Shaun leads coding. Troy supports data and source quotes. Scott supports</a:t>
            </a:r>
          </a:p>
          <a:p xmlns:a="http://schemas.openxmlformats.org/drawingml/2006/main">
            <a:r>
              <a:t>tests and results. Those supporting duties still need confirmation. Our next question:</a:t>
            </a:r>
          </a:p>
          <a:p xmlns:a="http://schemas.openxmlformats.org/drawingml/2006/main">
            <a:r>
              <a:t>can training on real data predict effects on water reserves and rivers in a new area</a:t>
            </a:r>
          </a:p>
          <a:p xmlns:a="http://schemas.openxmlformats.org/drawingml/2006/main">
            <a:r>
              <a:t>through the year?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Scott, 60 seconds. Source: docs/a2/source/dossier.md sections 7-8, evidence-summary.csv, team-contributions.md. No neural/LLM comparison run. Shaun majority coding is confirmed; Troy/Scott supporting responsibilities are assigned, not certified completed. Next measured-label study needs facility holdouts, verified station maps, real permit relevance, MAE/RMSE/R2/coverage/width. Course date, deadline, office hours and instructor access remain pending.</a:t>
            </a:r>
          </a:p>
          <a:p xmlns:a="http://schemas.openxmlformats.org/drawingml/2006/main">
            <a:r>
              <a:t>Primary next study: observed regional supply/reserves, demands, returns, ecological baselines and unseen-area tests. Facility holdouts remain a supporting component check. Zero-shot LLM, heatwave validation, EIA/EPA ingestion and historical recharge masking are proposals, not completed benchmarks. Troy supports data/grounding; Scott evaluation/interface/failure evidence; Shaun leads coding.</a:t>
            </a:r>
          </a:p>
          <a:p xmlns:a="http://schemas.openxmlformats.org/drawingml/2006/main">
            <a:r>
              <a:t>Real-data training is the next development step, not a completed result. Define area outcomes and river needs before claiming ecosystem forecasts. Keep model selection, interval sizing and final real-data testing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16fa8058cb42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e2f69d84104553" /><Relationship Type="http://schemas.openxmlformats.org/officeDocument/2006/relationships/slideLayout" Target="/ppt/slideLayouts/slideLayout1.xml" Id="R91986dd7aafe44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986dd7aafe44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COllateral">
  <a:themeElements>
    <a:clrScheme name="ECOllateral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COllater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87e619efb4ba1" /><Relationship Type="http://schemas.openxmlformats.org/officeDocument/2006/relationships/notesSlide" Target="/ppt/notesSlides/notesSlide1.xml" Id="R622bd485645444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f0ef7acdce497f" /><Relationship Type="http://schemas.openxmlformats.org/officeDocument/2006/relationships/notesSlide" Target="/ppt/notesSlides/notesSlide2.xml" Id="Ra2ba85f80b2b40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051182fdb48a1" /><Relationship Type="http://schemas.openxmlformats.org/officeDocument/2006/relationships/chart" Target="/ppt/slides/charts/chart1.xml" Id="R4d59c7667ec2488b" /><Relationship Type="http://schemas.openxmlformats.org/officeDocument/2006/relationships/notesSlide" Target="/ppt/notesSlides/notesSlide3.xml" Id="R6b419477b2144d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0ff677a81423e" /><Relationship Type="http://schemas.openxmlformats.org/officeDocument/2006/relationships/chart" Target="/ppt/slides/charts/chart2.xml" Id="R0812704257764b22" /><Relationship Type="http://schemas.openxmlformats.org/officeDocument/2006/relationships/notesSlide" Target="/ppt/notesSlides/notesSlide4.xml" Id="Rd44dda759dd649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86e82aa044a4e" /><Relationship Type="http://schemas.openxmlformats.org/officeDocument/2006/relationships/chart" Target="/ppt/slides/charts/chart3.xml" Id="R86980e3acb5b4595" /><Relationship Type="http://schemas.openxmlformats.org/officeDocument/2006/relationships/notesSlide" Target="/ppt/notesSlides/notesSlide5.xml" Id="Radd3d4bde4a844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6651e41c84d7a" /><Relationship Type="http://schemas.openxmlformats.org/officeDocument/2006/relationships/notesSlide" Target="/ppt/notesSlides/notesSlide6.xml" Id="R32354ade60d449a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RandomForest</c:v>
          </c:tx>
          <c:spPr>
            <a:solidFill xmlns:a="http://schemas.openxmlformats.org/drawingml/2006/main">
              <a:srgbClr val="D1D5DB"/>
            </a:solidFill>
          </c:spPr>
          <c:cat>
            <c:strRef>
              <c:f>'Chart Data'!$A$2:$A$3</c:f>
              <c:strCache>
                <c:ptCount val="2"/>
                <c:pt idx="0">
                  <c:v>Cooling tower</c:v>
                </c:pt>
                <c:pt idx="1">
                  <c:v>Direct evaporative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0.00488969303</c:v>
                </c:pt>
                <c:pt idx="1">
                  <c:v>0.00384193269</c:v>
                </c:pt>
              </c:numCache>
            </c:numRef>
          </c:val>
        </c:ser>
        <c:ser>
          <c:idx val="1"/>
          <c:order val="1"/>
          <c:tx>
            <c:v>XGBoost</c:v>
          </c:tx>
          <c:spPr>
            <a:solidFill xmlns:a="http://schemas.openxmlformats.org/drawingml/2006/main">
              <a:srgbClr val="B8ADF3"/>
            </a:solidFill>
          </c:spPr>
          <c:cat>
            <c:strRef>
              <c:f>'Chart Data'!$C$2:$C$3</c:f>
              <c:strCache>
                <c:ptCount val="2"/>
                <c:pt idx="0">
                  <c:v>Cooling tower</c:v>
                </c:pt>
                <c:pt idx="1">
                  <c:v>Direct evaporative</c:v>
                </c:pt>
              </c:strCache>
            </c:strRef>
          </c:cat>
          <c:val>
            <c:numRef>
              <c:f>'Chart Data'!$D$2:$D$3</c:f>
              <c:numCache>
                <c:formatCode>0.000</c:formatCode>
                <c:ptCount val="2"/>
                <c:pt idx="0">
                  <c:v>0.003668214892</c:v>
                </c:pt>
                <c:pt idx="1">
                  <c:v>0.003191320083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0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6B7280"/>
                    </a:solidFill>
                    <a:latin typeface="Arial"/>
                    <a:ea typeface="Arial"/>
                    <a:cs typeface="Arial"/>
                  </a:rPr>
                  <a:t>Average error (MAE, MGD)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6B7280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9FAF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6B7280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9FAFB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Nearby station</c:v>
          </c:tx>
          <c:spPr>
            <a:solidFill xmlns:a="http://schemas.openxmlformats.org/drawingml/2006/main">
              <a:srgbClr val="B8ADF3"/>
            </a:solidFill>
          </c:spPr>
          <c:cat>
            <c:strRef>
              <c:f>'Chart Data'!$A$2:$A$4</c:f>
              <c:strCache>
                <c:ptCount val="3"/>
                <c:pt idx="0">
                  <c:v>10% gaps</c:v>
                </c:pt>
                <c:pt idx="1">
                  <c:v>25% gaps</c:v>
                </c:pt>
                <c:pt idx="2">
                  <c:v>40% gaps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0.3294740911</c:v>
                </c:pt>
                <c:pt idx="1">
                  <c:v>0.6313760632</c:v>
                </c:pt>
                <c:pt idx="2">
                  <c:v>0.9053629338</c:v>
                </c:pt>
              </c:numCache>
            </c:numRef>
          </c:val>
        </c:ser>
        <c:ser>
          <c:idx val="1"/>
          <c:order val="1"/>
          <c:tx>
            <c:v>Straight line</c:v>
          </c:tx>
          <c:spPr>
            <a:solidFill xmlns:a="http://schemas.openxmlformats.org/drawingml/2006/main">
              <a:srgbClr val="D1D5DB"/>
            </a:solidFill>
          </c:spPr>
          <c:cat>
            <c:strRef>
              <c:f>'Chart Data'!$C$2:$C$4</c:f>
              <c:strCache>
                <c:ptCount val="3"/>
                <c:pt idx="0">
                  <c:v>10% gaps</c:v>
                </c:pt>
                <c:pt idx="1">
                  <c:v>25% gaps</c:v>
                </c:pt>
                <c:pt idx="2">
                  <c:v>40% gaps</c:v>
                </c:pt>
              </c:strCache>
            </c:str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0.600125973</c:v>
                </c:pt>
                <c:pt idx="1">
                  <c:v>2.212085729</c:v>
                </c:pt>
                <c:pt idx="2">
                  <c:v>4.092290509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6B7280"/>
                    </a:solidFill>
                    <a:latin typeface="Arial"/>
                    <a:ea typeface="Arial"/>
                    <a:cs typeface="Arial"/>
                  </a:rPr>
                  <a:t>Prediction spread (10^-8 MGD2)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6B7280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9FAF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6B7280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9FAFB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Coverage</c:v>
          </c:tx>
          <c:spPr>
            <a:solidFill xmlns:a="http://schemas.openxmlformats.org/drawingml/2006/main">
              <a:srgbClr val="B8ADF3"/>
            </a:solidFill>
          </c:spPr>
          <c:dPt>
            <c:idx val="2"/>
            <c:invertIfNegative val="0"/>
            <c:spPr>
              <a:solidFill xmlns:a="http://schemas.openxmlformats.org/drawingml/2006/main">
                <a:srgbClr val="D1D5DB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Tower XGB</c:v>
                </c:pt>
                <c:pt idx="1">
                  <c:v>Direct XGB</c:v>
                </c:pt>
                <c:pt idx="2">
                  <c:v>Goal</c:v>
                </c:pt>
              </c:strCache>
            </c:strRef>
          </c:cat>
          <c:val>
            <c:numRef>
              <c:f>'Chart Data'!$B$2:$B$4</c:f>
              <c:numCache>
                <c:formatCode>0%</c:formatCode>
                <c:ptCount val="3"/>
                <c:pt idx="0">
                  <c:v>0.8828828829</c:v>
                </c:pt>
                <c:pt idx="1">
                  <c:v>0.8798798799</c:v>
                </c:pt>
                <c:pt idx="2">
                  <c:v>0.9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6B7280"/>
                    </a:solidFill>
                    <a:latin typeface="Arial"/>
                    <a:ea typeface="Arial"/>
                    <a:cs typeface="Arial"/>
                  </a:rPr>
                  <a:t>Test values inside range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6B7280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9FAFB"/>
        </a:solidFill>
      </c:spPr>
    </c:plotArea>
    <c:plotVisOnly val="1"/>
  </c:chart>
  <c:spPr>
    <a:solidFill xmlns:a="http://schemas.openxmlformats.org/drawingml/2006/main">
      <a:srgbClr val="F9FAFB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6DBD1-C1C1-4778-A500-74D7B6B5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A956B-9858-45B7-B911-2C4E49B7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14288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6B17B5-1825-4EF3-BB0E-C1919E61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362075"/>
            <a:ext cx="10096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350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4350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PROBLEM &amp; USERS:</a:t>
            </a:r>
          </a:p>
          <a:p xmlns:a="http://schemas.openxmlformats.org/drawingml/2006/main">
            <a:pPr>
              <a:defRPr sz="4350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4350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ECOSYSTEMS ACROSS AN AREA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1C7964-98D2-4FF4-816A-C9992DBB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Current tests use generated values. Next: train and test on real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E40C1-4603-4AFA-802F-5C0091E3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33D5-FA2E-4382-BE9E-24324A59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952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Shaun, Troy, Scott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61CC4A-D9A6-4979-8A02-788657C8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813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How could new development affect an area's water supply and rivers through the year?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432F47-803A-4516-B075-24CA9DB7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576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P R O J E C T  G O A 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5FF779-983C-49B7-A1AD-A8CB5E8B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29125"/>
            <a:ext cx="4143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8D8BE0-AF0E-4273-B270-1EDD8DE5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00575"/>
            <a:ext cx="5048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Water available each season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Water used and returned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Town reserves + local rivers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B5A434-D04D-4752-8DB1-AA4087EC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57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 O R K I N G  D E M 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3E1B86-FB17-4961-9A70-A1C38D63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291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07A55-DCF3-46CC-9ACD-0AA94576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00575"/>
            <a:ext cx="50958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Weather data + cooling-water model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Rules check numbers + permit quotes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Full area assessment still to build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C6CAF-2F27-4C53-8A4A-FBA42666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867400"/>
            <a:ext cx="10572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Cooling is one example. Users: town planners, researchers, water providers.</a:t>
            </a:r>
          </a:p>
        </p:txBody>
      </p:sp>
    </p:spTree>
    <p:extLst>
      <p:ext uri="{BB962C8B-B14F-4D97-AF65-F5344CB8AC3E}">
        <p14:creationId xmlns:p14="http://schemas.microsoft.com/office/powerpoint/2010/main" val="12507055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62119A8-B72A-4186-94CD-0A6360C5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40B40-C3FC-4000-AA80-51523A64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0F60B3-6A08-4771-BAB8-A2FBEE80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SEMANTIC MAP: CURRENT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DB5DC-9D76-4944-AEC3-355BF0D4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Evidence: E3/E4: constraint-failure-cases.json; retrieval-cases.json | Diagram shows current prototype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AE7D6-2D0A-4DB0-A0BC-9FE54A8D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4D1E8-8EF7-48B8-B4E9-DAB9D30A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Demo request: equipment size, cooling type, watershed code, month. Exact location is optional.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A85536-93EB-42A6-BBE0-962F225B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67B23-644A-4EA1-AD96-AAD10653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PUBLIC 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0EFB7-5B41-4684-A70D-A688E5E7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D38FE9-432B-4206-A8C6-8421283F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USGS / NOAA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units + dates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4FC85-E45A-4583-A475-4192D185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73D936-356C-4BD1-B61E-22F9B8F9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6 INPUTS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47CEC8-A9C6-4FC3-9941-A51A4037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5D5B4B-87A6-4F0B-B61B-B0221AF2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size, 2 temperatures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river, drought, season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52B214-B302-49BA-ADBC-6A18114B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633805-53FC-4315-B47D-C2AD0539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AI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DBDD7B-AB99-4D45-98E3-E36F1132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282E7F-B4C8-43DA-B757-52C74FAE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RF / XGBoost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learn cooling 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A7D4D8-D2D0-401F-B355-69C6D0A9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1960FF-1ACD-48DA-8DC6-FC3991B3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RULES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51C37A-996D-4A33-8E38-E6764120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DCB0F9-67F5-4380-ADAD-EDCAE878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power + heat limits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check the number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961F66-54F5-4836-8962-4D0B83C6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BD8417-4C2E-4308-BE38-FAE6898C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5E8ADE-314F-41C5-8035-CA0E9221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92F0BD-37B1-4AF7-99D4-917E46BE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water use + range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warnings if needed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9C82E1-F8EB-430C-A331-AAA5088F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A66588-B9DF-4AAE-A4E2-53D2127A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PERMIT TEXT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CBE930-8318-4F75-8A37-11F845DB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EB660F-8567-4523-B63F-7A41E0EC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source + section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original words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2C9165-871B-454B-B4CD-05C9E9C0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FDE02B-3E94-4372-B966-6B87394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DOC DETAILS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163A8E-E904-4A3F-9A22-6E0292CA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7780C1-B646-442D-A5CD-36153A63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source + section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watershed or distance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F5E057-5CEF-4427-8365-D1E01BE1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D858C2-0FC7-4415-888D-753A1051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WORD SEARCH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0F5CED-0497-4450-8C1B-BA77A935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6D1030-010D-48CD-B37A-FA4719AD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words as numbers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find similar text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C15D18-081E-46D4-907D-4C2D0C3E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915395-13FA-40B3-85D8-5052EBE3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LOCATION CHECK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BA170E-A62A-4432-A3E1-CB94DF9A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098A97-241F-4EAD-B652-AD0128D8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watershed or distance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keep local matches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4C230E-1D61-41E4-B8C4-4136C7B1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0D64BE-5627-4576-AE74-71E14231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QUOTES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DEB19DB-F92E-45EA-9C56-776B40D6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3EE52F-030B-42E3-9A71-01CFB781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original words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with their sources</a:t>
            </a:r>
          </a:p>
        </p:txBody>
      </p:sp>
      <p:cxnSp>
        <p:nvCxnSpPr>
          <p:cNvPr id="10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495550" y="36099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714875" y="36099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6934200" y="36099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7" name=""/>
          <p:cNvCxnSpPr>
            <a:stCxn xmlns:a="http://schemas.openxmlformats.org/drawingml/2006/main" id="1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153525" y="36099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8" name=""/>
          <p:cNvCxnSpPr>
            <a:stCxn xmlns:a="http://schemas.openxmlformats.org/drawingml/2006/main" id="27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2495550" y="5038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9" name=""/>
          <p:cNvCxnSpPr>
            <a:stCxn xmlns:a="http://schemas.openxmlformats.org/drawingml/2006/main" id="31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4714875" y="5038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10" name=""/>
          <p:cNvCxnSpPr>
            <a:stCxn xmlns:a="http://schemas.openxmlformats.org/drawingml/2006/main" id="35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6934200" y="5038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11" name=""/>
          <p:cNvCxnSpPr>
            <a:stCxn xmlns:a="http://schemas.openxmlformats.org/drawingml/2006/main" id="39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9153525" y="5038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12" name=""/>
          <p:cNvCxnSpPr>
            <a:stCxn xmlns:a="http://schemas.openxmlformats.org/drawingml/2006/main" id="43" idx="0"/>
            <a:endCxn xmlns:a="http://schemas.openxmlformats.org/drawingml/2006/main" id="23" idx="2"/>
          </p:cNvCxnSpPr>
          <p:nvPr/>
        </p:nvCxnSpPr>
        <p:spPr>
          <a:xfrm xmlns:a="http://schemas.openxmlformats.org/drawingml/2006/main" flipV="1">
            <a:off x="10467975" y="4124325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D40F6D8-E96A-44A5-91AD-7FAE131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The AI estimates water use. Rules check it. Local permit quotes explain the context.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3D3F89C-63C9-410D-ACA3-82A1661E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E3: forced wrong results stay within 0-0.446484 MGD at 40 MW. E4: all 4 location tests pass.</a:t>
            </a:r>
          </a:p>
        </p:txBody>
      </p:sp>
    </p:spTree>
    <p:extLst>
      <p:ext uri="{BB962C8B-B14F-4D97-AF65-F5344CB8AC3E}">
        <p14:creationId xmlns:p14="http://schemas.microsoft.com/office/powerpoint/2010/main" val="2118607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214116-CAD7-4531-AC7F-C0D4B8B1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5DD42C-0D49-4570-BC64-1FA96F23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95C882-D52A-4374-92D5-0A87C6B1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EXPERIMENT E1: COMPARING AI MODELS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5CEDD-D5B7-4B24-A86B-96A75E25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Evidence: E1: regression-comparison.csv. 333 test rows per water-based cooling type. MGD = million US gallons/day.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665E81-C7BE-4ADB-89E5-59F0F508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723900" y="2362200"/>
          <a:ext xmlns:a="http://schemas.openxmlformats.org/drawingml/2006/main" cx="6667500" cy="2781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59c7667ec2488b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4CC316-A3FF-46A7-AB50-26C29960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98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XGBOOST: LOWER ERROR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693ADE-6017-45B6-8DD1-AC13231D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8607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07E750-3CB6-452A-B354-E27B7BF5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14675"/>
            <a:ext cx="3333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Pick using error on</a:t>
            </a:r>
          </a:p>
          <a:p xmlns:a="http://schemas.openxmlformats.org/drawingml/2006/main">
            <a:pPr>
              <a:defRPr sz="20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the middle date group.</a:t>
            </a:r>
          </a:p>
          <a:p xmlns:a="http://schemas.openxmlformats.org/drawingml/2006/main">
            <a:pPr>
              <a:defRPr sz="20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Keep RF to compare.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9187B-9131-4346-84AD-E7DC14A9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29150"/>
            <a:ext cx="333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Next: train and test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on real measurements.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DC3C26-DF6C-44A9-9752-903C15D8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48325"/>
            <a:ext cx="1085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Dates: train 60% / choose + set ranges 20% / test 20%</a:t>
            </a:r>
          </a:p>
          <a:p xmlns:a="http://schemas.openxmlformats.org/drawingml/2006/main">
            <a:pPr>
              <a:defRPr sz="15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Dry air cooling uses zero water here. Its R2 fit score cannot be calculated.</a:t>
            </a:r>
          </a:p>
        </p:txBody>
      </p:sp>
    </p:spTree>
    <p:extLst>
      <p:ext uri="{BB962C8B-B14F-4D97-AF65-F5344CB8AC3E}">
        <p14:creationId xmlns:p14="http://schemas.microsoft.com/office/powerpoint/2010/main" val="8033904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5AE39-60C5-474B-B2C5-09BCF9C8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7CE41-8959-4A25-A264-A5A272A0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93080-5E95-418F-B5A2-6F2E464F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EXPERIMENT E2: MISSING READINGS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B99B1-B338-434A-AE7E-DF6D5EFC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Evidence: E2: missingness-summary.csv, biased-donor-diagnostic.csv. Main test uses trained AI and made-up river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D5CF2-33EC-4EA4-975C-59A08824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723900" y="2362200"/>
          <a:ext xmlns:a="http://schemas.openxmlformats.org/drawingml/2006/main" cx="6667500" cy="2781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12704257764b22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B172E5-EEA0-4F03-8A83-CBD7E9C6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19325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63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63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A402B1-276C-4F6C-9E76-B8D8F6F2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9087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69A18-76A6-4B5E-8BD7-0974253F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43275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All main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DEC269-C72C-4E1D-8172-544EBEF5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90950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Change stayed within +/-0.05 MGD</a:t>
            </a:r>
          </a:p>
          <a:p xmlns:a="http://schemas.openxmlformats.org/drawingml/2006/main">
            <a:pPr>
              <a:defRPr sz="16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50 repeats on 121 drought days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E6BDC-DFA0-489C-B0E2-AB3D83CB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62500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B8AC20-C4A3-4E8D-B6F8-C99555FF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333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FAILURE: high readings</a:t>
            </a:r>
          </a:p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only 60.3% within limits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20375-D43C-40EF-8D7E-9A2484DC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81675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Next: test bad neighbor readings and stations losing data together. The bad-reading test uses a simple formula.</a:t>
            </a:r>
          </a:p>
        </p:txBody>
      </p:sp>
    </p:spTree>
    <p:extLst>
      <p:ext uri="{BB962C8B-B14F-4D97-AF65-F5344CB8AC3E}">
        <p14:creationId xmlns:p14="http://schemas.microsoft.com/office/powerpoint/2010/main" val="9444636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5D0633-D6BC-4440-BC8B-8FD00AC5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EB80B1-F67F-4910-A4F5-F02BCAA2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22B19F-80B1-4AC6-9586-96EC20D6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EXPERIMENT E5: PREDICTION RANGES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9C7438-8D29-44CC-826B-39CBB714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Evidence: E5: interval-coverage.csv, benchmark.json. Made-up test values, 333 per model.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9281B-B9F7-4F81-BC7D-FFF40132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6286500" y="2571750"/>
          <a:ext xmlns:a="http://schemas.openxmlformats.org/drawingml/2006/main" cx="5191125" cy="2809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980e3acb5b459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2CC7F2-BA2D-4345-B8D8-F28CCC11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5334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4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54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88.3% / 88.0%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D0B1AE-377E-4113-A71A-D16BCDD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504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EDFE7-B4E3-4F70-988E-CB5D40A5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433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RELIABILITY ISSUE: below the 90% goal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E69FB-D66E-4CE1-A24C-489D3879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5000625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Tower fit score (R2) = 0.998</a:t>
            </a:r>
          </a:p>
          <a:p xmlns:a="http://schemas.openxmlformats.org/drawingml/2006/main">
            <a:pPr>
              <a:defRPr sz="19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 high score cannot promise a useful range.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35A8D7-8EBB-4546-BBFC-82078655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863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4CBE9-CC95-4A60-9523-83DBF2E1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76875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Improve: use separate data to choose models and set ranges.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2F4223-7BEE-4C03-A3BC-36AF790E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0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A small test. We have not checked if the shortfall is more than chance. Real-world range tests are still needed.</a:t>
            </a:r>
          </a:p>
        </p:txBody>
      </p:sp>
    </p:spTree>
    <p:extLst>
      <p:ext uri="{BB962C8B-B14F-4D97-AF65-F5344CB8AC3E}">
        <p14:creationId xmlns:p14="http://schemas.microsoft.com/office/powerpoint/2010/main" val="4805176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491690-CD99-4E93-8AA5-58721828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8FA838-42FC-4DC7-ACB0-801DCEDF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5CAF1-B543-4C29-BB1B-8E763DBF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DECISIONS &amp; NEXT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0FC07-3D63-4DB8-BFFF-4FA7DD23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Decisions: E1-E5 | Proposed responsibilities: Shaun / Troy / Scott | Presentation day pending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F58E0-928F-4C73-A151-02928F7F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C3646E-16EF-4866-B05B-9E4A6CAF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5762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KEEP (ADOPT)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C32E0-28DD-47D8-BB48-50B0AADB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A724F-92A3-417C-BFCD-3582E7BC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0325"/>
            <a:ext cx="5905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E1: lower XGBoost error. E3/E4: checks pass.</a:t>
            </a:r>
          </a:p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Keep the models, limits, and local matches.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4917E-7FA4-4E2A-B909-2EFAFF49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71825"/>
            <a:ext cx="5762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CHANGE (MODIFY)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8E5075-7000-4DE7-8F14-B70A6AD3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A0B658-FFFB-4A2D-A0A9-0D7BE4E6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52825"/>
            <a:ext cx="5905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E2: bad neighbor readings. E5: below 90%.</a:t>
            </a:r>
          </a:p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Train on real data. Improve gaps/ranges + area totals.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BD46F-390E-465C-BD6D-39CF876B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5762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DO NOT USE (REJECT)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AD2320-088A-463D-A23F-8B883B81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744239-8E84-4299-94CC-5BD9D469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5905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E5: a fit score cannot promise a right answer.</a:t>
            </a:r>
          </a:p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Cooling use alone cannot show ecosystem health.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02D93B-C78B-4F98-AA30-74F4F30B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33975"/>
            <a:ext cx="5762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WAIT (DEFER)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1F9102-BE3F-42CC-BCE8-4606F61C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F84A38-ECC3-4421-99D6-9539FE39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05450"/>
            <a:ext cx="590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Need real area data before testing more AI methods.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A7238C-9BF3-4D9F-8150-1F5CD431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0"/>
            <a:ext cx="1076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Can training on real data predict effects on water reserves and rivers in a new area?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22CEE3-DED0-4FB1-BF88-C8E54F8D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124450"/>
            <a:ext cx="3476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Shaun: code + connect area data</a:t>
            </a:r>
          </a:p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Troy: data + source quotes</a:t>
            </a:r>
          </a:p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Scott: tests + results</a:t>
            </a:r>
          </a:p>
        </p:txBody>
      </p:sp>
    </p:spTree>
    <p:extLst>
      <p:ext uri="{BB962C8B-B14F-4D97-AF65-F5344CB8AC3E}">
        <p14:creationId xmlns:p14="http://schemas.microsoft.com/office/powerpoint/2010/main" val="1220705751"/>
      </p:ext>
    </p:extLst>
  </p:cSld>
</p:sld>
</file>

<file path=ppt/theme/theme1.xml><?xml version="1.0" encoding="utf-8"?>
<a:theme xmlns:a="http://schemas.openxmlformats.org/drawingml/2006/main" name="ECOllateral">
  <a:themeElements>
    <a:clrScheme name="ECOllateral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COllater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/>
  <ap:PresentationFormat>On-screen Show (16:9)</ap:PresentationFormat>
  <ap:Slides>6</ap:Slides>
  <ap:Notes>6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ECOllateral team</dc:creator>
  <lastModifiedBy/>
  <dc:title>ECOllateral A2 Review</dc:title>
  <dcterms:created xsi:type="dcterms:W3CDTF">2026-10-08T17:15:26.7470000Z</dcterms:created>
  <dcterms:modified xsi:type="dcterms:W3CDTF">2026-10-08T17:15:26.7470000Z</dcterms:modified>
</coreProperties>
</file>