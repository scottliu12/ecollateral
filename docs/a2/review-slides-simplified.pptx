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051651ebe84bee" /><Relationship Type="http://schemas.openxmlformats.org/officeDocument/2006/relationships/extended-properties" Target="/docProps/app.xml" Id="R83dd20591a504a40" /><Relationship Type="http://schemas.openxmlformats.org/officeDocument/2006/relationships/officeDocument" Target="/ppt/presentation.xml" Id="R91cd8f72fdc641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528cfcf73a40b8"/>
  </p:sldMasterIdLst>
  <p:notesMasterIdLst>
    <p:notesMasterId xmlns:r="http://schemas.openxmlformats.org/officeDocument/2006/relationships" r:id="R24d7d8cb816b433d"/>
  </p:notesMasterIdLst>
  <p:sldIdLst>
    <p:sldId xmlns:r="http://schemas.openxmlformats.org/officeDocument/2006/relationships" id="256" r:id="R6bc55408797c463b"/>
    <p:sldId xmlns:r="http://schemas.openxmlformats.org/officeDocument/2006/relationships" id="257" r:id="R22817f439c504fb3"/>
    <p:sldId xmlns:r="http://schemas.openxmlformats.org/officeDocument/2006/relationships" id="258" r:id="Rbb963250fa2d4db9"/>
    <p:sldId xmlns:r="http://schemas.openxmlformats.org/officeDocument/2006/relationships" id="259" r:id="R96fa558fc9834767"/>
    <p:sldId xmlns:r="http://schemas.openxmlformats.org/officeDocument/2006/relationships" id="260" r:id="R7312682a2dd948aa"/>
    <p:sldId xmlns:r="http://schemas.openxmlformats.org/officeDocument/2006/relationships" id="261" r:id="Rfa21efe4ce9e46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0228b1f05d4a05" /><Relationship Type="http://schemas.openxmlformats.org/officeDocument/2006/relationships/slideMaster" Target="/ppt/slideMasters/slideMaster1.xml" Id="Rce528cfcf73a40b8" /><Relationship Type="http://schemas.openxmlformats.org/officeDocument/2006/relationships/notesMaster" Target="/ppt/notesMasters/notesMaster1.xml" Id="R24d7d8cb816b433d" /><Relationship Type="http://schemas.openxmlformats.org/officeDocument/2006/relationships/presProps" Target="/ppt/presProps.xml" Id="R7cc62026c43b4fde" /><Relationship Type="http://schemas.openxmlformats.org/officeDocument/2006/relationships/tableStyles" Target="/ppt/tableStyles.xml" Id="R0b65cfb0155c46d9" /><Relationship Type="http://schemas.openxmlformats.org/officeDocument/2006/relationships/slide" Target="/ppt/slides/slide1.xml" Id="R6bc55408797c463b" /><Relationship Type="http://schemas.openxmlformats.org/officeDocument/2006/relationships/slide" Target="/ppt/slides/slide2.xml" Id="R22817f439c504fb3" /><Relationship Type="http://schemas.openxmlformats.org/officeDocument/2006/relationships/slide" Target="/ppt/slides/slide3.xml" Id="Rbb963250fa2d4db9" /><Relationship Type="http://schemas.openxmlformats.org/officeDocument/2006/relationships/slide" Target="/ppt/slides/slide4.xml" Id="R96fa558fc9834767" /><Relationship Type="http://schemas.openxmlformats.org/officeDocument/2006/relationships/slide" Target="/ppt/slides/slide5.xml" Id="R7312682a2dd948aa" /><Relationship Type="http://schemas.openxmlformats.org/officeDocument/2006/relationships/slide" Target="/ppt/slides/slide6.xml" Id="Rfa21efe4ce9e46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1440a400fa41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ECOllateral">
  <a:themeElements>
    <a:clrScheme name="ECOllateral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COllater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6b13a48fe7492c" /><Relationship Type="http://schemas.openxmlformats.org/officeDocument/2006/relationships/notesMaster" Target="/ppt/notesMasters/notesMaster1.xml" Id="Ra1a3fe71f01642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ae7c6a831d49bb" /><Relationship Type="http://schemas.openxmlformats.org/officeDocument/2006/relationships/notesMaster" Target="/ppt/notesMasters/notesMaster1.xml" Id="R7a341a9cfe2c41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1106556daa41a7" /><Relationship Type="http://schemas.openxmlformats.org/officeDocument/2006/relationships/notesMaster" Target="/ppt/notesMasters/notesMaster1.xml" Id="R3cc61ab630de41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e3e9854f14455c" /><Relationship Type="http://schemas.openxmlformats.org/officeDocument/2006/relationships/notesMaster" Target="/ppt/notesMasters/notesMaster1.xml" Id="R4e1dbe86546343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75e4c537774585" /><Relationship Type="http://schemas.openxmlformats.org/officeDocument/2006/relationships/notesMaster" Target="/ppt/notesMasters/notesMaster1.xml" Id="R8fabce96d4cb43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49c89384f949df" /><Relationship Type="http://schemas.openxmlformats.org/officeDocument/2006/relationships/notesMaster" Target="/ppt/notesMasters/notesMaster1.xml" Id="Rc36cb362fc6043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Shaun, 30 seconds.</a:t>
            </a:r>
          </a:p>
          <a:p xmlns:a="http://schemas.openxmlformats.org/drawingml/2006/main">
            <a:r>
              <a:t>Regional goal: seasonal water reserves and watershed conditions for planners, researchers, and utilities. The current component estimates daily on-site cooling consumption. Regional supply, demands, returns, and ecological baselines remain planned.</a:t>
            </a:r>
          </a:p>
          <a:p xmlns:a="http://schemas.openxmlformats.org/drawingml/2006/main">
            <a:r>
              <a:t>Data: synthetic facility targets and fictional permits. The observed two-day download tests parsing and units.</a:t>
            </a:r>
          </a:p>
          <a:p xmlns:a="http://schemas.openxmlformats.org/drawingml/2006/main">
            <a:r>
              <a:t>Sources: README.md; docs/a2/source/dossier.md, Problem and current scope; docs/a2/evidence/forecast.json.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Shaun, 30 seconds.</a:t>
            </a:r>
          </a:p>
          <a:p xmlns:a="http://schemas.openxmlformats.org/drawingml/2006/main">
            <a:r>
              <a:t>Six inputs: IT MW, dry/wet-bulb temperatures, streamflow, PDSI, season. Separate tree models predict consumption; physical rules bound it. TF-IDF word vectors and FAISS rank permit text; HUC or coordinate-radius eligibility precedes top-k selection.</a:t>
            </a:r>
          </a:p>
          <a:p xmlns:a="http://schemas.openxmlformats.org/drawingml/2006/main">
            <a:r>
              <a:t>E3: injected -1 and 1,000,000 MGD outputs clip to 0 and 0.446484 MGD at 40 MW, 30/20 C. E4: four fictional location cases pass. Quotations retain sources; the summary does not interpret permit caps.</a:t>
            </a:r>
          </a:p>
          <a:p xmlns:a="http://schemas.openxmlformats.org/drawingml/2006/main">
            <a:r>
              <a:t>Sources: src/models/regression.py; src/rules/thermodynamic.py; src/grounding/store.py; docs/a2/evidence/constraint-failure-cases.json; retrieval-cases.json.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Shaun, 45 seconds.</a:t>
            </a:r>
          </a:p>
          <a:p xmlns:a="http://schemas.openxmlformats.org/drawingml/2006/main">
            <a:r>
              <a:t>1,600 synthetic rows per cooling type across six years, seed 42. Whole dates stay together: oldest 60% train, next 20% select by calibration RMSE and size intervals, newest 20% test (333 rows per type). Imputation fits training rows only.</a:t>
            </a:r>
          </a:p>
          <a:p xmlns:a="http://schemas.openxmlformats.org/drawingml/2006/main">
            <a:r>
              <a:t>Bounded test MAE, RF/XGB: tower 0.004890/0.003668 MGD; direct 0.003842/0.003191. Selected R2: 0.99808/0.99728. Dry cooling has a zero target and undefined R2.</a:t>
            </a:r>
          </a:p>
          <a:p xmlns:a="http://schemas.openxmlformats.org/drawingml/2006/main">
            <a:r>
              <a:t>Sources: docs/a2/evidence/regression-comparison.csv; benchmark.json.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Troy, 40 seconds.</a:t>
            </a:r>
          </a:p>
          <a:p xmlns:a="http://schemas.openxmlformats.org/drawingml/2006/main">
            <a:r>
              <a:t>365 synthetic dates, 121 drought dates (PDSI &lt;= -2). Mask 10%, 25%, 40% with identical masks for both filling methods, 50 repeats, seed 42. Chart variance is multiplied by 1e8. All main drought changes and central 90% bands stay within +/-0.05 MGD.</a:t>
            </a:r>
          </a:p>
          <a:p xmlns:a="http://schemas.openxmlformats.org/drawingml/2006/main">
            <a:r>
              <a:t>Separate diagnostic: donors +100 MGD, 40% gaps, 20 repeats, predictor=0.01*flow. Coverage: spatial 60.33%, linear 98.60%. Both fail the all-date band criterion. This diagnostic uses a separate formula. Linear filling uses later readings. Groundwater reconstruction stays in meters.</a:t>
            </a:r>
          </a:p>
          <a:p xmlns:a="http://schemas.openxmlformats.org/drawingml/2006/main">
            <a:r>
              <a:t>Sources: docs/a2/evidence/missingness-summary.csv; biased-donor-diagnostic.csv; groundwater-reconstruction.csv.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Troy, 35 seconds.</a:t>
            </a:r>
          </a:p>
          <a:p xmlns:a="http://schemas.openxmlformats.org/drawingml/2006/main">
            <a:r>
              <a:t>Nominal coverage 90%. Tower: 294/333 (88.29%); direct: 293/333 (87.99%). Dry cooling has zero-width intervals with 100% coverage and is excluded from this chart.</a:t>
            </a:r>
          </a:p>
          <a:p xmlns:a="http://schemas.openxmlformats.org/drawingml/2006/main">
            <a:r>
              <a:t>Absolute bounded calibration residuals set the finite-sample quantile. Selection and interval sizing reuse the same partition. Temporal dependence also limits coverage claims. No significance test was run. Next: separate selection/calibration data and check coverage and width on measured data by facility, time, and drought.</a:t>
            </a:r>
          </a:p>
          <a:p xmlns:a="http://schemas.openxmlformats.org/drawingml/2006/main">
            <a:r>
              <a:t>Sources: docs/a2/evidence/interval-coverage.csv; benchmark.json; src/models/regression.py.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Scott, 60 seconds.</a:t>
            </a:r>
          </a:p>
          <a:p xmlns:a="http://schemas.openxmlformats.org/drawingml/2006/main">
            <a:r>
              <a:t>Adopt models and safeguards (E1, E3, E4). Modify gap and range tests (E2, E5). Reject R2-as-confidence and regional health claims from cooling consumption alone. Defer neural/LLM comparisons pending measured data.</a:t>
            </a:r>
          </a:p>
          <a:p xmlns:a="http://schemas.openxmlformats.org/drawingml/2006/main">
            <a:r>
              <a:t>Next study: measured regional supply/reserves, demand, returns, ecological baselines, and unseen-area tests. Facility holdouts support the cooling component. Recharge, heatwave, dense-embedding, and zero-shot LLM studies remain planned.</a:t>
            </a:r>
          </a:p>
          <a:p xmlns:a="http://schemas.openxmlformats.org/drawingml/2006/main">
            <a:r>
              <a:t>Shaun leads coding. Troy's data/grounding and Scott's evaluation/slides roles are assigned; completed contributions are unconfirmed.</a:t>
            </a:r>
          </a:p>
          <a:p xmlns:a="http://schemas.openxmlformats.org/drawingml/2006/main">
            <a:r>
              <a:t>Sources: docs/a2/evidence-summary.csv; source/dossier.md; team-contributions.md. Course status: source/project-checkoff.md.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020abace5c47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fde07c6a2b4da0" /><Relationship Type="http://schemas.openxmlformats.org/officeDocument/2006/relationships/slideLayout" Target="/ppt/slideLayouts/slideLayout1.xml" Id="Rd5fe453850044d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fe453850044d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ECOllateral">
  <a:themeElements>
    <a:clrScheme name="ECOllateral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COllater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81068dd6946fc" /><Relationship Type="http://schemas.openxmlformats.org/officeDocument/2006/relationships/notesSlide" Target="/ppt/notesSlides/notesSlide1.xml" Id="Rf72fa2f3da274c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e919f6b7d43e8" /><Relationship Type="http://schemas.openxmlformats.org/officeDocument/2006/relationships/notesSlide" Target="/ppt/notesSlides/notesSlide2.xml" Id="Rffe0cace180543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4d2571bfe4d12" /><Relationship Type="http://schemas.openxmlformats.org/officeDocument/2006/relationships/chart" Target="/ppt/slides/charts/chart1.xml" Id="R1589d25e5bf343c8" /><Relationship Type="http://schemas.openxmlformats.org/officeDocument/2006/relationships/notesSlide" Target="/ppt/notesSlides/notesSlide3.xml" Id="R3890f334157c4c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52644ad1e422a" /><Relationship Type="http://schemas.openxmlformats.org/officeDocument/2006/relationships/chart" Target="/ppt/slides/charts/chart2.xml" Id="R44baba174ff54eb7" /><Relationship Type="http://schemas.openxmlformats.org/officeDocument/2006/relationships/notesSlide" Target="/ppt/notesSlides/notesSlide4.xml" Id="R0355b4bae3fd4e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80c59627a490a" /><Relationship Type="http://schemas.openxmlformats.org/officeDocument/2006/relationships/chart" Target="/ppt/slides/charts/chart3.xml" Id="R1fc3405d976a4174" /><Relationship Type="http://schemas.openxmlformats.org/officeDocument/2006/relationships/notesSlide" Target="/ppt/notesSlides/notesSlide5.xml" Id="Raa88fb7c141647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7df64ae994e93" /><Relationship Type="http://schemas.openxmlformats.org/officeDocument/2006/relationships/notesSlide" Target="/ppt/notesSlides/notesSlide6.xml" Id="R5274ac84ef904bd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RandomForest</c:v>
          </c:tx>
          <c:spPr>
            <a:solidFill xmlns:a="http://schemas.openxmlformats.org/drawingml/2006/main">
              <a:srgbClr val="D1D5DB"/>
            </a:solidFill>
          </c:spPr>
          <c:cat>
            <c:strRef>
              <c:f>'Chart Data'!$A$2:$A$3</c:f>
              <c:strCache>
                <c:ptCount val="2"/>
                <c:pt idx="0">
                  <c:v>Cooling tower</c:v>
                </c:pt>
                <c:pt idx="1">
                  <c:v>Direct evaporative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0.00488969303</c:v>
                </c:pt>
                <c:pt idx="1">
                  <c:v>0.00384193269</c:v>
                </c:pt>
              </c:numCache>
            </c:numRef>
          </c:val>
        </c:ser>
        <c:ser>
          <c:idx val="1"/>
          <c:order val="1"/>
          <c:tx>
            <c:v>XGBoost</c:v>
          </c:tx>
          <c:spPr>
            <a:solidFill xmlns:a="http://schemas.openxmlformats.org/drawingml/2006/main">
              <a:srgbClr val="B8ADF3"/>
            </a:solidFill>
          </c:spPr>
          <c:cat>
            <c:strRef>
              <c:f>'Chart Data'!$C$2:$C$3</c:f>
              <c:strCache>
                <c:ptCount val="2"/>
                <c:pt idx="0">
                  <c:v>Cooling tower</c:v>
                </c:pt>
                <c:pt idx="1">
                  <c:v>Direct evaporative</c:v>
                </c:pt>
              </c:strCache>
            </c:strRef>
          </c:cat>
          <c:val>
            <c:numRef>
              <c:f>'Chart Data'!$D$2:$D$3</c:f>
              <c:numCache>
                <c:formatCode>0.000</c:formatCode>
                <c:ptCount val="2"/>
                <c:pt idx="0">
                  <c:v>0.003668214892</c:v>
                </c:pt>
                <c:pt idx="1">
                  <c:v>0.003191320083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00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6B7280"/>
                    </a:solidFill>
                    <a:latin typeface="Arial"/>
                    <a:ea typeface="Arial"/>
                    <a:cs typeface="Arial"/>
                  </a:rPr>
                  <a:t>Average error (MAE, MGD)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6B7280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9FAFB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6B7280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9FAFB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Nearby station</c:v>
          </c:tx>
          <c:spPr>
            <a:solidFill xmlns:a="http://schemas.openxmlformats.org/drawingml/2006/main">
              <a:srgbClr val="B8ADF3"/>
            </a:solidFill>
          </c:spPr>
          <c:cat>
            <c:strRef>
              <c:f>'Chart Data'!$A$2:$A$4</c:f>
              <c:strCache>
                <c:ptCount val="3"/>
                <c:pt idx="0">
                  <c:v>10% gaps</c:v>
                </c:pt>
                <c:pt idx="1">
                  <c:v>25% gaps</c:v>
                </c:pt>
                <c:pt idx="2">
                  <c:v>40% gaps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0.3294740911</c:v>
                </c:pt>
                <c:pt idx="1">
                  <c:v>0.6313760632</c:v>
                </c:pt>
                <c:pt idx="2">
                  <c:v>0.9053629338</c:v>
                </c:pt>
              </c:numCache>
            </c:numRef>
          </c:val>
        </c:ser>
        <c:ser>
          <c:idx val="1"/>
          <c:order val="1"/>
          <c:tx>
            <c:v>Straight line</c:v>
          </c:tx>
          <c:spPr>
            <a:solidFill xmlns:a="http://schemas.openxmlformats.org/drawingml/2006/main">
              <a:srgbClr val="D1D5DB"/>
            </a:solidFill>
          </c:spPr>
          <c:cat>
            <c:strRef>
              <c:f>'Chart Data'!$C$2:$C$4</c:f>
              <c:strCache>
                <c:ptCount val="3"/>
                <c:pt idx="0">
                  <c:v>10% gaps</c:v>
                </c:pt>
                <c:pt idx="1">
                  <c:v>25% gaps</c:v>
                </c:pt>
                <c:pt idx="2">
                  <c:v>40% gaps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0.600125973</c:v>
                </c:pt>
                <c:pt idx="1">
                  <c:v>2.212085729</c:v>
                </c:pt>
                <c:pt idx="2">
                  <c:v>4.092290509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6B7280"/>
                    </a:solidFill>
                    <a:latin typeface="Arial"/>
                    <a:ea typeface="Arial"/>
                    <a:cs typeface="Arial"/>
                  </a:rPr>
                  <a:t>Prediction spread (10^-8 MGD2)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6B7280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9FAFB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6B7280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9FAFB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Coverage</c:v>
          </c:tx>
          <c:spPr>
            <a:solidFill xmlns:a="http://schemas.openxmlformats.org/drawingml/2006/main">
              <a:srgbClr val="B8ADF3"/>
            </a:solidFill>
          </c:spPr>
          <c:dPt>
            <c:idx val="2"/>
            <c:invertIfNegative val="0"/>
            <c:spPr>
              <a:solidFill xmlns:a="http://schemas.openxmlformats.org/drawingml/2006/main">
                <a:srgbClr val="D1D5DB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Tower XGB</c:v>
                </c:pt>
                <c:pt idx="1">
                  <c:v>Direct XGB</c:v>
                </c:pt>
                <c:pt idx="2">
                  <c:v>Goal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0.8828828829</c:v>
                </c:pt>
                <c:pt idx="1">
                  <c:v>0.8798798799</c:v>
                </c:pt>
                <c:pt idx="2">
                  <c:v>0.9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6B7280"/>
                    </a:solidFill>
                    <a:latin typeface="Arial"/>
                    <a:ea typeface="Arial"/>
                    <a:cs typeface="Arial"/>
                  </a:rPr>
                  <a:t>Test values inside range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6B7280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9FAFB"/>
        </a:solidFill>
      </c:spPr>
    </c:plotArea>
    <c:plotVisOnly val="1"/>
  </c:chart>
  <c:spPr>
    <a:solidFill xmlns:a="http://schemas.openxmlformats.org/drawingml/2006/main">
      <a:srgbClr val="F9FAFB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06DBD1-C1C1-4778-A500-74D7B6B5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ECOllateral / CSCI 4150 A2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A956B-9858-45B7-B911-2C4E49B7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4288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B17B5-1825-4EF3-BB0E-C1919E61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62075"/>
            <a:ext cx="1009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latin typeface="Arial"/>
                <a:ea typeface="Arial"/>
                <a:cs typeface="Arial"/>
              </a:defRPr>
            </a:defPPr>
            <a:lvl1pPr>
              <a:defRPr sz="3150" b="1">
                <a:latin typeface="Arial"/>
                <a:ea typeface="Arial"/>
                <a:cs typeface="Arial"/>
              </a:defRPr>
            </a:lvl1pPr>
            <a:lvl2pPr>
              <a:defRPr sz="3150" b="1">
                <a:latin typeface="Arial"/>
                <a:ea typeface="Arial"/>
                <a:cs typeface="Arial"/>
              </a:defRPr>
            </a:lvl2pPr>
            <a:lvl3pPr>
              <a:defRPr sz="3150" b="1">
                <a:latin typeface="Arial"/>
                <a:ea typeface="Arial"/>
                <a:cs typeface="Arial"/>
              </a:defRPr>
            </a:lvl3pPr>
            <a:lvl4pPr>
              <a:defRPr sz="3150" b="1">
                <a:latin typeface="Arial"/>
                <a:ea typeface="Arial"/>
                <a:cs typeface="Arial"/>
              </a:defRPr>
            </a:lvl4pPr>
            <a:lvl5pPr>
              <a:defRPr sz="3150" b="1">
                <a:latin typeface="Arial"/>
                <a:ea typeface="Arial"/>
                <a:cs typeface="Arial"/>
              </a:defRPr>
            </a:lvl5pPr>
            <a:lvl6pPr>
              <a:defRPr sz="3150" b="1">
                <a:latin typeface="Arial"/>
                <a:ea typeface="Arial"/>
                <a:cs typeface="Arial"/>
              </a:defRPr>
            </a:lvl6pPr>
            <a:lvl7pPr>
              <a:defRPr sz="3150" b="1">
                <a:latin typeface="Arial"/>
                <a:ea typeface="Arial"/>
                <a:cs typeface="Arial"/>
              </a:defRPr>
            </a:lvl7pPr>
            <a:lvl8pPr>
              <a:defRPr sz="3150" b="1">
                <a:latin typeface="Arial"/>
                <a:ea typeface="Arial"/>
                <a:cs typeface="Arial"/>
              </a:defRPr>
            </a:lvl8pPr>
            <a:lvl9pPr>
              <a:defRPr sz="3150" b="1"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Development and regional water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C7964-98D2-4FF4-816A-C9992DBB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2460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Current tests use generated values. Next: train and test on real measurements.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E40C1-4603-4AFA-802F-5C0091E3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B33D5-FA2E-4382-BE9E-24324A59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525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Shaun, Troy, Scott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1CC4A-D9A6-4979-8A02-788657C8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813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How could new development affect an area's water supply and rivers through the year?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32F47-803A-4516-B075-24CA9DB7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576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Project goal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FF779-983C-49B7-A1AD-A8CB5E8B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29125"/>
            <a:ext cx="4143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D8BE0-AF0E-4273-B270-1EDD8DE5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00575"/>
            <a:ext cx="5048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Water available each season</a:t>
            </a:r>
          </a:p>
          <a:p xmlns:a="http://schemas.openxmlformats.org/drawingml/2006/main">
            <a:pPr>
              <a:buNone/>
              <a:defRPr sz="18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Water used and returned</a:t>
            </a:r>
          </a:p>
          <a:p xmlns:a="http://schemas.openxmlformats.org/drawingml/2006/main">
            <a:pPr>
              <a:buNone/>
              <a:defRPr sz="18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Town reserves + local rivers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5A434-D04D-4752-8DB1-AA4087EC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576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Working 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3E1B86-FB17-4961-9A70-A1C38D63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707A55-DCF3-46CC-9ACD-0AA94576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00575"/>
            <a:ext cx="5095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Weather data + cooling-water model</a:t>
            </a:r>
          </a:p>
          <a:p xmlns:a="http://schemas.openxmlformats.org/drawingml/2006/main">
            <a:pPr>
              <a:buNone/>
              <a:defRPr sz="18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Rules check numbers + permit quotes</a:t>
            </a:r>
          </a:p>
          <a:p xmlns:a="http://schemas.openxmlformats.org/drawingml/2006/main">
            <a:pPr>
              <a:buNone/>
              <a:defRPr sz="18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area assessment still to build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AC6CAF-2F27-4C53-8A4A-FBA42666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674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Cooling is one example. Users: town planners, researchers, water providers.</a:t>
            </a:r>
          </a:p>
        </p:txBody>
      </p:sp>
    </p:spTree>
    <p:extLst>
      <p:ext uri="{BB962C8B-B14F-4D97-AF65-F5344CB8AC3E}">
        <p14:creationId xmlns:p14="http://schemas.microsoft.com/office/powerpoint/2010/main" val="12507055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62119A8-B72A-4186-94CD-0A6360C5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ECOllateral / CSCI 4150 A2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40B40-C3FC-4000-AA80-51523A64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85825"/>
            <a:ext cx="14288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F60B3-6A08-4771-BAB8-A2FBEE80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66775"/>
            <a:ext cx="10525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latin typeface="Arial"/>
                <a:ea typeface="Arial"/>
                <a:cs typeface="Arial"/>
              </a:defRPr>
            </a:defPPr>
            <a:lvl1pPr>
              <a:defRPr sz="3150" b="1">
                <a:latin typeface="Arial"/>
                <a:ea typeface="Arial"/>
                <a:cs typeface="Arial"/>
              </a:defRPr>
            </a:lvl1pPr>
            <a:lvl2pPr>
              <a:defRPr sz="3150" b="1">
                <a:latin typeface="Arial"/>
                <a:ea typeface="Arial"/>
                <a:cs typeface="Arial"/>
              </a:defRPr>
            </a:lvl2pPr>
            <a:lvl3pPr>
              <a:defRPr sz="3150" b="1">
                <a:latin typeface="Arial"/>
                <a:ea typeface="Arial"/>
                <a:cs typeface="Arial"/>
              </a:defRPr>
            </a:lvl3pPr>
            <a:lvl4pPr>
              <a:defRPr sz="3150" b="1">
                <a:latin typeface="Arial"/>
                <a:ea typeface="Arial"/>
                <a:cs typeface="Arial"/>
              </a:defRPr>
            </a:lvl4pPr>
            <a:lvl5pPr>
              <a:defRPr sz="3150" b="1">
                <a:latin typeface="Arial"/>
                <a:ea typeface="Arial"/>
                <a:cs typeface="Arial"/>
              </a:defRPr>
            </a:lvl5pPr>
            <a:lvl6pPr>
              <a:defRPr sz="3150" b="1">
                <a:latin typeface="Arial"/>
                <a:ea typeface="Arial"/>
                <a:cs typeface="Arial"/>
              </a:defRPr>
            </a:lvl6pPr>
            <a:lvl7pPr>
              <a:defRPr sz="3150" b="1">
                <a:latin typeface="Arial"/>
                <a:ea typeface="Arial"/>
                <a:cs typeface="Arial"/>
              </a:defRPr>
            </a:lvl7pPr>
            <a:lvl8pPr>
              <a:defRPr sz="3150" b="1">
                <a:latin typeface="Arial"/>
                <a:ea typeface="Arial"/>
                <a:cs typeface="Arial"/>
              </a:defRPr>
            </a:lvl8pPr>
            <a:lvl9pPr>
              <a:defRPr sz="3150" b="1"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Current system: semantic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DB5DC-9D76-4944-AEC3-355BF0D4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2460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Evidence: E3/E4: constraint-failure-cases.json; retrieval-cases.json | Diagram shows current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3AE7D6-2D0A-4DB0-A0BC-9FE54A8D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4D1E8-8EF7-48B8-B4E9-DAB9D30A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Demo request: equipment size, cooling type, watershed code, month. Exact location is optional.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85536-93EB-42A6-BBE0-962F225B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809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67B23-644A-4EA1-AD96-AAD10653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PUBLIC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0EFB7-5B41-4684-A70D-A688E5E7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38FE9-432B-4206-A8C6-8421283F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USGS / NOAA</a:t>
            </a:r>
          </a:p>
          <a:p xmlns:a="http://schemas.openxmlformats.org/drawingml/2006/main">
            <a:pPr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units + dates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14FC85-E45A-4583-A475-4192D185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95625"/>
            <a:ext cx="1809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73D936-356C-4BD1-B61E-22F9B8F9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0003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6 INPUTS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7CEC8-A9C6-4FC3-9941-A51A4037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34327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5D5B4B-87A6-4F0B-B61B-B0221AF2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4671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size, 2 temperatures</a:t>
            </a:r>
          </a:p>
          <a:p xmlns:a="http://schemas.openxmlformats.org/drawingml/2006/main">
            <a:pPr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river, drought, season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52B214-B302-49BA-ADBC-6A18114B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95625"/>
            <a:ext cx="1809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633805-53FC-4315-B47D-C2AD0539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003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AI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DBDD7B-AB99-4D45-98E3-E36F1132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4327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282E7F-B4C8-43DA-B757-52C74FAE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671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RF / XGBoost</a:t>
            </a:r>
          </a:p>
          <a:p xmlns:a="http://schemas.openxmlformats.org/drawingml/2006/main">
            <a:pPr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learn cooling use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A7D4D8-D2D0-401F-B355-69C6D0A9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095625"/>
            <a:ext cx="1809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1960FF-1ACD-48DA-8DC6-FC3991B3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0003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RULES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51C37A-996D-4A33-8E38-E6764120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34327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DCB0F9-67F5-4380-ADAD-EDCAE878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4671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power + heat limits</a:t>
            </a:r>
          </a:p>
          <a:p xmlns:a="http://schemas.openxmlformats.org/drawingml/2006/main">
            <a:pPr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check the number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961F66-54F5-4836-8962-4D0B83C6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95625"/>
            <a:ext cx="1809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BD8417-4C2E-4308-BE38-FAE6898C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003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5E8ADE-314F-41C5-8035-CA0E9221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4327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92F0BD-37B1-4AF7-99D4-917E46BE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671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water use + range</a:t>
            </a:r>
          </a:p>
          <a:p xmlns:a="http://schemas.openxmlformats.org/drawingml/2006/main">
            <a:pPr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warnings if needed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9C82E1-F8EB-430C-A331-AAA5088F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809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A66588-B9DF-4AAE-A4E2-53D2127A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PERMIT TEXT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CBE930-8318-4F75-8A37-11F845DB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EB660F-8567-4523-B63F-7A41E0EC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source + section</a:t>
            </a:r>
          </a:p>
          <a:p xmlns:a="http://schemas.openxmlformats.org/drawingml/2006/main">
            <a:pPr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original words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2C9165-871B-454B-B4CD-05C9E9C0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524375"/>
            <a:ext cx="1809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FDE02B-3E94-4372-B966-6B87394A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429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DOC DETAILS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163A8E-E904-4A3F-9A22-6E0292CA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77202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7780C1-B646-442D-A5CD-36153A63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8958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source + section</a:t>
            </a:r>
          </a:p>
          <a:p xmlns:a="http://schemas.openxmlformats.org/drawingml/2006/main">
            <a:pPr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watershed or distance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F5E057-5CEF-4427-8365-D1E01BE1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524375"/>
            <a:ext cx="1809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D858C2-0FC7-4415-888D-753A1051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29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WORD SEARCH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0F5CED-0497-4450-8C1B-BA77A935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77202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6D1030-010D-48CD-B37A-FA4719AD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8958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words as numbers</a:t>
            </a:r>
          </a:p>
          <a:p xmlns:a="http://schemas.openxmlformats.org/drawingml/2006/main">
            <a:pPr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find similar text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C15D18-081E-46D4-907D-4C2D0C3E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524375"/>
            <a:ext cx="1809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915395-13FA-40B3-85D8-5052EBE3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429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LOCATION CHECK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BA170E-A62A-4432-A3E1-CB94DF9A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77202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098A97-241F-4EAD-B652-AD0128D8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8958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watershed or distance</a:t>
            </a:r>
          </a:p>
          <a:p xmlns:a="http://schemas.openxmlformats.org/drawingml/2006/main">
            <a:pPr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keep local matches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4C230E-1D61-41E4-B8C4-4136C7B1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24375"/>
            <a:ext cx="1809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0D64BE-5627-4576-AE74-71E14231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429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QUOTES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EB19DB-F92E-45EA-9C56-776B40D6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77202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E3EE52F-030B-42E3-9A71-01CFB781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958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original words</a:t>
            </a:r>
          </a:p>
          <a:p xmlns:a="http://schemas.openxmlformats.org/drawingml/2006/main">
            <a:pPr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with their sources</a:t>
            </a:r>
          </a:p>
        </p:txBody>
      </p:sp>
      <p:cxnSp>
        <p:nvCxn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A8ED379-E20A-4F98-BF3B-629AD9DA8BEB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495550" y="36099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CA3AF"/>
            </a:solidFill>
            <a:tailEnd type="arrow" w="sm" len="sm"/>
          </a:ln>
        </p:spPr>
      </p:cxnSp>
      <p:cxnSp>
        <p:nvCxn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2509410-F2E4-47C3-9705-6B36264B2D92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714875" y="36099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CA3AF"/>
            </a:solidFill>
            <a:tailEnd type="arrow" w="sm" len="sm"/>
          </a:ln>
        </p:spPr>
      </p:cxnSp>
      <p:cxnSp>
        <p:nvCxn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4DBCC69-6306-4324-AFB4-D7BA33A8A101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934200" y="36099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CA3AF"/>
            </a:solidFill>
            <a:tailEnd type="arrow" w="sm" len="sm"/>
          </a:ln>
        </p:spPr>
      </p:cxnSp>
      <p:cxnSp>
        <p:nvCxn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BA99A67-FFD6-4155-A3DF-EA29EA016B4C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153525" y="36099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CA3AF"/>
            </a:solidFill>
            <a:tailEnd type="arrow" w="sm" len="sm"/>
          </a:ln>
        </p:spPr>
      </p:cxnSp>
      <p:cxnSp>
        <p:nvCxn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683E3CB-4AD7-4CBB-A78E-3C41CFA32115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2495550" y="50387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CA3AF"/>
            </a:solidFill>
            <a:tailEnd type="arrow" w="sm" len="sm"/>
          </a:ln>
        </p:spPr>
      </p:cxnSp>
      <p:cxnSp>
        <p:nvCxn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36BDC27-01FE-4677-B59B-B13A02B570D8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4714875" y="50387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CA3AF"/>
            </a:solidFill>
            <a:tailEnd type="arrow" w="sm" len="sm"/>
          </a:ln>
        </p:spPr>
      </p:cxnSp>
      <p:cxnSp>
        <p:nvCxn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980D935-432B-45A9-B06C-069CDA7611C7}"/>
              </a:ext>
            </a:extLst>
          </p:cNvPr>
          <p:cNvCxnSpPr>
            <a:stCxn xmlns:a="http://schemas.openxmlformats.org/drawingml/2006/main" id="35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6934200" y="50387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CA3AF"/>
            </a:solidFill>
            <a:tailEnd type="arrow" w="sm" len="sm"/>
          </a:ln>
        </p:spPr>
      </p:cxnSp>
      <p:cxnSp>
        <p:nvCxn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4CC81FB-035C-420F-BBCB-C2F30F587E2D}"/>
              </a:ext>
            </a:extLst>
          </p:cNvPr>
          <p:cNvCxnSpPr>
            <a:stCxn xmlns:a="http://schemas.openxmlformats.org/drawingml/2006/main" id="39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153525" y="50387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CA3AF"/>
            </a:solidFill>
            <a:tailEnd type="arrow" w="sm" len="sm"/>
          </a:ln>
        </p:spPr>
      </p:cxnSp>
      <p:cxnSp>
        <p:nvCxn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EE12B1C-0A33-4EB6-826A-5CB43ED8021F}"/>
              </a:ext>
            </a:extLst>
          </p:cNvPr>
          <p:cNvCxnSpPr>
            <a:stCxn xmlns:a="http://schemas.openxmlformats.org/drawingml/2006/main" id="43" idx="0"/>
            <a:endCxn xmlns:a="http://schemas.openxmlformats.org/drawingml/2006/main" id="23" idx="2"/>
          </p:cNvCxnSpPr>
          <p:nvPr/>
        </p:nvCxnSpPr>
        <p:spPr>
          <a:xfrm xmlns:a="http://schemas.openxmlformats.org/drawingml/2006/main" flipV="1">
            <a:off x="10467975" y="4124325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CA3AF"/>
            </a:solidFill>
            <a:tailEnd type="arrow" w="sm" len="sm"/>
          </a:ln>
        </p:spPr>
      </p:cxn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D40F6D8-E96A-44A5-91AD-7FAE131D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AI estimates water use. Rules check it. Local permit quotes explain the context.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3D3F89C-63C9-410D-ACA3-82A1661E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E3: forced wrong results stay within 0-0.446484 MGD at 40 MW. E4: all 4 location tests pass.</a:t>
            </a:r>
          </a:p>
        </p:txBody>
      </p:sp>
    </p:spTree>
    <p:extLst>
      <p:ext uri="{BB962C8B-B14F-4D97-AF65-F5344CB8AC3E}">
        <p14:creationId xmlns:p14="http://schemas.microsoft.com/office/powerpoint/2010/main" val="2118607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214116-CAD7-4531-AC7F-C0D4B8B1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ECOllateral / CSCI 4150 A2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5DD42C-0D49-4570-BC64-1FA96F23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85825"/>
            <a:ext cx="14288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5C882-D52A-4374-92D5-0A87C6B1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66775"/>
            <a:ext cx="10525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latin typeface="Arial"/>
                <a:ea typeface="Arial"/>
                <a:cs typeface="Arial"/>
              </a:defRPr>
            </a:defPPr>
            <a:lvl1pPr>
              <a:defRPr sz="3150" b="1">
                <a:latin typeface="Arial"/>
                <a:ea typeface="Arial"/>
                <a:cs typeface="Arial"/>
              </a:defRPr>
            </a:lvl1pPr>
            <a:lvl2pPr>
              <a:defRPr sz="3150" b="1">
                <a:latin typeface="Arial"/>
                <a:ea typeface="Arial"/>
                <a:cs typeface="Arial"/>
              </a:defRPr>
            </a:lvl2pPr>
            <a:lvl3pPr>
              <a:defRPr sz="3150" b="1">
                <a:latin typeface="Arial"/>
                <a:ea typeface="Arial"/>
                <a:cs typeface="Arial"/>
              </a:defRPr>
            </a:lvl3pPr>
            <a:lvl4pPr>
              <a:defRPr sz="3150" b="1">
                <a:latin typeface="Arial"/>
                <a:ea typeface="Arial"/>
                <a:cs typeface="Arial"/>
              </a:defRPr>
            </a:lvl4pPr>
            <a:lvl5pPr>
              <a:defRPr sz="3150" b="1">
                <a:latin typeface="Arial"/>
                <a:ea typeface="Arial"/>
                <a:cs typeface="Arial"/>
              </a:defRPr>
            </a:lvl5pPr>
            <a:lvl6pPr>
              <a:defRPr sz="3150" b="1">
                <a:latin typeface="Arial"/>
                <a:ea typeface="Arial"/>
                <a:cs typeface="Arial"/>
              </a:defRPr>
            </a:lvl6pPr>
            <a:lvl7pPr>
              <a:defRPr sz="3150" b="1">
                <a:latin typeface="Arial"/>
                <a:ea typeface="Arial"/>
                <a:cs typeface="Arial"/>
              </a:defRPr>
            </a:lvl7pPr>
            <a:lvl8pPr>
              <a:defRPr sz="3150" b="1">
                <a:latin typeface="Arial"/>
                <a:ea typeface="Arial"/>
                <a:cs typeface="Arial"/>
              </a:defRPr>
            </a:lvl8pPr>
            <a:lvl9pPr>
              <a:defRPr sz="3150" b="1"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E1: Model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5CEDD-D5B7-4B24-A86B-96A75E25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2460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Evidence: E1: regression-comparison.csv. 333 test rows per water-based cooling type. MGD = million US gallons/day.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65E81-C7BE-4ADB-89E5-59F0F508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7" name="Chart">
            <a:extLst xmlns:a="http://schemas.openxmlformats.org/drawingml/2006/main">
              <a:ext uri="{FF2B5EF4-FFF2-40B4-BE49-F238E27FC236}">
                <a16:creationId xmlns:a16="http://schemas.microsoft.com/office/drawing/2014/main" id="{A7D7FDAD-C67B-4085-A091-449EE00AED29}"/>
              </a:ext>
            </a:extLst>
          </p:cNvPr>
          <p:cNvGraphicFramePr/>
          <p:nvPr/>
        </p:nvGraphicFramePr>
        <p:xfrm>
          <a:off xmlns:a="http://schemas.openxmlformats.org/drawingml/2006/main" x="723900" y="2362200"/>
          <a:ext xmlns:a="http://schemas.openxmlformats.org/drawingml/2006/main" cx="6667500" cy="2781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89d25e5bf343c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CC316-A3FF-46A7-AB50-26C29960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98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XGBOOST: LOWER ERROR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693ADE-6017-45B6-8DD1-AC13231D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86075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7E750-3CB6-452A-B354-E27B7BF5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14675"/>
            <a:ext cx="33337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Pick using error on</a:t>
            </a:r>
          </a:p>
          <a:p xmlns:a="http://schemas.openxmlformats.org/drawingml/2006/main">
            <a:pPr>
              <a:buNone/>
              <a:defRPr sz="20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middle date group.</a:t>
            </a:r>
          </a:p>
          <a:p xmlns:a="http://schemas.openxmlformats.org/drawingml/2006/main">
            <a:pPr>
              <a:buNone/>
              <a:defRPr sz="20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Keep RF to compare.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9187B-9131-4346-84AD-E7DC14A9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2915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Next: train and test</a:t>
            </a:r>
          </a:p>
          <a:p xmlns:a="http://schemas.openxmlformats.org/drawingml/2006/main">
            <a:pPr>
              <a:buNone/>
              <a:defRPr sz="18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on real measurements.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DC3C26-DF6C-44A9-9752-903C15D8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48325"/>
            <a:ext cx="10858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Dates: train 60% / choose + set ranges 20% / test 20%</a:t>
            </a:r>
          </a:p>
          <a:p xmlns:a="http://schemas.openxmlformats.org/drawingml/2006/main">
            <a:pPr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Dry air cooling uses zero water here. Its R2 fit score cannot be calculated.</a:t>
            </a:r>
          </a:p>
        </p:txBody>
      </p:sp>
    </p:spTree>
    <p:extLst>
      <p:ext uri="{BB962C8B-B14F-4D97-AF65-F5344CB8AC3E}">
        <p14:creationId xmlns:p14="http://schemas.microsoft.com/office/powerpoint/2010/main" val="8033904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F5AE39-60C5-474B-B2C5-09BCF9C8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ECOllateral / CSCI 4150 A2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7CE41-8959-4A25-A264-A5A272A0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85825"/>
            <a:ext cx="14288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93080-5E95-418F-B5A2-6F2E464F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66775"/>
            <a:ext cx="10525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latin typeface="Arial"/>
                <a:ea typeface="Arial"/>
                <a:cs typeface="Arial"/>
              </a:defRPr>
            </a:defPPr>
            <a:lvl1pPr>
              <a:defRPr sz="3150" b="1">
                <a:latin typeface="Arial"/>
                <a:ea typeface="Arial"/>
                <a:cs typeface="Arial"/>
              </a:defRPr>
            </a:lvl1pPr>
            <a:lvl2pPr>
              <a:defRPr sz="3150" b="1">
                <a:latin typeface="Arial"/>
                <a:ea typeface="Arial"/>
                <a:cs typeface="Arial"/>
              </a:defRPr>
            </a:lvl2pPr>
            <a:lvl3pPr>
              <a:defRPr sz="3150" b="1">
                <a:latin typeface="Arial"/>
                <a:ea typeface="Arial"/>
                <a:cs typeface="Arial"/>
              </a:defRPr>
            </a:lvl3pPr>
            <a:lvl4pPr>
              <a:defRPr sz="3150" b="1">
                <a:latin typeface="Arial"/>
                <a:ea typeface="Arial"/>
                <a:cs typeface="Arial"/>
              </a:defRPr>
            </a:lvl4pPr>
            <a:lvl5pPr>
              <a:defRPr sz="3150" b="1">
                <a:latin typeface="Arial"/>
                <a:ea typeface="Arial"/>
                <a:cs typeface="Arial"/>
              </a:defRPr>
            </a:lvl5pPr>
            <a:lvl6pPr>
              <a:defRPr sz="3150" b="1">
                <a:latin typeface="Arial"/>
                <a:ea typeface="Arial"/>
                <a:cs typeface="Arial"/>
              </a:defRPr>
            </a:lvl6pPr>
            <a:lvl7pPr>
              <a:defRPr sz="3150" b="1">
                <a:latin typeface="Arial"/>
                <a:ea typeface="Arial"/>
                <a:cs typeface="Arial"/>
              </a:defRPr>
            </a:lvl7pPr>
            <a:lvl8pPr>
              <a:defRPr sz="3150" b="1">
                <a:latin typeface="Arial"/>
                <a:ea typeface="Arial"/>
                <a:cs typeface="Arial"/>
              </a:defRPr>
            </a:lvl8pPr>
            <a:lvl9pPr>
              <a:defRPr sz="3150" b="1"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E2: Missing drought readings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B99B1-B338-434A-AE7E-DF6D5EFC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2460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Evidence: E2: missingness-summary.csv, biased-donor-diagnostic.csv. Main test uses trained AI and made-up river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D5CF2-33EC-4EA4-975C-59A08824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9" name="Chart">
            <a:extLst xmlns:a="http://schemas.openxmlformats.org/drawingml/2006/main">
              <a:ext uri="{FF2B5EF4-FFF2-40B4-BE49-F238E27FC236}">
                <a16:creationId xmlns:a16="http://schemas.microsoft.com/office/drawing/2014/main" id="{7308A8E4-6F40-4E43-9ACA-00F5B225A800}"/>
              </a:ext>
            </a:extLst>
          </p:cNvPr>
          <p:cNvGraphicFramePr/>
          <p:nvPr/>
        </p:nvGraphicFramePr>
        <p:xfrm>
          <a:off xmlns:a="http://schemas.openxmlformats.org/drawingml/2006/main" x="723900" y="2362200"/>
          <a:ext xmlns:a="http://schemas.openxmlformats.org/drawingml/2006/main" cx="6667500" cy="2781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baba174ff54eb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172E5-EEA0-4F03-8A83-CBD7E9C6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19325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latin typeface="Arial"/>
                <a:ea typeface="Arial"/>
                <a:cs typeface="Arial"/>
              </a:defRPr>
            </a:defPPr>
            <a:lvl1pPr>
              <a:defRPr sz="3150" b="1">
                <a:latin typeface="Arial"/>
                <a:ea typeface="Arial"/>
                <a:cs typeface="Arial"/>
              </a:defRPr>
            </a:lvl1pPr>
            <a:lvl2pPr>
              <a:defRPr sz="3150" b="1">
                <a:latin typeface="Arial"/>
                <a:ea typeface="Arial"/>
                <a:cs typeface="Arial"/>
              </a:defRPr>
            </a:lvl2pPr>
            <a:lvl3pPr>
              <a:defRPr sz="3150" b="1">
                <a:latin typeface="Arial"/>
                <a:ea typeface="Arial"/>
                <a:cs typeface="Arial"/>
              </a:defRPr>
            </a:lvl3pPr>
            <a:lvl4pPr>
              <a:defRPr sz="3150" b="1">
                <a:latin typeface="Arial"/>
                <a:ea typeface="Arial"/>
                <a:cs typeface="Arial"/>
              </a:defRPr>
            </a:lvl4pPr>
            <a:lvl5pPr>
              <a:defRPr sz="3150" b="1">
                <a:latin typeface="Arial"/>
                <a:ea typeface="Arial"/>
                <a:cs typeface="Arial"/>
              </a:defRPr>
            </a:lvl5pPr>
            <a:lvl6pPr>
              <a:defRPr sz="3150" b="1">
                <a:latin typeface="Arial"/>
                <a:ea typeface="Arial"/>
                <a:cs typeface="Arial"/>
              </a:defRPr>
            </a:lvl6pPr>
            <a:lvl7pPr>
              <a:defRPr sz="3150" b="1">
                <a:latin typeface="Arial"/>
                <a:ea typeface="Arial"/>
                <a:cs typeface="Arial"/>
              </a:defRPr>
            </a:lvl7pPr>
            <a:lvl8pPr>
              <a:defRPr sz="3150" b="1">
                <a:latin typeface="Arial"/>
                <a:ea typeface="Arial"/>
                <a:cs typeface="Arial"/>
              </a:defRPr>
            </a:lvl8pPr>
            <a:lvl9pPr>
              <a:defRPr sz="3150" b="1"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402B1-276C-4F6C-9E76-B8D8F6F2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90875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69A18-76A6-4B5E-8BD7-0974253F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43275"/>
            <a:ext cx="333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All main tests passed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EC269-C72C-4E1D-8172-544EBEF5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909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Change stayed within +/-0.05 MGD</a:t>
            </a:r>
          </a:p>
          <a:p xmlns:a="http://schemas.openxmlformats.org/drawingml/2006/main">
            <a:pPr>
              <a:buNone/>
              <a:defRPr sz="16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50 repeats on 121 drought days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E6BDC-DFA0-489C-B0E2-AB3D83CB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6250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B8AC20-C4A3-4E8D-B6F8-C99555FF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95850"/>
            <a:ext cx="333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Failure: biased donors</a:t>
            </a:r>
          </a:p>
          <a:p xmlns:a="http://schemas.openxmlformats.org/drawingml/2006/main">
            <a:pPr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only 60.3% within limits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E20375-D43C-40EF-8D7E-9A2484DC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Next: test bad neighbor readings and stations losing data together. The bad-reading test uses a simple formula.</a:t>
            </a:r>
          </a:p>
        </p:txBody>
      </p:sp>
    </p:spTree>
    <p:extLst>
      <p:ext uri="{BB962C8B-B14F-4D97-AF65-F5344CB8AC3E}">
        <p14:creationId xmlns:p14="http://schemas.microsoft.com/office/powerpoint/2010/main" val="9444636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D0633-D6BC-4440-BC8B-8FD00AC5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ECOllateral / CSCI 4150 A2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B80B1-F67F-4910-A4F5-F02BCAA2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85825"/>
            <a:ext cx="14288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2B19F-80B1-4AC6-9586-96EC20D6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66775"/>
            <a:ext cx="10525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latin typeface="Arial"/>
                <a:ea typeface="Arial"/>
                <a:cs typeface="Arial"/>
              </a:defRPr>
            </a:defPPr>
            <a:lvl1pPr>
              <a:defRPr sz="3150" b="1">
                <a:latin typeface="Arial"/>
                <a:ea typeface="Arial"/>
                <a:cs typeface="Arial"/>
              </a:defRPr>
            </a:lvl1pPr>
            <a:lvl2pPr>
              <a:defRPr sz="3150" b="1">
                <a:latin typeface="Arial"/>
                <a:ea typeface="Arial"/>
                <a:cs typeface="Arial"/>
              </a:defRPr>
            </a:lvl2pPr>
            <a:lvl3pPr>
              <a:defRPr sz="3150" b="1">
                <a:latin typeface="Arial"/>
                <a:ea typeface="Arial"/>
                <a:cs typeface="Arial"/>
              </a:defRPr>
            </a:lvl3pPr>
            <a:lvl4pPr>
              <a:defRPr sz="3150" b="1">
                <a:latin typeface="Arial"/>
                <a:ea typeface="Arial"/>
                <a:cs typeface="Arial"/>
              </a:defRPr>
            </a:lvl4pPr>
            <a:lvl5pPr>
              <a:defRPr sz="3150" b="1">
                <a:latin typeface="Arial"/>
                <a:ea typeface="Arial"/>
                <a:cs typeface="Arial"/>
              </a:defRPr>
            </a:lvl5pPr>
            <a:lvl6pPr>
              <a:defRPr sz="3150" b="1">
                <a:latin typeface="Arial"/>
                <a:ea typeface="Arial"/>
                <a:cs typeface="Arial"/>
              </a:defRPr>
            </a:lvl6pPr>
            <a:lvl7pPr>
              <a:defRPr sz="3150" b="1">
                <a:latin typeface="Arial"/>
                <a:ea typeface="Arial"/>
                <a:cs typeface="Arial"/>
              </a:defRPr>
            </a:lvl7pPr>
            <a:lvl8pPr>
              <a:defRPr sz="3150" b="1">
                <a:latin typeface="Arial"/>
                <a:ea typeface="Arial"/>
                <a:cs typeface="Arial"/>
              </a:defRPr>
            </a:lvl8pPr>
            <a:lvl9pPr>
              <a:defRPr sz="3150" b="1"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E5: Prediction ranges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C7438-8D29-44CC-826B-39CBB714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2460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Evidence: E5: interval-coverage.csv, benchmark.json. Made-up test values, 333 per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9281B-B9F7-4F81-BC7D-FFF40132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9" name="Chart">
            <a:extLst xmlns:a="http://schemas.openxmlformats.org/drawingml/2006/main">
              <a:ext uri="{FF2B5EF4-FFF2-40B4-BE49-F238E27FC236}">
                <a16:creationId xmlns:a16="http://schemas.microsoft.com/office/drawing/2014/main" id="{8593A9E7-B014-434B-8532-1D750A14D2E9}"/>
              </a:ext>
            </a:extLst>
          </p:cNvPr>
          <p:cNvGraphicFramePr/>
          <p:nvPr/>
        </p:nvGraphicFramePr>
        <p:xfrm>
          <a:off xmlns:a="http://schemas.openxmlformats.org/drawingml/2006/main" x="6286500" y="2571750"/>
          <a:ext xmlns:a="http://schemas.openxmlformats.org/drawingml/2006/main" cx="5191125" cy="2809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c3405d976a417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2CC7F2-BA2D-4345-B8D8-F28CCC11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5334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latin typeface="Arial"/>
                <a:ea typeface="Arial"/>
                <a:cs typeface="Arial"/>
              </a:defRPr>
            </a:defPPr>
            <a:lvl1pPr>
              <a:defRPr sz="3150" b="1">
                <a:latin typeface="Arial"/>
                <a:ea typeface="Arial"/>
                <a:cs typeface="Arial"/>
              </a:defRPr>
            </a:lvl1pPr>
            <a:lvl2pPr>
              <a:defRPr sz="3150" b="1">
                <a:latin typeface="Arial"/>
                <a:ea typeface="Arial"/>
                <a:cs typeface="Arial"/>
              </a:defRPr>
            </a:lvl2pPr>
            <a:lvl3pPr>
              <a:defRPr sz="3150" b="1">
                <a:latin typeface="Arial"/>
                <a:ea typeface="Arial"/>
                <a:cs typeface="Arial"/>
              </a:defRPr>
            </a:lvl3pPr>
            <a:lvl4pPr>
              <a:defRPr sz="3150" b="1">
                <a:latin typeface="Arial"/>
                <a:ea typeface="Arial"/>
                <a:cs typeface="Arial"/>
              </a:defRPr>
            </a:lvl4pPr>
            <a:lvl5pPr>
              <a:defRPr sz="3150" b="1">
                <a:latin typeface="Arial"/>
                <a:ea typeface="Arial"/>
                <a:cs typeface="Arial"/>
              </a:defRPr>
            </a:lvl5pPr>
            <a:lvl6pPr>
              <a:defRPr sz="3150" b="1">
                <a:latin typeface="Arial"/>
                <a:ea typeface="Arial"/>
                <a:cs typeface="Arial"/>
              </a:defRPr>
            </a:lvl6pPr>
            <a:lvl7pPr>
              <a:defRPr sz="3150" b="1">
                <a:latin typeface="Arial"/>
                <a:ea typeface="Arial"/>
                <a:cs typeface="Arial"/>
              </a:defRPr>
            </a:lvl7pPr>
            <a:lvl8pPr>
              <a:defRPr sz="3150" b="1">
                <a:latin typeface="Arial"/>
                <a:ea typeface="Arial"/>
                <a:cs typeface="Arial"/>
              </a:defRPr>
            </a:lvl8pPr>
            <a:lvl9pPr>
              <a:defRPr sz="3150" b="1"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88.3% / 88.0%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D0B1AE-377E-4113-A71A-D16BCDD8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EDFE7-B4E3-4F70-988E-CB5D40A5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43325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Coverage below the 90% goal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E69FB-D66E-4CE1-A24C-489D3879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500062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Tower fit score (R2) = 0.998</a:t>
            </a:r>
          </a:p>
          <a:p xmlns:a="http://schemas.openxmlformats.org/drawingml/2006/main">
            <a:pPr>
              <a:buNone/>
              <a:defRPr sz="19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R2 measures fit. Coverage tests the range.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35A8D7-8EBB-4546-BBFC-82078655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4CBE9-CC95-4A60-9523-83DBF2E1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Improve: use separate data to choose models and set ranges.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2F4223-7BEE-4C03-A3BC-36AF790E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A small test. We have not checked if the shortfall is more than chance. Real-world range tests are still needed.</a:t>
            </a:r>
          </a:p>
        </p:txBody>
      </p:sp>
    </p:spTree>
    <p:extLst>
      <p:ext uri="{BB962C8B-B14F-4D97-AF65-F5344CB8AC3E}">
        <p14:creationId xmlns:p14="http://schemas.microsoft.com/office/powerpoint/2010/main" val="4805176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491690-CD99-4E93-8AA5-58721828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ECOllateral / CSCI 4150 A2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FA838-42FC-4DC7-ACB0-801DCEDF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85825"/>
            <a:ext cx="14288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5CAF1-B543-4C29-BB1B-8E763DBF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66775"/>
            <a:ext cx="10525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latin typeface="Arial"/>
                <a:ea typeface="Arial"/>
                <a:cs typeface="Arial"/>
              </a:defRPr>
            </a:defPPr>
            <a:lvl1pPr>
              <a:defRPr sz="3150" b="1">
                <a:latin typeface="Arial"/>
                <a:ea typeface="Arial"/>
                <a:cs typeface="Arial"/>
              </a:defRPr>
            </a:lvl1pPr>
            <a:lvl2pPr>
              <a:defRPr sz="3150" b="1">
                <a:latin typeface="Arial"/>
                <a:ea typeface="Arial"/>
                <a:cs typeface="Arial"/>
              </a:defRPr>
            </a:lvl2pPr>
            <a:lvl3pPr>
              <a:defRPr sz="3150" b="1">
                <a:latin typeface="Arial"/>
                <a:ea typeface="Arial"/>
                <a:cs typeface="Arial"/>
              </a:defRPr>
            </a:lvl3pPr>
            <a:lvl4pPr>
              <a:defRPr sz="3150" b="1">
                <a:latin typeface="Arial"/>
                <a:ea typeface="Arial"/>
                <a:cs typeface="Arial"/>
              </a:defRPr>
            </a:lvl4pPr>
            <a:lvl5pPr>
              <a:defRPr sz="3150" b="1">
                <a:latin typeface="Arial"/>
                <a:ea typeface="Arial"/>
                <a:cs typeface="Arial"/>
              </a:defRPr>
            </a:lvl5pPr>
            <a:lvl6pPr>
              <a:defRPr sz="3150" b="1">
                <a:latin typeface="Arial"/>
                <a:ea typeface="Arial"/>
                <a:cs typeface="Arial"/>
              </a:defRPr>
            </a:lvl6pPr>
            <a:lvl7pPr>
              <a:defRPr sz="3150" b="1">
                <a:latin typeface="Arial"/>
                <a:ea typeface="Arial"/>
                <a:cs typeface="Arial"/>
              </a:defRPr>
            </a:lvl7pPr>
            <a:lvl8pPr>
              <a:defRPr sz="3150" b="1">
                <a:latin typeface="Arial"/>
                <a:ea typeface="Arial"/>
                <a:cs typeface="Arial"/>
              </a:defRPr>
            </a:lvl8pPr>
            <a:lvl9pPr>
              <a:defRPr sz="3150" b="1"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Decisions and next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0FC07-3D63-4DB8-BFFF-4FA7DD23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2460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Evidence: E1-E5. Assigned roles: Shaun, Troy, Scott.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F58E0-928F-4C73-A151-02928F7F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3646E-16EF-4866-B05B-9E4A6CAF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576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Adopt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C32E0-28DD-47D8-BB48-50B0AADB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8A724F-92A3-417C-BFCD-3582E7BC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590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E1: lower XGBoost error. E3/E4: checks pass.</a:t>
            </a:r>
          </a:p>
          <a:p xmlns:a="http://schemas.openxmlformats.org/drawingml/2006/main">
            <a:pPr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Keep the models, limits, and local matches.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4917E-7FA4-4E2A-B909-2EFAFF49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576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Modify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E5075-7000-4DE7-8F14-B70A6AD3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0B658-FFFB-4A2D-A0A9-0D7BE4E6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2825"/>
            <a:ext cx="590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E2: bad neighbor readings. E5: below 90%.</a:t>
            </a:r>
          </a:p>
          <a:p xmlns:a="http://schemas.openxmlformats.org/drawingml/2006/main">
            <a:pPr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Train on real data. Improve gaps/ranges + area totals.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BBD46F-390E-465C-BD6D-39CF876B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576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Reject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D2320-088A-463D-A23F-8B883B81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744239-8E84-4299-94CC-5BD9D469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590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E5: a fit score cannot promise a right answer.</a:t>
            </a:r>
          </a:p>
          <a:p xmlns:a="http://schemas.openxmlformats.org/drawingml/2006/main">
            <a:pPr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Cooling use alone cannot show ecosystem health.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2D93B-C78B-4F98-AA30-74F4F30B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3975"/>
            <a:ext cx="576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Defer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F9102-BE3F-42CC-BCE8-4606F61C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F84A38-ECC3-4421-99D6-9539FE39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590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Need real area data before testing more AI methods.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A7238C-9BF3-4D9F-8150-1F5CD431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Can training on real data predict effects on water reserves and rivers in a new area?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22CEE3-DED0-4FB1-BF88-C8E54F8D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12445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Arial"/>
                <a:ea typeface="Arial"/>
                <a:cs typeface="Arial"/>
              </a:defRPr>
            </a:defPPr>
            <a:lvl1pPr>
              <a:defRPr>
                <a:latin typeface="Arial"/>
                <a:ea typeface="Arial"/>
                <a:cs typeface="Arial"/>
              </a:defRPr>
            </a:lvl1pPr>
            <a:lvl2pPr>
              <a:defRPr>
                <a:latin typeface="Arial"/>
                <a:ea typeface="Arial"/>
                <a:cs typeface="Arial"/>
              </a:defRPr>
            </a:lvl2pPr>
            <a:lvl3pPr>
              <a:defRPr>
                <a:latin typeface="Arial"/>
                <a:ea typeface="Arial"/>
                <a:cs typeface="Arial"/>
              </a:defRPr>
            </a:lvl3pPr>
            <a:lvl4pPr>
              <a:defRPr>
                <a:latin typeface="Arial"/>
                <a:ea typeface="Arial"/>
                <a:cs typeface="Arial"/>
              </a:defRPr>
            </a:lvl4pPr>
            <a:lvl5pPr>
              <a:defRPr>
                <a:latin typeface="Arial"/>
                <a:ea typeface="Arial"/>
                <a:cs typeface="Arial"/>
              </a:defRPr>
            </a:lvl5pPr>
            <a:lvl6pPr>
              <a:defRPr>
                <a:latin typeface="Arial"/>
                <a:ea typeface="Arial"/>
                <a:cs typeface="Arial"/>
              </a:defRPr>
            </a:lvl6pPr>
            <a:lvl7pPr>
              <a:defRPr>
                <a:latin typeface="Arial"/>
                <a:ea typeface="Arial"/>
                <a:cs typeface="Arial"/>
              </a:defRPr>
            </a:lvl7pPr>
            <a:lvl8pPr>
              <a:defRPr>
                <a:latin typeface="Arial"/>
                <a:ea typeface="Arial"/>
                <a:cs typeface="Arial"/>
              </a:defRPr>
            </a:lvl8pPr>
            <a:lvl9pPr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Shaun: code + connect area data</a:t>
            </a:r>
          </a:p>
          <a:p xmlns:a="http://schemas.openxmlformats.org/drawingml/2006/main">
            <a:pPr>
              <a:buNone/>
              <a:defRPr sz="12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Troy: data + source quotes</a:t>
            </a:r>
          </a:p>
          <a:p xmlns:a="http://schemas.openxmlformats.org/drawingml/2006/main">
            <a:pPr>
              <a:buNone/>
              <a:defRPr sz="12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Scott: tests + results</a:t>
            </a:r>
          </a:p>
        </p:txBody>
      </p:sp>
    </p:spTree>
    <p:extLst>
      <p:ext uri="{BB962C8B-B14F-4D97-AF65-F5344CB8AC3E}">
        <p14:creationId xmlns:p14="http://schemas.microsoft.com/office/powerpoint/2010/main" val="1220705751"/>
      </p:ext>
    </p:extLst>
  </p:cSld>
</p:sld>
</file>

<file path=ppt/theme/theme1.xml><?xml version="1.0" encoding="utf-8"?>
<a:theme xmlns:a="http://schemas.openxmlformats.org/drawingml/2006/main" name="ECOllateral">
  <a:themeElements>
    <a:clrScheme name="ECOllateral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COllater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2026-10-17T21:36:08.9270000Z</dcterms:created>
  <dcterms:modified xsi:type="dcterms:W3CDTF">2026-10-17T21:36:08.9270000Z</dcterms:modified>
</coreProperties>
</file>